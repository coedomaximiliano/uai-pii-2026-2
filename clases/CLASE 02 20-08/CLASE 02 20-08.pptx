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74" r:id="rId2"/>
    <p:sldId id="298" r:id="rId3"/>
    <p:sldId id="355" r:id="rId4"/>
    <p:sldId id="356" r:id="rId5"/>
    <p:sldId id="357" r:id="rId6"/>
    <p:sldId id="358" r:id="rId7"/>
    <p:sldId id="359" r:id="rId8"/>
    <p:sldId id="380" r:id="rId9"/>
    <p:sldId id="381" r:id="rId10"/>
    <p:sldId id="390" r:id="rId11"/>
    <p:sldId id="360" r:id="rId12"/>
    <p:sldId id="368" r:id="rId13"/>
    <p:sldId id="369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91" r:id="rId22"/>
    <p:sldId id="370" r:id="rId23"/>
    <p:sldId id="371" r:id="rId24"/>
    <p:sldId id="372" r:id="rId25"/>
    <p:sldId id="382" r:id="rId26"/>
    <p:sldId id="383" r:id="rId27"/>
    <p:sldId id="384" r:id="rId28"/>
    <p:sldId id="392" r:id="rId29"/>
    <p:sldId id="373" r:id="rId30"/>
    <p:sldId id="385" r:id="rId31"/>
    <p:sldId id="386" r:id="rId32"/>
    <p:sldId id="387" r:id="rId33"/>
    <p:sldId id="388" r:id="rId34"/>
    <p:sldId id="374" r:id="rId35"/>
    <p:sldId id="375" r:id="rId36"/>
    <p:sldId id="389" r:id="rId37"/>
    <p:sldId id="376" r:id="rId38"/>
    <p:sldId id="377" r:id="rId39"/>
    <p:sldId id="378" r:id="rId40"/>
    <p:sldId id="379" r:id="rId41"/>
    <p:sldId id="269" r:id="rId42"/>
  </p:sldIdLst>
  <p:sldSz cx="12192000" cy="6858000"/>
  <p:notesSz cx="12192000" cy="6858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9003B-2340-4899-903E-673FBCFBBBFB}" v="79" dt="2023-04-10T17:12:33.347"/>
    <p1510:client id="{DD593837-0009-4906-A4A0-22ADBABB9BD8}" v="37" dt="2023-04-11T12:04:57.392"/>
    <p1510:client id="{FF24E7CE-9290-43E6-9707-5C7AE54C2836}" v="24" dt="2023-04-10T17:24:06.6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6" autoAdjust="0"/>
    <p:restoredTop sz="94660"/>
  </p:normalViewPr>
  <p:slideViewPr>
    <p:cSldViewPr>
      <p:cViewPr varScale="1">
        <p:scale>
          <a:sx n="90" d="100"/>
          <a:sy n="90" d="100"/>
        </p:scale>
        <p:origin x="33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ali, Jorge" userId="1185e97b-6c7a-4bfd-b070-64c464bdfe27" providerId="ADAL" clId="{FF24E7CE-9290-43E6-9707-5C7AE54C2836}"/>
    <pc:docChg chg="modSld">
      <pc:chgData name="Scali, Jorge" userId="1185e97b-6c7a-4bfd-b070-64c464bdfe27" providerId="ADAL" clId="{FF24E7CE-9290-43E6-9707-5C7AE54C2836}" dt="2023-04-10T17:29:19.810" v="28" actId="20577"/>
      <pc:docMkLst>
        <pc:docMk/>
      </pc:docMkLst>
      <pc:sldChg chg="addSp modSp mod modAnim">
        <pc:chgData name="Scali, Jorge" userId="1185e97b-6c7a-4bfd-b070-64c464bdfe27" providerId="ADAL" clId="{FF24E7CE-9290-43E6-9707-5C7AE54C2836}" dt="2023-04-10T17:24:06.628" v="27"/>
        <pc:sldMkLst>
          <pc:docMk/>
          <pc:sldMk cId="0" sldId="261"/>
        </pc:sldMkLst>
        <pc:spChg chg="mod">
          <ac:chgData name="Scali, Jorge" userId="1185e97b-6c7a-4bfd-b070-64c464bdfe27" providerId="ADAL" clId="{FF24E7CE-9290-43E6-9707-5C7AE54C2836}" dt="2023-04-10T17:24:00.644" v="26" actId="1076"/>
          <ac:spMkLst>
            <pc:docMk/>
            <pc:sldMk cId="0" sldId="261"/>
            <ac:spMk id="5" creationId="{32F42E33-767C-5D1C-BE38-40EA9F6B8780}"/>
          </ac:spMkLst>
        </pc:spChg>
        <pc:picChg chg="add mod">
          <ac:chgData name="Scali, Jorge" userId="1185e97b-6c7a-4bfd-b070-64c464bdfe27" providerId="ADAL" clId="{FF24E7CE-9290-43E6-9707-5C7AE54C2836}" dt="2023-04-10T17:23:50.507" v="24" actId="14100"/>
          <ac:picMkLst>
            <pc:docMk/>
            <pc:sldMk cId="0" sldId="261"/>
            <ac:picMk id="3074" creationId="{671092EE-8791-95CA-EFCC-7125ED8B4CA8}"/>
          </ac:picMkLst>
        </pc:picChg>
      </pc:sldChg>
      <pc:sldChg chg="addSp modSp modAnim">
        <pc:chgData name="Scali, Jorge" userId="1185e97b-6c7a-4bfd-b070-64c464bdfe27" providerId="ADAL" clId="{FF24E7CE-9290-43E6-9707-5C7AE54C2836}" dt="2023-04-10T17:18:24.309" v="5"/>
        <pc:sldMkLst>
          <pc:docMk/>
          <pc:sldMk cId="0" sldId="267"/>
        </pc:sldMkLst>
        <pc:picChg chg="add mod">
          <ac:chgData name="Scali, Jorge" userId="1185e97b-6c7a-4bfd-b070-64c464bdfe27" providerId="ADAL" clId="{FF24E7CE-9290-43E6-9707-5C7AE54C2836}" dt="2023-04-10T17:18:07.435" v="4" actId="1076"/>
          <ac:picMkLst>
            <pc:docMk/>
            <pc:sldMk cId="0" sldId="267"/>
            <ac:picMk id="1026" creationId="{E76ABF19-47DB-D71D-A0B7-2B0A88D5A4C6}"/>
          </ac:picMkLst>
        </pc:picChg>
      </pc:sldChg>
      <pc:sldChg chg="addSp modSp mod modAnim">
        <pc:chgData name="Scali, Jorge" userId="1185e97b-6c7a-4bfd-b070-64c464bdfe27" providerId="ADAL" clId="{FF24E7CE-9290-43E6-9707-5C7AE54C2836}" dt="2023-04-10T17:20:34.170" v="15"/>
        <pc:sldMkLst>
          <pc:docMk/>
          <pc:sldMk cId="0" sldId="270"/>
        </pc:sldMkLst>
        <pc:spChg chg="mod">
          <ac:chgData name="Scali, Jorge" userId="1185e97b-6c7a-4bfd-b070-64c464bdfe27" providerId="ADAL" clId="{FF24E7CE-9290-43E6-9707-5C7AE54C2836}" dt="2023-04-10T17:20:06.708" v="8" actId="14100"/>
          <ac:spMkLst>
            <pc:docMk/>
            <pc:sldMk cId="0" sldId="270"/>
            <ac:spMk id="3" creationId="{00000000-0000-0000-0000-000000000000}"/>
          </ac:spMkLst>
        </pc:spChg>
        <pc:picChg chg="add mod">
          <ac:chgData name="Scali, Jorge" userId="1185e97b-6c7a-4bfd-b070-64c464bdfe27" providerId="ADAL" clId="{FF24E7CE-9290-43E6-9707-5C7AE54C2836}" dt="2023-04-10T17:20:24.507" v="14" actId="14100"/>
          <ac:picMkLst>
            <pc:docMk/>
            <pc:sldMk cId="0" sldId="270"/>
            <ac:picMk id="2050" creationId="{2781B141-D232-126A-3952-EB38FF4A92EC}"/>
          </ac:picMkLst>
        </pc:picChg>
      </pc:sldChg>
      <pc:sldChg chg="modSp mod">
        <pc:chgData name="Scali, Jorge" userId="1185e97b-6c7a-4bfd-b070-64c464bdfe27" providerId="ADAL" clId="{FF24E7CE-9290-43E6-9707-5C7AE54C2836}" dt="2023-04-10T17:29:19.810" v="28" actId="20577"/>
        <pc:sldMkLst>
          <pc:docMk/>
          <pc:sldMk cId="0" sldId="274"/>
        </pc:sldMkLst>
        <pc:spChg chg="mod">
          <ac:chgData name="Scali, Jorge" userId="1185e97b-6c7a-4bfd-b070-64c464bdfe27" providerId="ADAL" clId="{FF24E7CE-9290-43E6-9707-5C7AE54C2836}" dt="2023-04-10T17:29:19.810" v="28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  <pc:docChgLst>
    <pc:chgData name="Scali, Jorge" userId="1185e97b-6c7a-4bfd-b070-64c464bdfe27" providerId="ADAL" clId="{DD593837-0009-4906-A4A0-22ADBABB9BD8}"/>
    <pc:docChg chg="custSel addSld modSld">
      <pc:chgData name="Scali, Jorge" userId="1185e97b-6c7a-4bfd-b070-64c464bdfe27" providerId="ADAL" clId="{DD593837-0009-4906-A4A0-22ADBABB9BD8}" dt="2023-04-11T12:04:57.392" v="164"/>
      <pc:docMkLst>
        <pc:docMk/>
      </pc:docMkLst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57"/>
        </pc:sldMkLst>
      </pc:sldChg>
      <pc:sldChg chg="modSp mod modAnim">
        <pc:chgData name="Scali, Jorge" userId="1185e97b-6c7a-4bfd-b070-64c464bdfe27" providerId="ADAL" clId="{DD593837-0009-4906-A4A0-22ADBABB9BD8}" dt="2023-04-10T21:18:16.733" v="138" actId="1076"/>
        <pc:sldMkLst>
          <pc:docMk/>
          <pc:sldMk cId="0" sldId="258"/>
        </pc:sldMkLst>
        <pc:spChg chg="mod">
          <ac:chgData name="Scali, Jorge" userId="1185e97b-6c7a-4bfd-b070-64c464bdfe27" providerId="ADAL" clId="{DD593837-0009-4906-A4A0-22ADBABB9BD8}" dt="2023-04-10T21:18:16.733" v="138" actId="1076"/>
          <ac:spMkLst>
            <pc:docMk/>
            <pc:sldMk cId="0" sldId="258"/>
            <ac:spMk id="4" creationId="{B98A5D83-18BB-C402-1F8C-8F12E631F171}"/>
          </ac:spMkLst>
        </pc:spChg>
      </pc:sldChg>
      <pc:sldChg chg="add modAnim">
        <pc:chgData name="Scali, Jorge" userId="1185e97b-6c7a-4bfd-b070-64c464bdfe27" providerId="ADAL" clId="{DD593837-0009-4906-A4A0-22ADBABB9BD8}" dt="2023-04-10T21:27:18.938" v="139"/>
        <pc:sldMkLst>
          <pc:docMk/>
          <pc:sldMk cId="0" sldId="263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64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65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66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68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73"/>
        </pc:sldMkLst>
      </pc:sldChg>
      <pc:sldChg chg="addSp modSp mod">
        <pc:chgData name="Scali, Jorge" userId="1185e97b-6c7a-4bfd-b070-64c464bdfe27" providerId="ADAL" clId="{DD593837-0009-4906-A4A0-22ADBABB9BD8}" dt="2023-04-11T12:04:43.646" v="163" actId="1076"/>
        <pc:sldMkLst>
          <pc:docMk/>
          <pc:sldMk cId="0" sldId="274"/>
        </pc:sldMkLst>
        <pc:spChg chg="add mod">
          <ac:chgData name="Scali, Jorge" userId="1185e97b-6c7a-4bfd-b070-64c464bdfe27" providerId="ADAL" clId="{DD593837-0009-4906-A4A0-22ADBABB9BD8}" dt="2023-04-11T12:04:43.646" v="163" actId="1076"/>
          <ac:spMkLst>
            <pc:docMk/>
            <pc:sldMk cId="0" sldId="274"/>
            <ac:spMk id="6" creationId="{7ECB98BF-F9F5-DFDB-F1EF-93F7E9B2E70D}"/>
          </ac:spMkLst>
        </pc:spChg>
        <pc:picChg chg="mod">
          <ac:chgData name="Scali, Jorge" userId="1185e97b-6c7a-4bfd-b070-64c464bdfe27" providerId="ADAL" clId="{DD593837-0009-4906-A4A0-22ADBABB9BD8}" dt="2023-04-11T12:04:36.423" v="162" actId="1076"/>
          <ac:picMkLst>
            <pc:docMk/>
            <pc:sldMk cId="0" sldId="274"/>
            <ac:picMk id="2" creationId="{00000000-0000-0000-0000-000000000000}"/>
          </ac:picMkLst>
        </pc:picChg>
      </pc:sldChg>
      <pc:sldChg chg="addSp modSp add">
        <pc:chgData name="Scali, Jorge" userId="1185e97b-6c7a-4bfd-b070-64c464bdfe27" providerId="ADAL" clId="{DD593837-0009-4906-A4A0-22ADBABB9BD8}" dt="2023-04-11T12:04:57.392" v="164"/>
        <pc:sldMkLst>
          <pc:docMk/>
          <pc:sldMk cId="0" sldId="278"/>
        </pc:sldMkLst>
        <pc:spChg chg="add mod">
          <ac:chgData name="Scali, Jorge" userId="1185e97b-6c7a-4bfd-b070-64c464bdfe27" providerId="ADAL" clId="{DD593837-0009-4906-A4A0-22ADBABB9BD8}" dt="2023-04-11T12:04:57.392" v="164"/>
          <ac:spMkLst>
            <pc:docMk/>
            <pc:sldMk cId="0" sldId="278"/>
            <ac:spMk id="6" creationId="{166C2547-297F-105A-1F6C-AD28E6E5FA35}"/>
          </ac:spMkLst>
        </pc:spChg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79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80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81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82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83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84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85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86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87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88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89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90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0" sldId="291"/>
        </pc:sldMkLst>
      </pc:sldChg>
      <pc:sldChg chg="add">
        <pc:chgData name="Scali, Jorge" userId="1185e97b-6c7a-4bfd-b070-64c464bdfe27" providerId="ADAL" clId="{DD593837-0009-4906-A4A0-22ADBABB9BD8}" dt="2023-04-10T20:51:03.984" v="0"/>
        <pc:sldMkLst>
          <pc:docMk/>
          <pc:sldMk cId="2855269721" sldId="293"/>
        </pc:sldMkLst>
      </pc:sldChg>
      <pc:sldChg chg="add">
        <pc:chgData name="Scali, Jorge" userId="1185e97b-6c7a-4bfd-b070-64c464bdfe27" providerId="ADAL" clId="{DD593837-0009-4906-A4A0-22ADBABB9BD8}" dt="2023-04-10T20:51:34.029" v="1"/>
        <pc:sldMkLst>
          <pc:docMk/>
          <pc:sldMk cId="662722689" sldId="294"/>
        </pc:sldMkLst>
      </pc:sldChg>
      <pc:sldChg chg="addSp delSp modSp new mod modAnim">
        <pc:chgData name="Scali, Jorge" userId="1185e97b-6c7a-4bfd-b070-64c464bdfe27" providerId="ADAL" clId="{DD593837-0009-4906-A4A0-22ADBABB9BD8}" dt="2023-04-10T21:09:10.158" v="125"/>
        <pc:sldMkLst>
          <pc:docMk/>
          <pc:sldMk cId="94298196" sldId="295"/>
        </pc:sldMkLst>
        <pc:spChg chg="del">
          <ac:chgData name="Scali, Jorge" userId="1185e97b-6c7a-4bfd-b070-64c464bdfe27" providerId="ADAL" clId="{DD593837-0009-4906-A4A0-22ADBABB9BD8}" dt="2023-04-10T20:54:33.894" v="12" actId="478"/>
          <ac:spMkLst>
            <pc:docMk/>
            <pc:sldMk cId="94298196" sldId="295"/>
            <ac:spMk id="2" creationId="{06D72C26-07B0-185F-6935-5CA1C439FCA5}"/>
          </ac:spMkLst>
        </pc:spChg>
        <pc:spChg chg="add del">
          <ac:chgData name="Scali, Jorge" userId="1185e97b-6c7a-4bfd-b070-64c464bdfe27" providerId="ADAL" clId="{DD593837-0009-4906-A4A0-22ADBABB9BD8}" dt="2023-04-10T20:53:14.538" v="4"/>
          <ac:spMkLst>
            <pc:docMk/>
            <pc:sldMk cId="94298196" sldId="295"/>
            <ac:spMk id="3" creationId="{EC9FD6BE-12C4-669A-BA7F-B8E80504A0DD}"/>
          </ac:spMkLst>
        </pc:spChg>
        <pc:spChg chg="add del">
          <ac:chgData name="Scali, Jorge" userId="1185e97b-6c7a-4bfd-b070-64c464bdfe27" providerId="ADAL" clId="{DD593837-0009-4906-A4A0-22ADBABB9BD8}" dt="2023-04-10T20:53:14.538" v="4"/>
          <ac:spMkLst>
            <pc:docMk/>
            <pc:sldMk cId="94298196" sldId="295"/>
            <ac:spMk id="4" creationId="{008C822D-A8BB-C806-B9F7-BD3A39E86CCA}"/>
          </ac:spMkLst>
        </pc:spChg>
        <pc:spChg chg="add del">
          <ac:chgData name="Scali, Jorge" userId="1185e97b-6c7a-4bfd-b070-64c464bdfe27" providerId="ADAL" clId="{DD593837-0009-4906-A4A0-22ADBABB9BD8}" dt="2023-04-10T20:53:14.538" v="4"/>
          <ac:spMkLst>
            <pc:docMk/>
            <pc:sldMk cId="94298196" sldId="295"/>
            <ac:spMk id="5" creationId="{32416991-D3C0-A33B-F124-E61F79BF3FF9}"/>
          </ac:spMkLst>
        </pc:spChg>
        <pc:spChg chg="add del">
          <ac:chgData name="Scali, Jorge" userId="1185e97b-6c7a-4bfd-b070-64c464bdfe27" providerId="ADAL" clId="{DD593837-0009-4906-A4A0-22ADBABB9BD8}" dt="2023-04-10T20:53:14.538" v="4"/>
          <ac:spMkLst>
            <pc:docMk/>
            <pc:sldMk cId="94298196" sldId="295"/>
            <ac:spMk id="6" creationId="{0C78CB8F-501B-DC6A-288F-01F86126C8E7}"/>
          </ac:spMkLst>
        </pc:spChg>
        <pc:spChg chg="add del">
          <ac:chgData name="Scali, Jorge" userId="1185e97b-6c7a-4bfd-b070-64c464bdfe27" providerId="ADAL" clId="{DD593837-0009-4906-A4A0-22ADBABB9BD8}" dt="2023-04-10T20:53:14.538" v="4"/>
          <ac:spMkLst>
            <pc:docMk/>
            <pc:sldMk cId="94298196" sldId="295"/>
            <ac:spMk id="7" creationId="{0E9A73DC-D35A-DBB3-821B-D645ADD3C7E5}"/>
          </ac:spMkLst>
        </pc:spChg>
        <pc:spChg chg="add del">
          <ac:chgData name="Scali, Jorge" userId="1185e97b-6c7a-4bfd-b070-64c464bdfe27" providerId="ADAL" clId="{DD593837-0009-4906-A4A0-22ADBABB9BD8}" dt="2023-04-10T20:53:14.538" v="4"/>
          <ac:spMkLst>
            <pc:docMk/>
            <pc:sldMk cId="94298196" sldId="295"/>
            <ac:spMk id="8" creationId="{A6EA62CE-6379-1914-9216-4B5FA9D32CCA}"/>
          </ac:spMkLst>
        </pc:spChg>
        <pc:spChg chg="add del">
          <ac:chgData name="Scali, Jorge" userId="1185e97b-6c7a-4bfd-b070-64c464bdfe27" providerId="ADAL" clId="{DD593837-0009-4906-A4A0-22ADBABB9BD8}" dt="2023-04-10T20:53:14.538" v="4"/>
          <ac:spMkLst>
            <pc:docMk/>
            <pc:sldMk cId="94298196" sldId="295"/>
            <ac:spMk id="9" creationId="{2E61B19E-DD07-31C1-E708-B3BB926A1FA8}"/>
          </ac:spMkLst>
        </pc:spChg>
        <pc:spChg chg="add del">
          <ac:chgData name="Scali, Jorge" userId="1185e97b-6c7a-4bfd-b070-64c464bdfe27" providerId="ADAL" clId="{DD593837-0009-4906-A4A0-22ADBABB9BD8}" dt="2023-04-10T20:53:14.538" v="4"/>
          <ac:spMkLst>
            <pc:docMk/>
            <pc:sldMk cId="94298196" sldId="295"/>
            <ac:spMk id="10" creationId="{6D954897-D2C5-487F-3D5C-EF04681C4FA0}"/>
          </ac:spMkLst>
        </pc:spChg>
        <pc:spChg chg="add del">
          <ac:chgData name="Scali, Jorge" userId="1185e97b-6c7a-4bfd-b070-64c464bdfe27" providerId="ADAL" clId="{DD593837-0009-4906-A4A0-22ADBABB9BD8}" dt="2023-04-10T20:53:14.538" v="4"/>
          <ac:spMkLst>
            <pc:docMk/>
            <pc:sldMk cId="94298196" sldId="295"/>
            <ac:spMk id="11" creationId="{7C0AEF9D-E24C-E7AC-4437-014C2C08DBAD}"/>
          </ac:spMkLst>
        </pc:spChg>
        <pc:spChg chg="add del mod">
          <ac:chgData name="Scali, Jorge" userId="1185e97b-6c7a-4bfd-b070-64c464bdfe27" providerId="ADAL" clId="{DD593837-0009-4906-A4A0-22ADBABB9BD8}" dt="2023-04-10T20:53:36.068" v="9"/>
          <ac:spMkLst>
            <pc:docMk/>
            <pc:sldMk cId="94298196" sldId="295"/>
            <ac:spMk id="12" creationId="{100FF4CA-6AA8-16AA-8785-40FE46AB7223}"/>
          </ac:spMkLst>
        </pc:spChg>
        <pc:spChg chg="add mod">
          <ac:chgData name="Scali, Jorge" userId="1185e97b-6c7a-4bfd-b070-64c464bdfe27" providerId="ADAL" clId="{DD593837-0009-4906-A4A0-22ADBABB9BD8}" dt="2023-04-10T21:05:44.179" v="89" actId="1076"/>
          <ac:spMkLst>
            <pc:docMk/>
            <pc:sldMk cId="94298196" sldId="295"/>
            <ac:spMk id="13" creationId="{200E0084-A3BA-259E-B136-0BBD051DF75F}"/>
          </ac:spMkLst>
        </pc:spChg>
        <pc:spChg chg="add">
          <ac:chgData name="Scali, Jorge" userId="1185e97b-6c7a-4bfd-b070-64c464bdfe27" providerId="ADAL" clId="{DD593837-0009-4906-A4A0-22ADBABB9BD8}" dt="2023-04-10T20:53:30.509" v="7"/>
          <ac:spMkLst>
            <pc:docMk/>
            <pc:sldMk cId="94298196" sldId="295"/>
            <ac:spMk id="14" creationId="{A66E5F8F-893D-E154-E5AA-6A183BB6456A}"/>
          </ac:spMkLst>
        </pc:spChg>
        <pc:spChg chg="add">
          <ac:chgData name="Scali, Jorge" userId="1185e97b-6c7a-4bfd-b070-64c464bdfe27" providerId="ADAL" clId="{DD593837-0009-4906-A4A0-22ADBABB9BD8}" dt="2023-04-10T20:53:30.509" v="7"/>
          <ac:spMkLst>
            <pc:docMk/>
            <pc:sldMk cId="94298196" sldId="295"/>
            <ac:spMk id="15" creationId="{3CB78EA1-265B-563C-9470-723EA9AEA154}"/>
          </ac:spMkLst>
        </pc:spChg>
        <pc:spChg chg="add">
          <ac:chgData name="Scali, Jorge" userId="1185e97b-6c7a-4bfd-b070-64c464bdfe27" providerId="ADAL" clId="{DD593837-0009-4906-A4A0-22ADBABB9BD8}" dt="2023-04-10T20:53:30.509" v="7"/>
          <ac:spMkLst>
            <pc:docMk/>
            <pc:sldMk cId="94298196" sldId="295"/>
            <ac:spMk id="16" creationId="{1E0F7DB2-EA8C-A74A-14D6-AB651A2EA4C7}"/>
          </ac:spMkLst>
        </pc:spChg>
        <pc:spChg chg="add">
          <ac:chgData name="Scali, Jorge" userId="1185e97b-6c7a-4bfd-b070-64c464bdfe27" providerId="ADAL" clId="{DD593837-0009-4906-A4A0-22ADBABB9BD8}" dt="2023-04-10T20:53:30.509" v="7"/>
          <ac:spMkLst>
            <pc:docMk/>
            <pc:sldMk cId="94298196" sldId="295"/>
            <ac:spMk id="17" creationId="{350C0EDA-895D-952F-E71E-D776E3ECB4ED}"/>
          </ac:spMkLst>
        </pc:spChg>
        <pc:spChg chg="add">
          <ac:chgData name="Scali, Jorge" userId="1185e97b-6c7a-4bfd-b070-64c464bdfe27" providerId="ADAL" clId="{DD593837-0009-4906-A4A0-22ADBABB9BD8}" dt="2023-04-10T20:53:30.509" v="7"/>
          <ac:spMkLst>
            <pc:docMk/>
            <pc:sldMk cId="94298196" sldId="295"/>
            <ac:spMk id="18" creationId="{765A3FAE-0D0C-B312-D9F0-2934B9987E2A}"/>
          </ac:spMkLst>
        </pc:spChg>
        <pc:spChg chg="add">
          <ac:chgData name="Scali, Jorge" userId="1185e97b-6c7a-4bfd-b070-64c464bdfe27" providerId="ADAL" clId="{DD593837-0009-4906-A4A0-22ADBABB9BD8}" dt="2023-04-10T20:53:30.509" v="7"/>
          <ac:spMkLst>
            <pc:docMk/>
            <pc:sldMk cId="94298196" sldId="295"/>
            <ac:spMk id="19" creationId="{DC8C6C34-C66B-4F1A-1863-804D217EB5C3}"/>
          </ac:spMkLst>
        </pc:spChg>
        <pc:spChg chg="add">
          <ac:chgData name="Scali, Jorge" userId="1185e97b-6c7a-4bfd-b070-64c464bdfe27" providerId="ADAL" clId="{DD593837-0009-4906-A4A0-22ADBABB9BD8}" dt="2023-04-10T20:53:30.509" v="7"/>
          <ac:spMkLst>
            <pc:docMk/>
            <pc:sldMk cId="94298196" sldId="295"/>
            <ac:spMk id="20" creationId="{240C0BEA-EECE-E736-FFA4-4412CD5E5D19}"/>
          </ac:spMkLst>
        </pc:spChg>
        <pc:spChg chg="add">
          <ac:chgData name="Scali, Jorge" userId="1185e97b-6c7a-4bfd-b070-64c464bdfe27" providerId="ADAL" clId="{DD593837-0009-4906-A4A0-22ADBABB9BD8}" dt="2023-04-10T20:53:30.509" v="7"/>
          <ac:spMkLst>
            <pc:docMk/>
            <pc:sldMk cId="94298196" sldId="295"/>
            <ac:spMk id="21" creationId="{71EE122C-0685-465F-DBED-EFA36D425496}"/>
          </ac:spMkLst>
        </pc:spChg>
        <pc:spChg chg="add mod">
          <ac:chgData name="Scali, Jorge" userId="1185e97b-6c7a-4bfd-b070-64c464bdfe27" providerId="ADAL" clId="{DD593837-0009-4906-A4A0-22ADBABB9BD8}" dt="2023-04-10T20:56:40.997" v="38" actId="20577"/>
          <ac:spMkLst>
            <pc:docMk/>
            <pc:sldMk cId="94298196" sldId="295"/>
            <ac:spMk id="22" creationId="{41B4B2D9-AD04-E594-1B8D-BBD1C4C2192C}"/>
          </ac:spMkLst>
        </pc:spChg>
        <pc:spChg chg="add del mod">
          <ac:chgData name="Scali, Jorge" userId="1185e97b-6c7a-4bfd-b070-64c464bdfe27" providerId="ADAL" clId="{DD593837-0009-4906-A4A0-22ADBABB9BD8}" dt="2023-04-10T20:58:37.012" v="58" actId="478"/>
          <ac:spMkLst>
            <pc:docMk/>
            <pc:sldMk cId="94298196" sldId="295"/>
            <ac:spMk id="23" creationId="{E35DA2C2-1345-502B-ACFC-6F7778E2E885}"/>
          </ac:spMkLst>
        </pc:spChg>
      </pc:sldChg>
      <pc:sldChg chg="modSp add mod modAnim">
        <pc:chgData name="Scali, Jorge" userId="1185e97b-6c7a-4bfd-b070-64c464bdfe27" providerId="ADAL" clId="{DD593837-0009-4906-A4A0-22ADBABB9BD8}" dt="2023-04-10T21:10:20.070" v="136"/>
        <pc:sldMkLst>
          <pc:docMk/>
          <pc:sldMk cId="287061516" sldId="296"/>
        </pc:sldMkLst>
        <pc:spChg chg="mod">
          <ac:chgData name="Scali, Jorge" userId="1185e97b-6c7a-4bfd-b070-64c464bdfe27" providerId="ADAL" clId="{DD593837-0009-4906-A4A0-22ADBABB9BD8}" dt="2023-04-10T21:10:14.318" v="135" actId="20577"/>
          <ac:spMkLst>
            <pc:docMk/>
            <pc:sldMk cId="287061516" sldId="296"/>
            <ac:spMk id="13" creationId="{200E0084-A3BA-259E-B136-0BBD051DF75F}"/>
          </ac:spMkLst>
        </pc:spChg>
      </pc:sldChg>
      <pc:sldChg chg="modSp add mod modAnim">
        <pc:chgData name="Scali, Jorge" userId="1185e97b-6c7a-4bfd-b070-64c464bdfe27" providerId="ADAL" clId="{DD593837-0009-4906-A4A0-22ADBABB9BD8}" dt="2023-04-10T21:09:33.079" v="128"/>
        <pc:sldMkLst>
          <pc:docMk/>
          <pc:sldMk cId="2087862630" sldId="297"/>
        </pc:sldMkLst>
        <pc:spChg chg="mod">
          <ac:chgData name="Scali, Jorge" userId="1185e97b-6c7a-4bfd-b070-64c464bdfe27" providerId="ADAL" clId="{DD593837-0009-4906-A4A0-22ADBABB9BD8}" dt="2023-04-10T21:06:39.150" v="97" actId="114"/>
          <ac:spMkLst>
            <pc:docMk/>
            <pc:sldMk cId="2087862630" sldId="297"/>
            <ac:spMk id="13" creationId="{200E0084-A3BA-259E-B136-0BBD051DF75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1A597-DC91-40F9-8D10-3F9F40F51A34}" type="datetimeFigureOut">
              <a:rPr lang="es-AR" smtClean="0"/>
              <a:t>20/8/2026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34F8C-6F27-4042-9A2E-00EF595E1B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8016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1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359"/>
                </a:lnTo>
                <a:lnTo>
                  <a:pt x="3703320" y="94359"/>
                </a:lnTo>
                <a:lnTo>
                  <a:pt x="3703320" y="0"/>
                </a:lnTo>
                <a:close/>
              </a:path>
            </a:pathLst>
          </a:custGeom>
          <a:solidFill>
            <a:srgbClr val="4D12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282"/>
                </a:lnTo>
                <a:lnTo>
                  <a:pt x="3703320" y="97282"/>
                </a:lnTo>
                <a:lnTo>
                  <a:pt x="3703320" y="0"/>
                </a:lnTo>
                <a:close/>
              </a:path>
            </a:pathLst>
          </a:custGeom>
          <a:solidFill>
            <a:srgbClr val="94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1292" y="457201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8"/>
                </a:lnTo>
                <a:lnTo>
                  <a:pt x="3703319" y="91438"/>
                </a:lnTo>
                <a:lnTo>
                  <a:pt x="3703319" y="0"/>
                </a:lnTo>
                <a:close/>
              </a:path>
            </a:pathLst>
          </a:custGeom>
          <a:solidFill>
            <a:srgbClr val="902F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3919" y="3269107"/>
            <a:ext cx="1804161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3171" y="2973070"/>
            <a:ext cx="10925657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1036701"/>
            <a:ext cx="11277600" cy="689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95"/>
              </a:spcBef>
            </a:pPr>
            <a:r>
              <a:rPr lang="es-ES" sz="4400" b="1" spc="-15" noProof="0" dirty="0">
                <a:solidFill>
                  <a:schemeClr val="bg1"/>
                </a:solidFill>
                <a:latin typeface="Arial"/>
                <a:cs typeface="Arial"/>
              </a:rPr>
              <a:t>Clase 2: </a:t>
            </a:r>
            <a:r>
              <a:rPr lang="es-ES" sz="4400" b="1" spc="-15" dirty="0">
                <a:latin typeface="Arial"/>
                <a:cs typeface="Arial"/>
              </a:rPr>
              <a:t>CTS e Introducción a los Formularios</a:t>
            </a:r>
            <a:endParaRPr lang="es-AR" sz="4400" noProof="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7800" y="122436"/>
            <a:ext cx="678179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-5" dirty="0">
                <a:solidFill>
                  <a:srgbClr val="FFFFFF"/>
                </a:solidFill>
                <a:latin typeface="Arial MT"/>
                <a:cs typeface="Arial MT"/>
              </a:rPr>
              <a:t>PROGRAMACIÓN Y ESTRUCTURAS DE DATOS</a:t>
            </a:r>
            <a:endParaRPr lang="es-AR" sz="1800" noProof="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44863" y="5854903"/>
            <a:ext cx="231648" cy="25603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ECB98BF-F9F5-DFDB-F1EF-93F7E9B2E70D}"/>
              </a:ext>
            </a:extLst>
          </p:cNvPr>
          <p:cNvSpPr txBox="1"/>
          <p:nvPr/>
        </p:nvSpPr>
        <p:spPr>
          <a:xfrm>
            <a:off x="381000" y="56685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noProof="0" dirty="0">
                <a:solidFill>
                  <a:schemeClr val="bg1"/>
                </a:solidFill>
              </a:rPr>
              <a:t>Prof. Coedo, Maximiliano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Repaso de la clase anterior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La clase pasada repasamos: variables, vectores y matrices, operadores lógicos, entradas y salidas en C#, estructuras de repetición (while / for) e hicimos una primera introducción a .NET y Visual Studio.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Hoy avanzamos con: el Sistema Común de Tipos (CTS), boxing/unboxing, conversión de tipos, números aleatorios, y damos el primer paso en Windows Forms.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Temas de hoy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CTS: Sistema Común de Tipos.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Tipos por valor y por referencia.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Boxing y Unboxing.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El tipo Object, el tipo String y el tipo Date.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Conversión de tipos (Convert y Parse).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Generación de números aleatorios.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Introducción a los Formularios (Windows Forms).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Formularios MDI y Menús.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CTS — Sistema Común de Tipos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El Common Type System (CTS) define cómo se declaran, utilizan y administran los tipos en el Common Language Runtime (CLR). Es la base que permite integrar distintos lenguajes .NET.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Funciones del CTS: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Establece un marco común para integrar varios lenguajes (C#, VB.NET, etc.).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Define las reglas que deben seguir los lenguajes para que los objetos escritos en cada uno puedan interactuar entre sí.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Proporciona una biblioteca de tipos de datos primitivos (bool, int, char, etc.).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Define cómo funcionan los tipos dentro del CLR.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Tipos por valor y por referencia — Conceptos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El CTS define un conjunto común de tipos de datos que todo lenguaje .NET debe implementar.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Todo tipo hereda directa o indirectamente de Object.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Por valor: mantiene el dato dentro de su propia asignación de memoria. Todos los tipos numéricos, bool, </a:t>
            </a:r>
            <a:r>
              <a:rPr lang="es-ES" sz="1900" dirty="0" err="1"/>
              <a:t>char</a:t>
            </a:r>
            <a:r>
              <a:rPr lang="es-ES" sz="1900" dirty="0"/>
              <a:t>. </a:t>
            </a:r>
            <a:br>
              <a:rPr lang="es-ES" sz="1900" dirty="0"/>
            </a:br>
            <a:r>
              <a:rPr lang="es-ES" sz="1900" dirty="0"/>
              <a:t>Se crean en el Stack. (Pila)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Por referencia: mantiene una referencia (dirección) a donde están los datos. Object, String, arrays, clases (class). Se crean en el Heap. (Montón)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Tipos por valor y por referencia — Stack y Heap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En C# la gestión de memoria es automática: .NET guarda los elementos del programa en dos zonas de memoria distintas: el Stack y el Heap.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Stack: hace el seguimiento de la ejecución del código. Cada vez que se llama a un método se apila un nuevo bloque; al terminar el método, ese bloque se retira.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Heap: mantiene la información (los datos) mientras existan referencias a ella. Se puede acceder en cualquier momento, sin las limitaciones de acceso del Stack.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Tipos por valor y por referencia — Diagrama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Todos los tipos derivan de Object. Se clasifican en tipos por referencia (Class, Interface, Array, String, Delegate) y tipos por valor (numéricos, bool, struct, enum).</a:t>
            </a:r>
          </a:p>
        </p:txBody>
      </p:sp>
      <p:pic>
        <p:nvPicPr>
          <p:cNvPr id="92" name="Jerarquia de tipos C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500" y="3400000"/>
            <a:ext cx="3821000" cy="31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Ejemplo práctico: tipos por valor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8400"/>
            <a:ext cx="11309985" cy="2966782"/>
          </a:xfrm>
          <a:prstGeom prst="rect">
            <a:avLst/>
          </a:prstGeom>
        </p:spPr>
        <p:txBody>
          <a:bodyPr/>
          <a:lstStyle/>
          <a:p>
            <a:endParaRPr lang="es-ES" dirty="0"/>
          </a:p>
          <a:p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SumaDos</a:t>
            </a:r>
            <a:r>
              <a:rPr lang="es-ES" dirty="0"/>
              <a:t>(</a:t>
            </a:r>
            <a:r>
              <a:rPr lang="es-ES" dirty="0" err="1"/>
              <a:t>int</a:t>
            </a:r>
            <a:r>
              <a:rPr lang="es-ES" dirty="0"/>
              <a:t> valor)</a:t>
            </a:r>
          </a:p>
          <a:p>
            <a:r>
              <a:rPr lang="es-ES" dirty="0"/>
              <a:t>{</a:t>
            </a:r>
          </a:p>
          <a:p>
            <a:r>
              <a:rPr lang="es-ES" dirty="0"/>
              <a:t>    </a:t>
            </a:r>
            <a:r>
              <a:rPr lang="es-ES" dirty="0" err="1"/>
              <a:t>int</a:t>
            </a:r>
            <a:r>
              <a:rPr lang="es-ES" dirty="0"/>
              <a:t> resultado;</a:t>
            </a:r>
          </a:p>
          <a:p>
            <a:r>
              <a:rPr lang="es-ES" dirty="0"/>
              <a:t>    resultado = valor + 2;</a:t>
            </a:r>
          </a:p>
          <a:p>
            <a:r>
              <a:rPr lang="es-ES" dirty="0"/>
              <a:t>    </a:t>
            </a:r>
            <a:r>
              <a:rPr lang="es-ES" dirty="0" err="1"/>
              <a:t>return</a:t>
            </a:r>
            <a:r>
              <a:rPr lang="es-ES" dirty="0"/>
              <a:t> resultado;</a:t>
            </a:r>
          </a:p>
          <a:p>
            <a:r>
              <a:rPr lang="es-ES" dirty="0"/>
              <a:t>}</a:t>
            </a:r>
          </a:p>
          <a:p>
            <a:endParaRPr lang="es-ES" dirty="0"/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Al llamar a SumaDos(x), el parámetro "valor" recibe una COPIA del dato de x (int es un tipo por valor).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Todo ocurre en el Stack: cada llamada apila sus propias variables (valor, resultado); al terminar el método, ese bloque se descarta.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Modificar "valor" o "resultado" dentro del método NUNCA afecta a la variable original que se pasó como argumento.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9A477E-12FD-4EDD-B562-91FDA356A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286001"/>
            <a:ext cx="1920467" cy="216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B81B8477-09A5-4ACB-A7B4-39D95E05A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26" y="2286000"/>
            <a:ext cx="1845790" cy="218343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7A30495-ADE4-4B2E-86CF-9C6EBDA69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273" y="2286000"/>
            <a:ext cx="1784527" cy="2155768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A623418-85C5-41D0-A2C6-47148724F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470" y="2286000"/>
            <a:ext cx="1813820" cy="215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Ejemplo práctico: tipos por referencia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4191697"/>
          </a:xfrm>
          <a:prstGeom prst="rect">
            <a:avLst/>
          </a:prstGeom>
        </p:spPr>
        <p:txBody>
          <a:bodyPr/>
          <a:lstStyle/>
          <a:p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RetornaValor</a:t>
            </a:r>
            <a:r>
              <a:rPr lang="es-ES" dirty="0"/>
              <a:t>()</a:t>
            </a:r>
          </a:p>
          <a:p>
            <a:r>
              <a:rPr lang="es-ES" dirty="0"/>
              <a:t>{</a:t>
            </a:r>
          </a:p>
          <a:p>
            <a:r>
              <a:rPr lang="es-ES" dirty="0"/>
              <a:t>    </a:t>
            </a:r>
            <a:r>
              <a:rPr lang="es-ES" dirty="0" err="1"/>
              <a:t>MiEntero</a:t>
            </a:r>
            <a:r>
              <a:rPr lang="es-ES" dirty="0"/>
              <a:t> x;</a:t>
            </a:r>
          </a:p>
          <a:p>
            <a:r>
              <a:rPr lang="es-ES" dirty="0"/>
              <a:t>    </a:t>
            </a:r>
            <a:r>
              <a:rPr lang="es-ES" dirty="0" err="1"/>
              <a:t>x.MiValor</a:t>
            </a:r>
            <a:r>
              <a:rPr lang="es-ES" dirty="0"/>
              <a:t> = 3;</a:t>
            </a:r>
          </a:p>
          <a:p>
            <a:r>
              <a:rPr lang="es-ES" dirty="0"/>
              <a:t>    </a:t>
            </a:r>
            <a:r>
              <a:rPr lang="es-ES" dirty="0" err="1"/>
              <a:t>MiEntero</a:t>
            </a:r>
            <a:r>
              <a:rPr lang="es-ES" dirty="0"/>
              <a:t> y;</a:t>
            </a:r>
          </a:p>
          <a:p>
            <a:r>
              <a:rPr lang="es-ES" dirty="0"/>
              <a:t>    y = x;</a:t>
            </a:r>
          </a:p>
          <a:p>
            <a:r>
              <a:rPr lang="es-ES" dirty="0"/>
              <a:t>    </a:t>
            </a:r>
            <a:r>
              <a:rPr lang="es-ES" dirty="0" err="1"/>
              <a:t>y.MiValor</a:t>
            </a:r>
            <a:r>
              <a:rPr lang="es-ES" dirty="0"/>
              <a:t> = 4;</a:t>
            </a:r>
          </a:p>
          <a:p>
            <a:r>
              <a:rPr lang="es-ES" dirty="0"/>
              <a:t>    </a:t>
            </a:r>
            <a:r>
              <a:rPr lang="es-ES" dirty="0" err="1"/>
              <a:t>return</a:t>
            </a:r>
            <a:r>
              <a:rPr lang="es-ES" dirty="0"/>
              <a:t> </a:t>
            </a:r>
            <a:r>
              <a:rPr lang="es-ES" dirty="0" err="1"/>
              <a:t>x.MiValor</a:t>
            </a:r>
            <a:r>
              <a:rPr lang="es-ES" dirty="0"/>
              <a:t>;</a:t>
            </a:r>
          </a:p>
          <a:p>
            <a:r>
              <a:rPr lang="es-ES" dirty="0"/>
              <a:t>}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500" dirty="0"/>
              <a:t>Si MiEntero es un tipo por REFERENCIA (class), "y = x" no copia el dato: y queda apuntando 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500" dirty="0"/>
              <a:t>al MISMO objeto que x en el Heap.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500" dirty="0"/>
              <a:t>Por eso, al modificar y.MiValor, también cambia x.MiValor: el método devuelve 4, no 3.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500" dirty="0"/>
              <a:t>Con un tipo por valor (struct) el resultado sería distinto: "y = x" copiaría el dato, y modificar y no afectaría a x.</a:t>
            </a:r>
          </a:p>
        </p:txBody>
      </p:sp>
      <p:pic>
        <p:nvPicPr>
          <p:cNvPr id="11" name="Picture 2" descr="http://4.bp.blogspot.com/_d2n6u9eMSpE/TEzp8_kCO9I/AAAAAAAAAB0/OnDTsBx-88U/s400/fig01-11.png">
            <a:extLst>
              <a:ext uri="{FF2B5EF4-FFF2-40B4-BE49-F238E27FC236}">
                <a16:creationId xmlns:a16="http://schemas.microsoft.com/office/drawing/2014/main" id="{B635A48C-0031-0973-C652-CBF23F118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823" y="1991472"/>
            <a:ext cx="5900597" cy="3038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7CDA0-7305-DB60-836A-40B3B03A5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72CCD8-37C0-257E-9B48-E5FDAF3026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Ejemplo práctico: por valor y referencia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FB6F164-004F-5643-A749-306D1496AB50}"/>
              </a:ext>
            </a:extLst>
          </p:cNvPr>
          <p:cNvSpPr txBox="1"/>
          <p:nvPr/>
        </p:nvSpPr>
        <p:spPr>
          <a:xfrm>
            <a:off x="440436" y="2052131"/>
            <a:ext cx="11309985" cy="4191697"/>
          </a:xfrm>
          <a:prstGeom prst="rect">
            <a:avLst/>
          </a:prstGeom>
        </p:spPr>
        <p:txBody>
          <a:bodyPr/>
          <a:lstStyle/>
          <a:p>
            <a:r>
              <a:rPr lang="es-AR" dirty="0" err="1"/>
              <a:t>public</a:t>
            </a:r>
            <a:r>
              <a:rPr lang="es-AR" dirty="0"/>
              <a:t> </a:t>
            </a:r>
            <a:r>
              <a:rPr lang="es-AR" dirty="0" err="1"/>
              <a:t>MiEntero</a:t>
            </a:r>
            <a:r>
              <a:rPr lang="es-AR" dirty="0"/>
              <a:t> </a:t>
            </a:r>
            <a:r>
              <a:rPr lang="es-AR" dirty="0" err="1"/>
              <a:t>SumaDos</a:t>
            </a:r>
            <a:r>
              <a:rPr lang="es-AR" dirty="0"/>
              <a:t>(</a:t>
            </a:r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punteroValor</a:t>
            </a:r>
            <a:r>
              <a:rPr lang="es-AR" dirty="0"/>
              <a:t>)</a:t>
            </a:r>
            <a:br>
              <a:rPr lang="es-AR" dirty="0"/>
            </a:br>
            <a:r>
              <a:rPr lang="es-AR" dirty="0"/>
              <a:t>{</a:t>
            </a:r>
            <a:br>
              <a:rPr lang="es-AR" dirty="0"/>
            </a:br>
            <a:r>
              <a:rPr lang="es-AR" dirty="0" err="1"/>
              <a:t>MiEntero</a:t>
            </a:r>
            <a:r>
              <a:rPr lang="es-AR" dirty="0"/>
              <a:t> resultado = new </a:t>
            </a:r>
            <a:r>
              <a:rPr lang="es-AR" dirty="0" err="1"/>
              <a:t>MiEntero</a:t>
            </a:r>
            <a:r>
              <a:rPr lang="es-AR" dirty="0"/>
              <a:t>();</a:t>
            </a:r>
            <a:br>
              <a:rPr lang="es-AR" dirty="0"/>
            </a:br>
            <a:r>
              <a:rPr lang="es-AR" dirty="0" err="1"/>
              <a:t>resultado.MiValor</a:t>
            </a:r>
            <a:r>
              <a:rPr lang="es-AR" dirty="0"/>
              <a:t> = </a:t>
            </a:r>
            <a:r>
              <a:rPr lang="es-AR" dirty="0" err="1"/>
              <a:t>punteroValor</a:t>
            </a:r>
            <a:r>
              <a:rPr lang="es-AR" dirty="0"/>
              <a:t> + 2;</a:t>
            </a:r>
            <a:br>
              <a:rPr lang="es-AR" dirty="0"/>
            </a:br>
            <a:r>
              <a:rPr lang="es-AR" dirty="0" err="1"/>
              <a:t>return</a:t>
            </a:r>
            <a:r>
              <a:rPr lang="es-AR" dirty="0"/>
              <a:t> resultado;</a:t>
            </a:r>
            <a:br>
              <a:rPr lang="es-AR" dirty="0"/>
            </a:br>
            <a:r>
              <a:rPr lang="es-AR" dirty="0"/>
              <a:t>}</a:t>
            </a:r>
          </a:p>
          <a:p>
            <a:endParaRPr lang="es-ES" dirty="0"/>
          </a:p>
        </p:txBody>
      </p:sp>
      <p:pic>
        <p:nvPicPr>
          <p:cNvPr id="5" name="Picture 2" descr="http://2.bp.blogspot.com/_d2n6u9eMSpE/TEy3mdGy9yI/AAAAAAAAAAk/hsdrwLdDcjA/s320/fig01-03.png">
            <a:extLst>
              <a:ext uri="{FF2B5EF4-FFF2-40B4-BE49-F238E27FC236}">
                <a16:creationId xmlns:a16="http://schemas.microsoft.com/office/drawing/2014/main" id="{BEF286FA-20A8-7506-471C-9322F1C62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31" y="3823600"/>
            <a:ext cx="24384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://1.bp.blogspot.com/_d2n6u9eMSpE/TEzaT6bTJWI/AAAAAAAAABU/5Gm9CPnV1Uw/s400/fig01-07.png">
            <a:extLst>
              <a:ext uri="{FF2B5EF4-FFF2-40B4-BE49-F238E27FC236}">
                <a16:creationId xmlns:a16="http://schemas.microsoft.com/office/drawing/2014/main" id="{D748E0C7-2AAA-D0F8-69CD-DF7E3E74D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150360"/>
            <a:ext cx="3930595" cy="202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http://1.bp.blogspot.com/_d2n6u9eMSpE/TEzZhd1l6kI/AAAAAAAAABM/Se3DPWyRY20/s400/fig01-08.png">
            <a:extLst>
              <a:ext uri="{FF2B5EF4-FFF2-40B4-BE49-F238E27FC236}">
                <a16:creationId xmlns:a16="http://schemas.microsoft.com/office/drawing/2014/main" id="{BF84503F-674E-EE57-F106-958AD5BA4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748" y="4147979"/>
            <a:ext cx="3949768" cy="202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332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Boxing y Unboxing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Boxing: convertir un tipo por valor (int, double, float, etc.) a un tipo por referencia (</a:t>
            </a:r>
            <a:r>
              <a:rPr lang="es-ES" sz="1800" dirty="0" err="1"/>
              <a:t>Object</a:t>
            </a:r>
            <a:r>
              <a:rPr lang="es-ES" sz="1800" dirty="0"/>
              <a:t>).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int i = 123;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 err="1">
                <a:latin typeface="Courier New"/>
                <a:cs typeface="Courier New"/>
              </a:rPr>
              <a:t>Object</a:t>
            </a:r>
            <a:r>
              <a:rPr lang="es-ES" sz="1600" dirty="0">
                <a:latin typeface="Courier New"/>
                <a:cs typeface="Courier New"/>
              </a:rPr>
              <a:t> o = i;              // Boxing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Unboxing: convertir un tipo por referencia nuevamente a un tipo por valor, mediante conversión explícita.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 err="1">
                <a:latin typeface="Courier New"/>
                <a:cs typeface="Courier New"/>
              </a:rPr>
              <a:t>Object</a:t>
            </a:r>
            <a:r>
              <a:rPr lang="es-ES" sz="1600" dirty="0">
                <a:latin typeface="Courier New"/>
                <a:cs typeface="Courier New"/>
              </a:rPr>
              <a:t> o = 123;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int i = (int)o;            // Unboxing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Ejercicio 1 (C#)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200" dirty="0"/>
              <a:t>Escribir un programa de consola en C# que declare una variable int, la convierta a object (boxing) y luego la reconvierta a int (unboxing). Mostrar por consola el tipo (GetType()) en cada paso.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Solución ejercicio 1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400" dirty="0"/>
              <a:t>El código completo, comentado, con la resolución paso a paso y el resultado explicado de una ejecución de ejemplo, está en el archivo adjunto: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400" dirty="0"/>
              <a:t>Ejercicio1_BoxingUnboxing.cs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El tipo Object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1991473"/>
            <a:ext cx="11309985" cy="4485528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Todos los tipos de datos heredan de Object: es la clase base fundamental de .NET Framework, la raíz de la jerarquía de tipos. Proporciona servicios de bajo nivel a todas las clases derivadas.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Miembros principales que expone: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AR" b="1" dirty="0"/>
              <a:t>.</a:t>
            </a:r>
            <a:r>
              <a:rPr lang="es-AR" b="1" dirty="0" err="1"/>
              <a:t>Equals</a:t>
            </a:r>
            <a:r>
              <a:rPr lang="es-AR" b="1" dirty="0"/>
              <a:t>()</a:t>
            </a:r>
            <a:r>
              <a:rPr lang="es-AR" sz="2000" b="1" dirty="0"/>
              <a:t> </a:t>
            </a:r>
            <a:r>
              <a:rPr lang="es-AR" sz="2000" dirty="0"/>
              <a:t>: Compara si dos objetos son iguales. Por defecto compara si son la misma referencia en memoria (el mismo objeto)</a:t>
            </a:r>
            <a:endParaRPr lang="es-ES" sz="1900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b="1" dirty="0"/>
              <a:t>.</a:t>
            </a:r>
            <a:r>
              <a:rPr lang="es-ES" sz="1900" b="1" dirty="0" err="1"/>
              <a:t>Finalize</a:t>
            </a:r>
            <a:r>
              <a:rPr lang="es-ES" sz="1900" b="1" dirty="0"/>
              <a:t>()</a:t>
            </a:r>
            <a:r>
              <a:rPr lang="es-ES" sz="1900" dirty="0"/>
              <a:t>: </a:t>
            </a:r>
            <a:r>
              <a:rPr lang="es-AR" sz="2000" dirty="0"/>
              <a:t>Es el destructor del objeto: el método que el recolector de basura (</a:t>
            </a:r>
            <a:r>
              <a:rPr lang="es-AR" sz="2000" dirty="0" err="1"/>
              <a:t>Garbage</a:t>
            </a:r>
            <a:r>
              <a:rPr lang="es-AR" sz="2000" dirty="0"/>
              <a:t> </a:t>
            </a:r>
            <a:r>
              <a:rPr lang="es-AR" sz="2000" dirty="0" err="1"/>
              <a:t>Collector</a:t>
            </a:r>
            <a:r>
              <a:rPr lang="es-AR" sz="2000" dirty="0"/>
              <a:t>) llama antes de liberar la memoria del objeto, para que pueda liberar recursos no administrados (archivos abiertos, conexiones, etc.</a:t>
            </a:r>
            <a:endParaRPr lang="es-ES" sz="1900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b="1" dirty="0"/>
              <a:t>.</a:t>
            </a:r>
            <a:r>
              <a:rPr lang="es-ES" sz="1900" b="1" dirty="0" err="1"/>
              <a:t>GetHashCode</a:t>
            </a:r>
            <a:r>
              <a:rPr lang="es-ES" sz="1900" b="1" dirty="0"/>
              <a:t>():</a:t>
            </a:r>
            <a:r>
              <a:rPr lang="es-ES" sz="1900" dirty="0"/>
              <a:t> </a:t>
            </a:r>
            <a:r>
              <a:rPr lang="es-AR" sz="2000" dirty="0"/>
              <a:t>Devuelve un número entero que identifica al objeto, pensado para usarse en estructuras como diccionarios </a:t>
            </a:r>
            <a:endParaRPr lang="es-ES" sz="1900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b="1" dirty="0"/>
              <a:t>.</a:t>
            </a:r>
            <a:r>
              <a:rPr lang="es-ES" sz="1900" b="1" dirty="0" err="1"/>
              <a:t>GetType</a:t>
            </a:r>
            <a:r>
              <a:rPr lang="es-ES" sz="1900" b="1" dirty="0"/>
              <a:t>()</a:t>
            </a:r>
            <a:r>
              <a:rPr lang="es-ES" sz="1900" dirty="0"/>
              <a:t>: </a:t>
            </a:r>
            <a:r>
              <a:rPr lang="es-AR" sz="2000" dirty="0"/>
              <a:t>devuelve el tipo real del objeto en tiempo de ejecución (por ejemplo </a:t>
            </a:r>
            <a:r>
              <a:rPr lang="es-AR" dirty="0"/>
              <a:t>System.Int32</a:t>
            </a:r>
            <a:r>
              <a:rPr lang="es-AR" sz="2000" dirty="0"/>
              <a:t> o </a:t>
            </a:r>
            <a:r>
              <a:rPr lang="es-AR" dirty="0" err="1"/>
              <a:t>System.String</a:t>
            </a:r>
            <a:r>
              <a:rPr lang="es-AR" sz="2000" dirty="0"/>
              <a:t>)</a:t>
            </a:r>
            <a:endParaRPr lang="es-ES" sz="1900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b="1" dirty="0"/>
              <a:t>.</a:t>
            </a:r>
            <a:r>
              <a:rPr lang="es-ES" sz="1900" b="1" dirty="0" err="1"/>
              <a:t>ToString</a:t>
            </a:r>
            <a:r>
              <a:rPr lang="es-ES" sz="1900" b="1" dirty="0"/>
              <a:t>() : </a:t>
            </a:r>
            <a:r>
              <a:rPr lang="es-AR" sz="2000" dirty="0"/>
              <a:t>devuelve una representación del objeto como texto. </a:t>
            </a:r>
            <a:endParaRPr lang="es-ES" sz="1900" b="1" dirty="0"/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El tipo String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4115497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Pertenece a System.String. Almacena cadenas de caracteres.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String cadena = "Caracteres";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Propiedades y métodos frecuentes: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Length: número de caracteres de la cadena.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Chars: devuelve el carácter ubicado en un índice determinado.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Formateando salidas: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 err="1">
                <a:latin typeface="Courier New"/>
                <a:cs typeface="Courier New"/>
              </a:rPr>
              <a:t>String.Format</a:t>
            </a:r>
            <a:r>
              <a:rPr lang="es-ES" sz="1600" dirty="0">
                <a:latin typeface="Courier New"/>
                <a:cs typeface="Courier New"/>
              </a:rPr>
              <a:t>("El valor de {0}", variable);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El tipo Date (DateTime)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Espacio de nombres: using System; (DateTime)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Operaciones con fechas: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fecha.AddDays(-1);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fecha.AddYears(5);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Formatear fechas: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string.Format("{0:dd-MM-yyyy}", fecha);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fecha.ToString("dd-MM-yyyy");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Conversión de tipos — Excepciones de Convert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b="1" dirty="0"/>
              <a:t>Convert</a:t>
            </a:r>
            <a:r>
              <a:rPr lang="es-ES" sz="1700" dirty="0"/>
              <a:t> convierte un tipo de dato base en otro tipo. Puede lanzar las siguientes excepciones: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b="1" dirty="0"/>
              <a:t>InvalidCastException</a:t>
            </a:r>
            <a:r>
              <a:rPr lang="es-ES" sz="1700" dirty="0"/>
              <a:t>: la conversión solicitada no está permitida (por ejemplo, de Char a Boolean/DateTime, o de DateTime a cualquier tipo que no sea String).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b="1" dirty="0"/>
              <a:t>FormatException</a:t>
            </a:r>
            <a:r>
              <a:rPr lang="es-ES" sz="1700" dirty="0"/>
              <a:t>: ocurre al convertir una cadena a otro tipo cuando la cadena no tiene el formato correcto.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b="1" dirty="0"/>
              <a:t>OverflowException</a:t>
            </a:r>
            <a:r>
              <a:rPr lang="es-ES" sz="1700" dirty="0"/>
              <a:t>: ocurre cuando la conversión produce pérdida de datos (por ejemplo, un número que no entra en el tipo destino).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Conversión de tipos — Implícitas y explícitas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600" b="1" dirty="0"/>
              <a:t>Implícitas</a:t>
            </a:r>
            <a:r>
              <a:rPr lang="es-ES" sz="1600" dirty="0"/>
              <a:t>: no requieren sintaxis especial porque la conversión es segura y no se pierden datos. Ejemplo: de un tipo entero menor a uno mayor.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long valorGrande;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int entero = 5;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valorGrande = entero;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600" b="1" dirty="0"/>
              <a:t>Explícitas</a:t>
            </a:r>
            <a:r>
              <a:rPr lang="es-ES" sz="1600" dirty="0"/>
              <a:t>: intervienen el programador porque puede haber pérdida de datos (cast). Ejemplo: de un número grande a uno más chico.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double valorGrande2 = 5555.5555;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int entero2;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entero2 = (int)valorGrande2;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Convert vs Parse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int valorA = Convert.ToInt32(valorUsuario);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int valorB = Int32.Parse(valorUsuario);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Con </a:t>
            </a:r>
            <a:r>
              <a:rPr lang="es-ES" sz="1900" b="1" dirty="0"/>
              <a:t>Parse()</a:t>
            </a:r>
            <a:r>
              <a:rPr lang="es-ES" sz="1900" dirty="0"/>
              <a:t>: si el usuario no ingresó ningún valor (null), se produce una excepción System.FormatException (el argumento no cumple el formato esperado).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Con </a:t>
            </a:r>
            <a:r>
              <a:rPr lang="es-ES" sz="1900" b="1" dirty="0"/>
              <a:t>Convert</a:t>
            </a:r>
            <a:r>
              <a:rPr lang="es-ES" sz="1900" dirty="0"/>
              <a:t>: si el valor recibido es null, el método (por ejemplo, ConvertToInt32()) devuelve cero en lugar de lanzar una excepción por ese motivo.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Generación de números aleatorios — Random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La clase </a:t>
            </a:r>
            <a:r>
              <a:rPr lang="es-ES" sz="2000" b="1" dirty="0"/>
              <a:t>Random</a:t>
            </a:r>
            <a:r>
              <a:rPr lang="es-ES" sz="2000" dirty="0"/>
              <a:t> representa un generador pseudoaleatorio de números.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Produce una secuencia de números que cumple ciertos requisitos estadísticos de aleatoriedad.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Random r = new Random();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int numero = r.Next(1, 101);   // entre 1 y 100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0BF4E-559E-29B5-571E-E4907952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70DBCE-0AD3-08F0-C749-D47319E7A5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Vectores y matrices - </a:t>
            </a:r>
            <a:r>
              <a:rPr lang="es-ES" sz="3600" dirty="0" err="1"/>
              <a:t>Arrays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2066062-CE38-A9E9-CC18-3DFB4D5301E0}"/>
              </a:ext>
            </a:extLst>
          </p:cNvPr>
          <p:cNvSpPr txBox="1"/>
          <p:nvPr/>
        </p:nvSpPr>
        <p:spPr>
          <a:xfrm>
            <a:off x="440435" y="1991473"/>
            <a:ext cx="11309985" cy="4790328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AR" sz="2000" dirty="0"/>
              <a:t>Todo esto pertenece a </a:t>
            </a:r>
            <a:r>
              <a:rPr lang="es-AR" dirty="0" err="1"/>
              <a:t>System.Array</a:t>
            </a:r>
            <a:r>
              <a:rPr lang="es-AR" sz="2000" dirty="0"/>
              <a:t>, la clase base de la que derivan todos los </a:t>
            </a:r>
            <a:r>
              <a:rPr lang="es-AR" sz="2000" dirty="0" err="1"/>
              <a:t>arrays</a:t>
            </a:r>
            <a:r>
              <a:rPr lang="es-AR" sz="2000" dirty="0"/>
              <a:t> en C#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endParaRPr lang="es-AR" sz="800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AR" sz="2000" dirty="0"/>
              <a:t>Los </a:t>
            </a:r>
            <a:r>
              <a:rPr lang="es-AR" sz="2000" b="1" dirty="0" err="1"/>
              <a:t>arrays</a:t>
            </a:r>
            <a:r>
              <a:rPr lang="es-AR" sz="2000" b="1" dirty="0"/>
              <a:t> estáticos </a:t>
            </a:r>
            <a:r>
              <a:rPr lang="es-AR" sz="2000" dirty="0"/>
              <a:t>son los que declaras con un tamaño fijo desde el momento en que se crean: reserva espacio en memoria para exactamente 2 enteros, ni uno más ni uno menos. Una vez creado, ese tamaño no se puede cambiar directamente.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AR" sz="2000" b="1" dirty="0" err="1"/>
              <a:t>int</a:t>
            </a:r>
            <a:r>
              <a:rPr lang="es-AR" sz="2000" b="1" dirty="0"/>
              <a:t>[] array = new </a:t>
            </a:r>
            <a:r>
              <a:rPr lang="es-AR" sz="2000" b="1" dirty="0" err="1"/>
              <a:t>int</a:t>
            </a:r>
            <a:r>
              <a:rPr lang="es-AR" sz="2000" b="1" dirty="0"/>
              <a:t>[2];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endParaRPr lang="es-AR" sz="800" b="1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AR" sz="2000" dirty="0"/>
              <a:t>Los </a:t>
            </a:r>
            <a:r>
              <a:rPr lang="es-AR" sz="2000" b="1" dirty="0" err="1"/>
              <a:t>arrays</a:t>
            </a:r>
            <a:r>
              <a:rPr lang="es-AR" sz="2000" b="1" dirty="0"/>
              <a:t> dinámicos</a:t>
            </a:r>
            <a:r>
              <a:rPr lang="es-AR" sz="2000" dirty="0"/>
              <a:t> son un poco un truco de C#: en realidad no existen </a:t>
            </a:r>
            <a:r>
              <a:rPr lang="es-AR" sz="2000" dirty="0" err="1"/>
              <a:t>arrays</a:t>
            </a:r>
            <a:r>
              <a:rPr lang="es-AR" sz="2000" dirty="0"/>
              <a:t> que crezcan solos, pero te da ese comportamiento: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AR" sz="2000" b="1" dirty="0" err="1"/>
              <a:t>Array.Resize</a:t>
            </a:r>
            <a:r>
              <a:rPr lang="es-AR" sz="2000" b="1" dirty="0"/>
              <a:t>(</a:t>
            </a:r>
            <a:r>
              <a:rPr lang="es-AR" sz="2000" b="1" dirty="0" err="1"/>
              <a:t>ref</a:t>
            </a:r>
            <a:r>
              <a:rPr lang="es-AR" sz="2000" b="1" dirty="0"/>
              <a:t> array, 4)</a:t>
            </a:r>
            <a:endParaRPr lang="es-ES" sz="2000" b="1" dirty="0"/>
          </a:p>
          <a:p>
            <a:endParaRPr lang="es-AR" dirty="0"/>
          </a:p>
          <a:p>
            <a:endParaRPr lang="es-AR" sz="800" dirty="0"/>
          </a:p>
          <a:p>
            <a:r>
              <a:rPr lang="es-AR" dirty="0"/>
              <a:t>La </a:t>
            </a:r>
            <a:r>
              <a:rPr lang="es-AR" b="1" dirty="0"/>
              <a:t>matriz</a:t>
            </a:r>
            <a:r>
              <a:rPr lang="es-AR" dirty="0"/>
              <a:t> es un array multidimensional, crea una grilla de 100 filas por 200 columnas, todo en un único bloque de memoria. Se accede con matriz[fila, columna].</a:t>
            </a:r>
          </a:p>
          <a:p>
            <a:r>
              <a:rPr lang="es-AR" sz="2000" b="1" dirty="0" err="1"/>
              <a:t>int</a:t>
            </a:r>
            <a:r>
              <a:rPr lang="es-AR" sz="2000" b="1" dirty="0"/>
              <a:t>[,] matriz = new </a:t>
            </a:r>
            <a:r>
              <a:rPr lang="es-AR" sz="2000" b="1" dirty="0" err="1"/>
              <a:t>int</a:t>
            </a:r>
            <a:r>
              <a:rPr lang="es-AR" sz="2000" b="1" dirty="0"/>
              <a:t>[100, 200];</a:t>
            </a:r>
          </a:p>
        </p:txBody>
      </p:sp>
    </p:spTree>
    <p:extLst>
      <p:ext uri="{BB962C8B-B14F-4D97-AF65-F5344CB8AC3E}">
        <p14:creationId xmlns:p14="http://schemas.microsoft.com/office/powerpoint/2010/main" val="970251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Ejercicio 2 (C#)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200" dirty="0"/>
              <a:t>Escribir un programa de consola en C# que solicite por teclado un número decimal grande y lo convierta a int usando Convert.ToInt32() y también con una conversión explícita (cast). Comparar los resultados y generar además un número aleatorio entre 1 y 50 con la clase Random.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Solución ejercicio 2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400" dirty="0"/>
              <a:t>El código completo, comentado, con la resolución paso a paso y el resultado explicado de una ejecución de ejemplo, está en el archivo adjunto: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400" dirty="0"/>
              <a:t>Ejercicio2_ConversionYRandom.cs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Introducción a los Formularios (Windows Forms)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Windows Forms ("WinForms") es la biblioteca de clases GUI incluida en .NET Framework para desarrollar aplicaciones de escritorio.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Es un modelo dirigido por eventos: una aplicación consta de formularios (ventanas) que contienen controles (etiquetas, botones, cuadros de texto, listas, etc.) con los que interactúa el usuario.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En respuesta a esa interacción, los controles generan eventos que el programa maneja para ejecutar tareas.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Todo control (incluidas las ventanas) hereda funcionalidad básica común: texto, ubicación, tamaño, color y un conjunto de eventos que se pueden programar.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Propiedades comunes de un formulario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4420297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Text: título que se muestra en la barra del formulario.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StartPosition: dónde aparece la ventana al abrirse (CenterScreen, Manual, etc.).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Size / Width / Height: tamaño de la ventana.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FormBorderStyle: estilo del borde (Fixed, Sizable, None, etc.).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WindowState: Normal, Minimized o Maximized.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IsMdiContainer: indica si el formulario puede alojar formularios hijo (MDI).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BackColor / Icon: color de fondo e ícono del formulario.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Propiedades comunes de los controles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Name: nombre del control con el que se lo referencia desde el código.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Text: texto que muestra el control (etiqueta de un botón, contenido de un TextBox, etc.).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Location: posición (X, Y) dentro del formulario.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Size: ancho y alto del control.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Enabled: si el control puede recibir interacción del usuario.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Visible: si el control se muestra o queda oculto.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TabIndex: orden en que el control recibe el foco al presionar Tab.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Font / ForeColor / BackColor: tipografía y colores del control.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Eventos comunes de formularios y controles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Load: se dispara cuando el formulario termina de cargarse (ideal para inicializar datos).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Click: se dispara al hacer clic sobre un control (botón, checkbox, etc.).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TextChanged: se dispara cada vez que cambia el texto de un TextBox.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KeyPress / KeyDown: se disparan al presionar una tecla estando el control enfocado.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MouseEnter / MouseLeave: se disparan cuando el mouse entra o sale del área del control.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800" dirty="0"/>
              <a:t>FormClosing: se dispara antes de cerrar el formulario (útil para confirmar o cancelar el cierre).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9B06E-0B96-1D2E-14EB-6096ADA6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DE698E-CD9D-8753-9D2E-B913EB9559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Formularios y controles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3" name="Marcador de contenido 5">
            <a:extLst>
              <a:ext uri="{FF2B5EF4-FFF2-40B4-BE49-F238E27FC236}">
                <a16:creationId xmlns:a16="http://schemas.microsoft.com/office/drawing/2014/main" id="{A6F81748-805E-F7BD-0BD4-4CB2B4724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0" y="3154343"/>
            <a:ext cx="3901846" cy="3703657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01FD2F2-ED68-7832-7013-C57CF973DE1F}"/>
              </a:ext>
            </a:extLst>
          </p:cNvPr>
          <p:cNvCxnSpPr>
            <a:cxnSpLocks/>
          </p:cNvCxnSpPr>
          <p:nvPr/>
        </p:nvCxnSpPr>
        <p:spPr>
          <a:xfrm flipV="1">
            <a:off x="2403835" y="2286000"/>
            <a:ext cx="4454165" cy="1032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64614CA-007D-AA52-81B2-0682DC28FD4B}"/>
              </a:ext>
            </a:extLst>
          </p:cNvPr>
          <p:cNvCxnSpPr>
            <a:cxnSpLocks/>
          </p:cNvCxnSpPr>
          <p:nvPr/>
        </p:nvCxnSpPr>
        <p:spPr>
          <a:xfrm flipV="1">
            <a:off x="3376367" y="6089715"/>
            <a:ext cx="3401505" cy="18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FB30D69-EF91-32BC-C833-D2C7933C3955}"/>
              </a:ext>
            </a:extLst>
          </p:cNvPr>
          <p:cNvCxnSpPr>
            <a:cxnSpLocks/>
          </p:cNvCxnSpPr>
          <p:nvPr/>
        </p:nvCxnSpPr>
        <p:spPr>
          <a:xfrm flipV="1">
            <a:off x="4630917" y="4756622"/>
            <a:ext cx="1948992" cy="18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894035E-4BAA-D380-FFE8-5725483CC1E0}"/>
              </a:ext>
            </a:extLst>
          </p:cNvPr>
          <p:cNvSpPr txBox="1"/>
          <p:nvPr/>
        </p:nvSpPr>
        <p:spPr>
          <a:xfrm>
            <a:off x="6858000" y="2101334"/>
            <a:ext cx="21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Título del formulario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44BACB7-BFFF-8C7B-CA9A-DD547C1464BB}"/>
              </a:ext>
            </a:extLst>
          </p:cNvPr>
          <p:cNvSpPr txBox="1"/>
          <p:nvPr/>
        </p:nvSpPr>
        <p:spPr>
          <a:xfrm>
            <a:off x="6579909" y="4567972"/>
            <a:ext cx="2305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Ventana del formulario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1E588E-A0CC-E1CB-0A7A-E8A95AB92CD5}"/>
              </a:ext>
            </a:extLst>
          </p:cNvPr>
          <p:cNvSpPr txBox="1"/>
          <p:nvPr/>
        </p:nvSpPr>
        <p:spPr>
          <a:xfrm>
            <a:off x="6858000" y="5857030"/>
            <a:ext cx="3215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Controles dentro del formulario</a:t>
            </a:r>
          </a:p>
        </p:txBody>
      </p:sp>
    </p:spTree>
    <p:extLst>
      <p:ext uri="{BB962C8B-B14F-4D97-AF65-F5344CB8AC3E}">
        <p14:creationId xmlns:p14="http://schemas.microsoft.com/office/powerpoint/2010/main" val="4079858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Formularios — Tu primer evento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Formulario con un botón, el código del evento Click, y el resultado al ejecutarlo:</a:t>
            </a:r>
          </a:p>
        </p:txBody>
      </p:sp>
      <p:pic>
        <p:nvPicPr>
          <p:cNvPr id="92" name="Diseno del formular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36" y="3300000"/>
            <a:ext cx="2200000" cy="2087000"/>
          </a:xfrm>
          <a:prstGeom prst="rect">
            <a:avLst/>
          </a:prstGeom>
        </p:spPr>
      </p:pic>
      <p:pic>
        <p:nvPicPr>
          <p:cNvPr id="93" name="Codigo del evento Cli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436" y="3600000"/>
            <a:ext cx="6800000" cy="1614000"/>
          </a:xfrm>
          <a:prstGeom prst="rect">
            <a:avLst/>
          </a:prstGeom>
        </p:spPr>
      </p:pic>
      <p:pic>
        <p:nvPicPr>
          <p:cNvPr id="94" name="Resultado del MessageBo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436" y="3300000"/>
            <a:ext cx="1700000" cy="1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Controles básicos I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Label: muestra texto no editable (títulos, indicaciones, resultados).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TextBox: permite ingresar y editar texto o números.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Button: dispara una acción a través de su evento Click.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CheckBox: opción de sí/no que se puede tildar de forma independiente de otras.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RadioButton: opción excluyente dentro de un grupo (solo una puede estar seleccionada).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Controles básicos II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ComboBox: lista desplegable de opciones, permite elegir un único valor.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ListBox: lista de opciones visibles, puede permitir selección múltiple.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DateTimePicker: selector de fecha y/o de hora con formato configurable.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NumericUpDown: caja numérica con flechas para incrementar o decrementar el valor.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PictureBox: muestra una imagen dentro del formulario.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Cuadros de diálogo comunes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OpenFileDialog: permite al usuario seleccionar un archivo existente para abrirlo.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SaveFileDialog: permite elegir dónde y con qué nombre guardar un archivo.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FolderBrowserDialog: permite seleccionar una carpeta.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ColorDialog: permite elegir un color.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FontDialog: permite elegir una tipografía y su estilo.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PrintDialog: permite configurar y disparar la impresión de un documento.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Convenciones de nomenclatura para controles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600" dirty="0"/>
              <a:t>Es una buena práctica nombrar los controles con un prefijo que indique su tipo, para que el código sea más legible: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btn  → Button (btnAceptar)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txt  → TextBox (txtNombre)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lbl  → Label (lblResultado)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cbo / cmb → ComboBox (cboProvincia)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chk  → CheckBox (chkActivo)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rad  → RadioButton (radMasculino)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lst  → ListBox (lstClientes)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dgv  → DataGridView (dgvProductos)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Formularios MDI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MDI (Multiple Document Interface) es un modelo de formularios donde existe un formulario padre (contenedor) que aloja dentro de sí varios formularios hijo.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Se establece asignando IsMdiContainer = true en el formulario padre.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Cada formulario hijo se abre indicando su MdiParent, por ejemplo: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Form2 hijo = new Form2();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hijo.MdiParent = this;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hijo.Show();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Se usa en aplicaciones donde conviven varias ventanas internas dentro de una misma ventana principal (por ejemplo, un editor con varios documentos abiertos a la vez).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Menús (MenuStrip)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El control MenuStrip permite agregar una barra de menús al formulario, con ítems y submenús.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Cada ítem de menú es un objeto ToolStripMenuItem, que expone un evento Click para programar la acción asociada.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private void salirToolStripMenuItem_Click(object sender, EventArgs e)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{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    this.Close();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}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Es habitual organizar los menús principales (Archivo, Editar, Ayuda, etc.) con sus respectivos submenús.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Menú contextual (ContextMenuStrip)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El ContextMenuStrip es el menú que aparece al hacer clic derecho sobre un control o formulario.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Se diseña igual que un MenuStrip (ítems y submenús), pero se asigna a un control mediante su propiedad ContextMenuStrip.</a:t>
            </a:r>
          </a:p>
          <a:p>
            <a:endParaRPr lang="es-ES" dirty="0"/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private void eliminarToolStripMenuItem_Click(object sender, EventArgs e)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{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    lstClientes.Items.Remove(lstClientes.SelectedItem);</a:t>
            </a: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lang="es-ES" sz="1600" dirty="0">
                <a:latin typeface="Courier New"/>
                <a:cs typeface="Courier New"/>
              </a:rPr>
              <a:t>}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700" dirty="0"/>
              <a:t>Es muy usado para ofrecer acciones rápidas sobre un elemento (cortar, copiar, eliminar, propiedades, etc.).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Trabajo práctico entregable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En este trabajo práctico se introducen el CTS, boxing/unboxing, la conversión de tipos y los primeros pasos en Windows Forms.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Consigna: crear un formulario con un TextBox, un Button y un Label. Al hacer clic en el botón, leer el texto ingresado, aplicar alguna conversión de tipos (por ejemplo, convertirlo a número) y mostrar el resultado en el Label mediante el evento Click del botón.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Ejercicio integrador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Desarrollar una mini aplicación de Windows Forms para calcular el promedio de notas de un alumno: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Un formulario con un TextBox para ingresar una nota, un Button "Agregar nota" y un Label para mostrar los resultados.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Cada clic en "Agregar nota" debe convertir el texto ingresado a un valor numérico (validando el formato) y guardarlo en una lista.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Un segundo botón "Calcular promedio" debe recorrer la lista y mostrar el promedio en el Label.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1900" dirty="0"/>
              <a:t>Utilizar boxing/unboxing y conversión de tipos vistos en la clase de hoy.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Solución ejercicio integrador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400" dirty="0"/>
              <a:t>El código completo, comentado, con la resolución paso a paso y el resultado explicado de una ejecución de ejemplo, está en el archivo adjunto:</a:t>
            </a:r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400" dirty="0"/>
              <a:t>EjercicioIntegrador_FormularioNotas.cs</a:t>
            </a:r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377300"/>
          </a:xfrm>
          <a:prstGeom prst="rect">
            <a:avLst/>
          </a:prstGeom>
          <a:solidFill>
            <a:srgbClr val="66293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50" dirty="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lang="es-ES" sz="3600" dirty="0"/>
              <a:t>Debate de cierre de la clase 2</a:t>
            </a:r>
            <a:br>
              <a:rPr lang="es-ES" sz="3600" dirty="0"/>
            </a:b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34C2BBD-F7B7-4F25-67A4-C0A13B8C3C2A}"/>
              </a:ext>
            </a:extLst>
          </p:cNvPr>
          <p:cNvSpPr txBox="1"/>
          <p:nvPr/>
        </p:nvSpPr>
        <p:spPr>
          <a:xfrm>
            <a:off x="440435" y="2437703"/>
            <a:ext cx="11309985" cy="296747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ES" sz="2000" dirty="0"/>
              <a:t>A través del foro de debate reflexionaremos entre todos acerca de las ideas trabajadas en esta clase.</a:t>
            </a:r>
          </a:p>
          <a:p>
            <a:endParaRPr lang="es-ES" dirty="0"/>
          </a:p>
          <a:p>
            <a:endParaRPr lang="es-ES" dirty="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s-AR" b="1" dirty="0"/>
              <a:t>¿Cómo cree que beneficia la programación visual al desarrollo de software?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9140268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93919" y="3269107"/>
            <a:ext cx="16459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Pre</a:t>
            </a:r>
            <a:r>
              <a:rPr dirty="0"/>
              <a:t>g</a:t>
            </a:r>
            <a:r>
              <a:rPr spc="-5" dirty="0"/>
              <a:t>unt</a:t>
            </a:r>
            <a:r>
              <a:rPr spc="-15" dirty="0"/>
              <a:t>a</a:t>
            </a:r>
            <a:r>
              <a:rPr spc="-5" dirty="0"/>
              <a:t>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11928</TotalTime>
  <Words>3097</Words>
  <Application>Microsoft Office PowerPoint</Application>
  <PresentationFormat>Panorámica</PresentationFormat>
  <Paragraphs>319</Paragraphs>
  <Slides>41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9" baseType="lpstr">
      <vt:lpstr>Aptos</vt:lpstr>
      <vt:lpstr>Arial</vt:lpstr>
      <vt:lpstr>Arial MT</vt:lpstr>
      <vt:lpstr>Calibri</vt:lpstr>
      <vt:lpstr>Courier New</vt:lpstr>
      <vt:lpstr>Times New Roman</vt:lpstr>
      <vt:lpstr>Trebuchet MS</vt:lpstr>
      <vt:lpstr>Office Theme</vt:lpstr>
      <vt:lpstr>Clase 2: CTS e Introducción a los Formularios</vt:lpstr>
      <vt:lpstr> Repaso de la clase anterior </vt:lpstr>
      <vt:lpstr> Temas de hoy </vt:lpstr>
      <vt:lpstr> CTS — Sistema Común de Tipos </vt:lpstr>
      <vt:lpstr> Tipos por valor y por referencia — Conceptos </vt:lpstr>
      <vt:lpstr> Tipos por valor y por referencia — Stack y Heap </vt:lpstr>
      <vt:lpstr> Tipos por valor y por referencia — Diagrama </vt:lpstr>
      <vt:lpstr> Ejemplo práctico: tipos por valor </vt:lpstr>
      <vt:lpstr> Ejemplo práctico: tipos por referencia </vt:lpstr>
      <vt:lpstr> Ejemplo práctico: por valor y referencia </vt:lpstr>
      <vt:lpstr> Boxing y Unboxing </vt:lpstr>
      <vt:lpstr> Ejercicio 1 (C#) </vt:lpstr>
      <vt:lpstr> Solución ejercicio 1 </vt:lpstr>
      <vt:lpstr> El tipo Object </vt:lpstr>
      <vt:lpstr> El tipo String </vt:lpstr>
      <vt:lpstr> El tipo Date (DateTime) </vt:lpstr>
      <vt:lpstr> Conversión de tipos — Excepciones de Convert </vt:lpstr>
      <vt:lpstr> Conversión de tipos — Implícitas y explícitas </vt:lpstr>
      <vt:lpstr> Convert vs Parse </vt:lpstr>
      <vt:lpstr> Generación de números aleatorios — Random </vt:lpstr>
      <vt:lpstr> Vectores y matrices - Arrays </vt:lpstr>
      <vt:lpstr> Ejercicio 2 (C#) </vt:lpstr>
      <vt:lpstr> Solución ejercicio 2 </vt:lpstr>
      <vt:lpstr> Introducción a los Formularios (Windows Forms) </vt:lpstr>
      <vt:lpstr> Propiedades comunes de un formulario </vt:lpstr>
      <vt:lpstr> Propiedades comunes de los controles </vt:lpstr>
      <vt:lpstr> Eventos comunes de formularios y controles </vt:lpstr>
      <vt:lpstr> Formularios y controles </vt:lpstr>
      <vt:lpstr> Formularios — Tu primer evento </vt:lpstr>
      <vt:lpstr> Controles básicos I </vt:lpstr>
      <vt:lpstr> Controles básicos II </vt:lpstr>
      <vt:lpstr> Cuadros de diálogo comunes </vt:lpstr>
      <vt:lpstr> Convenciones de nomenclatura para controles </vt:lpstr>
      <vt:lpstr> Formularios MDI </vt:lpstr>
      <vt:lpstr> Menús (MenuStrip) </vt:lpstr>
      <vt:lpstr> Menú contextual (ContextMenuStrip) </vt:lpstr>
      <vt:lpstr> Trabajo práctico entregable </vt:lpstr>
      <vt:lpstr> Ejercicio integrador </vt:lpstr>
      <vt:lpstr> Solución ejercicio integrador </vt:lpstr>
      <vt:lpstr> Debate de cierre de la clase 2 </vt:lpstr>
      <vt:lpstr>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Milio, Claudio</dc:creator>
  <cp:lastModifiedBy>maximiliano coedo</cp:lastModifiedBy>
  <cp:revision>47</cp:revision>
  <dcterms:created xsi:type="dcterms:W3CDTF">2023-03-27T21:08:01Z</dcterms:created>
  <dcterms:modified xsi:type="dcterms:W3CDTF">2026-08-20T20:18:47Z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2023-03-27T00:00:00Z</vt:filetime>
  </property>
</Properties>
</file>