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1"/>
  </p:notesMasterIdLst>
  <p:handoutMasterIdLst>
    <p:handoutMasterId r:id="rId32"/>
  </p:handoutMasterIdLst>
  <p:sldIdLst>
    <p:sldId id="260" r:id="rId2"/>
    <p:sldId id="264" r:id="rId3"/>
    <p:sldId id="263" r:id="rId4"/>
    <p:sldId id="265" r:id="rId5"/>
    <p:sldId id="291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67" r:id="rId14"/>
    <p:sldId id="285" r:id="rId15"/>
    <p:sldId id="286" r:id="rId16"/>
    <p:sldId id="287" r:id="rId17"/>
    <p:sldId id="290" r:id="rId18"/>
    <p:sldId id="268" r:id="rId19"/>
    <p:sldId id="289" r:id="rId20"/>
    <p:sldId id="270" r:id="rId21"/>
    <p:sldId id="273" r:id="rId22"/>
    <p:sldId id="271" r:id="rId23"/>
    <p:sldId id="274" r:id="rId24"/>
    <p:sldId id="292" r:id="rId25"/>
    <p:sldId id="293" r:id="rId26"/>
    <p:sldId id="294" r:id="rId27"/>
    <p:sldId id="295" r:id="rId28"/>
    <p:sldId id="275" r:id="rId29"/>
    <p:sldId id="27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2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39" autoAdjust="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376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6AC1C1D-8DE8-454D-8ACE-E96FE005D9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3809AF2-CEB7-4F6A-A27B-928B8B2E6D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D82B3-EF6D-4BD8-93E0-5C8EB0FADB6E}" type="datetimeFigureOut">
              <a:rPr lang="es-AR" smtClean="0"/>
              <a:t>6/3/2023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139870-BB4B-44F2-B9B9-BCA55069F9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668AB2-2774-4251-BE9E-29A161BE59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24C5F-D5C7-4544-90B0-C5E5878135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1368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84DF4-CC8D-4AB2-A5D0-F7B0EFE6C907}" type="datetimeFigureOut">
              <a:rPr lang="es-AR" smtClean="0"/>
              <a:t>6/3/2023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6CC8B-3606-45D9-8F75-FA5507B536C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9259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47976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2830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71514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25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0482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26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7326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27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2089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4145279"/>
            <a:ext cx="11262866" cy="2245285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5124" y="3041409"/>
            <a:ext cx="1116427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A20342A-79CD-483E-8AF7-8313CA88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4" y="1387555"/>
            <a:ext cx="8876668" cy="1591366"/>
          </a:xfrm>
        </p:spPr>
        <p:txBody>
          <a:bodyPr>
            <a:noAutofit/>
          </a:bodyPr>
          <a:lstStyle>
            <a:lvl1pPr>
              <a:defRPr lang="es-ES" sz="4000" b="0" kern="1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pic>
        <p:nvPicPr>
          <p:cNvPr id="10" name="Picture 2" descr="UAIOnline Ultra">
            <a:extLst>
              <a:ext uri="{FF2B5EF4-FFF2-40B4-BE49-F238E27FC236}">
                <a16:creationId xmlns:a16="http://schemas.microsoft.com/office/drawing/2014/main" id="{E7C8F655-89B4-47E6-BA4D-177F0160DF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913" y="4873150"/>
            <a:ext cx="2983487" cy="78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logo-UAI-nuevo-250 | Congreso de Cicatrización de Heridas">
            <a:extLst>
              <a:ext uri="{FF2B5EF4-FFF2-40B4-BE49-F238E27FC236}">
                <a16:creationId xmlns:a16="http://schemas.microsoft.com/office/drawing/2014/main" id="{65D132C4-CD4F-4972-9F51-47663BD7D2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20" b="29542"/>
          <a:stretch/>
        </p:blipFill>
        <p:spPr bwMode="auto">
          <a:xfrm>
            <a:off x="446534" y="631496"/>
            <a:ext cx="2545884" cy="68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Marcador de posición de imagen 11" descr="Logo facultad&#10;">
            <a:extLst>
              <a:ext uri="{FF2B5EF4-FFF2-40B4-BE49-F238E27FC236}">
                <a16:creationId xmlns:a16="http://schemas.microsoft.com/office/drawing/2014/main" id="{952B7A0A-C3F3-436E-BDED-F16879BC6A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26001" y="1324746"/>
            <a:ext cx="1920875" cy="1654175"/>
          </a:xfrm>
        </p:spPr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3380556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9580134" cy="1013800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8" name="Picture 2" descr="UAIOnline Ultra">
            <a:extLst>
              <a:ext uri="{FF2B5EF4-FFF2-40B4-BE49-F238E27FC236}">
                <a16:creationId xmlns:a16="http://schemas.microsoft.com/office/drawing/2014/main" id="{CBFC0A98-7AC3-44C0-B991-D9DC2D0BFF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932" y="729658"/>
            <a:ext cx="1581086" cy="41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7810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9" name="Picture 2" descr="UAIOnline Ultra">
            <a:extLst>
              <a:ext uri="{FF2B5EF4-FFF2-40B4-BE49-F238E27FC236}">
                <a16:creationId xmlns:a16="http://schemas.microsoft.com/office/drawing/2014/main" id="{675FA85D-67BD-41E2-8A54-9A21EFBC11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487" y="5481827"/>
            <a:ext cx="2983487" cy="78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9255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9583739" cy="988332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9" name="Picture 2" descr="UAIOnline Ultra">
            <a:extLst>
              <a:ext uri="{FF2B5EF4-FFF2-40B4-BE49-F238E27FC236}">
                <a16:creationId xmlns:a16="http://schemas.microsoft.com/office/drawing/2014/main" id="{8C5EDCA6-3445-48DA-BA2B-18D731C30F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932" y="729658"/>
            <a:ext cx="1581086" cy="41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6376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9468329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2"/>
            <a:ext cx="5393103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 u="sng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707" y="2250892"/>
            <a:ext cx="5393101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13" name="Picture 2" descr="UAIOnline Ultra">
            <a:extLst>
              <a:ext uri="{FF2B5EF4-FFF2-40B4-BE49-F238E27FC236}">
                <a16:creationId xmlns:a16="http://schemas.microsoft.com/office/drawing/2014/main" id="{5E285A8B-ACD0-40A5-BE31-440EE676FC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932" y="729658"/>
            <a:ext cx="1581086" cy="41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5518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3694437" cy="6038086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7"/>
            <a:ext cx="3339158" cy="2803655"/>
          </a:xfrm>
        </p:spPr>
        <p:txBody>
          <a:bodyPr anchor="t"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9" name="Picture 2" descr="UAIOnline Ultra">
            <a:extLst>
              <a:ext uri="{FF2B5EF4-FFF2-40B4-BE49-F238E27FC236}">
                <a16:creationId xmlns:a16="http://schemas.microsoft.com/office/drawing/2014/main" id="{985F790E-31CB-494D-9F8C-0757D8167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513" y="5948076"/>
            <a:ext cx="2198272" cy="581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0912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176" y="572048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10" name="Picture 2" descr="UAIOnline Ultra">
            <a:extLst>
              <a:ext uri="{FF2B5EF4-FFF2-40B4-BE49-F238E27FC236}">
                <a16:creationId xmlns:a16="http://schemas.microsoft.com/office/drawing/2014/main" id="{92008831-0394-41C2-8834-95FC87BA92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0" y="6001680"/>
            <a:ext cx="132917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8270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8729607-A7E4-4405-A56C-77696C40FFD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227179"/>
            <a:ext cx="12192000" cy="630821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2" descr="UAIOnline Ultra">
            <a:extLst>
              <a:ext uri="{FF2B5EF4-FFF2-40B4-BE49-F238E27FC236}">
                <a16:creationId xmlns:a16="http://schemas.microsoft.com/office/drawing/2014/main" id="{E4031F4A-C2C5-4A14-A0D8-904A518254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300" y="6380424"/>
            <a:ext cx="1581086" cy="41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86639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16899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6" r:id="rId7"/>
    <p:sldLayoutId id="2147483775" r:id="rId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536CFBD4-0D4D-43F7-91B1-8ED10DB67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176" y="2927487"/>
            <a:ext cx="11078210" cy="590321"/>
          </a:xfrm>
        </p:spPr>
        <p:txBody>
          <a:bodyPr/>
          <a:lstStyle/>
          <a:p>
            <a:r>
              <a:rPr lang="es-AR" dirty="0">
                <a:solidFill>
                  <a:srgbClr val="662937"/>
                </a:solidFill>
              </a:rPr>
              <a:t>Mg. Nicolás </a:t>
            </a:r>
            <a:r>
              <a:rPr lang="es-AR" dirty="0" err="1">
                <a:solidFill>
                  <a:srgbClr val="662937"/>
                </a:solidFill>
              </a:rPr>
              <a:t>battaglia</a:t>
            </a:r>
            <a:endParaRPr lang="es-AR" dirty="0">
              <a:solidFill>
                <a:srgbClr val="662937"/>
              </a:solidFill>
            </a:endParaRPr>
          </a:p>
        </p:txBody>
      </p:sp>
      <p:pic>
        <p:nvPicPr>
          <p:cNvPr id="8194" name="Picture 2" descr="UAIOnline Ultra">
            <a:extLst>
              <a:ext uri="{FF2B5EF4-FFF2-40B4-BE49-F238E27FC236}">
                <a16:creationId xmlns:a16="http://schemas.microsoft.com/office/drawing/2014/main" id="{E210D410-026C-4305-87D5-80358B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821" y="4899981"/>
            <a:ext cx="3542919" cy="93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logo-UAI-nuevo-250 | Congreso de Cicatrización de Heridas">
            <a:extLst>
              <a:ext uri="{FF2B5EF4-FFF2-40B4-BE49-F238E27FC236}">
                <a16:creationId xmlns:a16="http://schemas.microsoft.com/office/drawing/2014/main" id="{49BB4F9F-7C77-4416-BB3E-AE29B12729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20" b="29542"/>
          <a:stretch/>
        </p:blipFill>
        <p:spPr bwMode="auto">
          <a:xfrm>
            <a:off x="413176" y="565994"/>
            <a:ext cx="2545884" cy="68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Logo">
            <a:extLst>
              <a:ext uri="{FF2B5EF4-FFF2-40B4-BE49-F238E27FC236}">
                <a16:creationId xmlns:a16="http://schemas.microsoft.com/office/drawing/2014/main" id="{3BBF0169-10E8-4D3D-8682-C8A07CDC6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390" y="1275092"/>
            <a:ext cx="2020996" cy="20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36B6728-F978-4577-89F5-F7FCF33CC742}"/>
              </a:ext>
            </a:extLst>
          </p:cNvPr>
          <p:cNvSpPr txBox="1"/>
          <p:nvPr/>
        </p:nvSpPr>
        <p:spPr>
          <a:xfrm>
            <a:off x="413176" y="1779119"/>
            <a:ext cx="84158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662937"/>
                </a:solidFill>
              </a:rPr>
              <a:t>PROGRAMACIÓN Y ESTRUCTURAS DE DATOS</a:t>
            </a:r>
            <a:endParaRPr lang="es-AR" sz="3200" b="1" dirty="0">
              <a:solidFill>
                <a:srgbClr val="662937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1DB7A91-8606-44EB-AF5A-3A67A239C6C2}"/>
              </a:ext>
            </a:extLst>
          </p:cNvPr>
          <p:cNvCxnSpPr>
            <a:cxnSpLocks/>
          </p:cNvCxnSpPr>
          <p:nvPr/>
        </p:nvCxnSpPr>
        <p:spPr>
          <a:xfrm>
            <a:off x="508000" y="2810072"/>
            <a:ext cx="8321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528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536CFBD4-0D4D-43F7-91B1-8ED10DB67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rgbClr val="662937"/>
                </a:solidFill>
              </a:rPr>
              <a:t>introducción a la programación visual - </a:t>
            </a:r>
            <a:r>
              <a:rPr lang="es-AR" dirty="0">
                <a:solidFill>
                  <a:srgbClr val="662937"/>
                </a:solidFill>
              </a:rPr>
              <a:t>CLASE 2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BFBC18-CA47-46CC-A8D3-C8DAF756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17" y="1252444"/>
            <a:ext cx="8876668" cy="1591366"/>
          </a:xfrm>
        </p:spPr>
        <p:txBody>
          <a:bodyPr/>
          <a:lstStyle/>
          <a:p>
            <a:r>
              <a:rPr lang="es-AR" dirty="0"/>
              <a:t>Unidad 1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4255785-1E73-47B9-855C-BC912D1897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8194" name="Picture 2" descr="UAIOnline Ultra">
            <a:extLst>
              <a:ext uri="{FF2B5EF4-FFF2-40B4-BE49-F238E27FC236}">
                <a16:creationId xmlns:a16="http://schemas.microsoft.com/office/drawing/2014/main" id="{E210D410-026C-4305-87D5-80358B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821" y="4899981"/>
            <a:ext cx="3542919" cy="93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logo-UAI-nuevo-250 | Congreso de Cicatrización de Heridas">
            <a:extLst>
              <a:ext uri="{FF2B5EF4-FFF2-40B4-BE49-F238E27FC236}">
                <a16:creationId xmlns:a16="http://schemas.microsoft.com/office/drawing/2014/main" id="{49BB4F9F-7C77-4416-BB3E-AE29B12729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20" b="29542"/>
          <a:stretch/>
        </p:blipFill>
        <p:spPr bwMode="auto">
          <a:xfrm>
            <a:off x="413176" y="565994"/>
            <a:ext cx="2545884" cy="68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Logo">
            <a:extLst>
              <a:ext uri="{FF2B5EF4-FFF2-40B4-BE49-F238E27FC236}">
                <a16:creationId xmlns:a16="http://schemas.microsoft.com/office/drawing/2014/main" id="{3BBF0169-10E8-4D3D-8682-C8A07CDC6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390" y="1275092"/>
            <a:ext cx="2020996" cy="20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1DB7A91-8606-44EB-AF5A-3A67A239C6C2}"/>
              </a:ext>
            </a:extLst>
          </p:cNvPr>
          <p:cNvCxnSpPr>
            <a:cxnSpLocks/>
          </p:cNvCxnSpPr>
          <p:nvPr/>
        </p:nvCxnSpPr>
        <p:spPr>
          <a:xfrm>
            <a:off x="508000" y="2810072"/>
            <a:ext cx="8321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6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C4C29405-67C3-4AC4-8C82-51A619A0C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054" y="973498"/>
            <a:ext cx="3335706" cy="1871302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s-AR" sz="2400" dirty="0">
                <a:latin typeface="+mn-lt"/>
                <a:ea typeface="+mn-ea"/>
                <a:cs typeface="+mn-cs"/>
              </a:rPr>
              <a:t>temas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A769FCEE-8D02-4FCB-89B9-958297B613B3}"/>
              </a:ext>
            </a:extLst>
          </p:cNvPr>
          <p:cNvSpPr txBox="1">
            <a:spLocks/>
          </p:cNvSpPr>
          <p:nvPr/>
        </p:nvSpPr>
        <p:spPr>
          <a:xfrm>
            <a:off x="4586626" y="1286465"/>
            <a:ext cx="7168602" cy="4754616"/>
          </a:xfrm>
          <a:prstGeom prst="rect">
            <a:avLst/>
          </a:prstGeom>
        </p:spPr>
        <p:txBody>
          <a:bodyPr anchor="t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CTS Sistemas común de tipos. </a:t>
            </a:r>
          </a:p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Tipos por valor y por referencia.</a:t>
            </a:r>
          </a:p>
          <a:p>
            <a:r>
              <a:rPr lang="es-ES" sz="1800" b="0" i="0" u="none" strike="noStrike" dirty="0" err="1">
                <a:effectLst/>
                <a:latin typeface="Arial" panose="020B0604020202020204" pitchFamily="34" charset="0"/>
              </a:rPr>
              <a:t>Boxing</a:t>
            </a:r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 y </a:t>
            </a:r>
            <a:r>
              <a:rPr lang="es-ES" sz="1800" b="0" i="0" u="none" strike="noStrike" dirty="0" err="1">
                <a:effectLst/>
                <a:latin typeface="Arial" panose="020B0604020202020204" pitchFamily="34" charset="0"/>
              </a:rPr>
              <a:t>Unboxing</a:t>
            </a:r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. </a:t>
            </a:r>
          </a:p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El tipo </a:t>
            </a:r>
            <a:r>
              <a:rPr lang="es-ES" sz="1800" b="0" i="0" u="none" strike="noStrike" dirty="0" err="1">
                <a:effectLst/>
                <a:latin typeface="Arial" panose="020B0604020202020204" pitchFamily="34" charset="0"/>
              </a:rPr>
              <a:t>Object</a:t>
            </a:r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El tipo </a:t>
            </a:r>
            <a:r>
              <a:rPr lang="es-ES" sz="1800" b="0" i="0" u="none" strike="noStrike" dirty="0" err="1">
                <a:effectLst/>
                <a:latin typeface="Arial" panose="020B0604020202020204" pitchFamily="34" charset="0"/>
              </a:rPr>
              <a:t>String</a:t>
            </a:r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. </a:t>
            </a:r>
          </a:p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El tipo Date. </a:t>
            </a:r>
          </a:p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Tipos Numéricos.  </a:t>
            </a:r>
          </a:p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Conversión de tipos. </a:t>
            </a:r>
          </a:p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Generación de números aleatorios. </a:t>
            </a:r>
          </a:p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Introducción a los Formularios. </a:t>
            </a:r>
          </a:p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Formularios MDI.</a:t>
            </a:r>
          </a:p>
          <a:p>
            <a:r>
              <a:rPr lang="es-ES" sz="1800" b="0" i="0" u="none" strike="noStrike" dirty="0" err="1">
                <a:effectLst/>
                <a:latin typeface="Arial" panose="020B0604020202020204" pitchFamily="34" charset="0"/>
              </a:rPr>
              <a:t>Menues</a:t>
            </a:r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es-ES" sz="1800" b="0" dirty="0"/>
          </a:p>
        </p:txBody>
      </p:sp>
      <p:pic>
        <p:nvPicPr>
          <p:cNvPr id="17" name="Picture 2" descr="UAIOnline Ultra">
            <a:extLst>
              <a:ext uri="{FF2B5EF4-FFF2-40B4-BE49-F238E27FC236}">
                <a16:creationId xmlns:a16="http://schemas.microsoft.com/office/drawing/2014/main" id="{194EECEB-40F8-4338-ACA6-3602F659B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513" y="5884502"/>
            <a:ext cx="2438508" cy="64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68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CTS Sistemas común de tipos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Sistema común de tipos. Define como se declaran,  utilizan y administran los tipos en el </a:t>
            </a:r>
            <a:r>
              <a:rPr lang="es-AR" dirty="0" err="1"/>
              <a:t>Common</a:t>
            </a:r>
            <a:r>
              <a:rPr lang="es-AR" dirty="0"/>
              <a:t> </a:t>
            </a:r>
            <a:r>
              <a:rPr lang="es-AR" dirty="0" err="1"/>
              <a:t>Languaje</a:t>
            </a:r>
            <a:r>
              <a:rPr lang="es-AR" dirty="0"/>
              <a:t> </a:t>
            </a:r>
            <a:r>
              <a:rPr lang="es-AR" dirty="0" err="1"/>
              <a:t>Runtime</a:t>
            </a:r>
            <a:r>
              <a:rPr lang="es-AR" dirty="0"/>
              <a:t>  (CLR). Es un soporte importante para la integración de los lenguajes.</a:t>
            </a:r>
          </a:p>
          <a:p>
            <a:r>
              <a:rPr lang="es-AR" dirty="0"/>
              <a:t>Funciones	</a:t>
            </a:r>
          </a:p>
          <a:p>
            <a:pPr lvl="1"/>
            <a:r>
              <a:rPr lang="es-AR" dirty="0"/>
              <a:t>Establece un marco de ayuda para integrar varios lenguajes</a:t>
            </a:r>
          </a:p>
          <a:p>
            <a:pPr lvl="1"/>
            <a:r>
              <a:rPr lang="es-AR" dirty="0"/>
              <a:t>Define reglas que los lenguajes deben seguir para asegurar que los objetos escritos en varios lenguajes puedan interactuar</a:t>
            </a:r>
          </a:p>
          <a:p>
            <a:pPr lvl="1"/>
            <a:r>
              <a:rPr lang="es-AR" dirty="0"/>
              <a:t>Proporciona una biblioteca  que contiene tipos de datos primitivos (</a:t>
            </a:r>
            <a:r>
              <a:rPr lang="es-AR" dirty="0" err="1"/>
              <a:t>bool</a:t>
            </a:r>
            <a:r>
              <a:rPr lang="es-AR" dirty="0"/>
              <a:t>, </a:t>
            </a:r>
            <a:r>
              <a:rPr lang="es-AR" dirty="0" err="1"/>
              <a:t>int</a:t>
            </a:r>
            <a:r>
              <a:rPr lang="es-AR" dirty="0"/>
              <a:t>, </a:t>
            </a:r>
            <a:r>
              <a:rPr lang="es-AR" dirty="0" err="1"/>
              <a:t>char</a:t>
            </a:r>
            <a:r>
              <a:rPr lang="es-AR" dirty="0"/>
              <a:t>, </a:t>
            </a:r>
            <a:r>
              <a:rPr lang="es-AR" dirty="0" err="1"/>
              <a:t>etc</a:t>
            </a:r>
            <a:r>
              <a:rPr lang="es-AR" dirty="0"/>
              <a:t>)</a:t>
            </a:r>
          </a:p>
          <a:p>
            <a:r>
              <a:rPr lang="es-ES" dirty="0"/>
              <a:t>Define cómo funcionan los tipos en el </a:t>
            </a:r>
            <a:r>
              <a:rPr lang="es-ES" dirty="0" err="1"/>
              <a:t>Common</a:t>
            </a:r>
            <a:r>
              <a:rPr lang="es-ES" dirty="0"/>
              <a:t> </a:t>
            </a:r>
            <a:r>
              <a:rPr lang="es-ES" dirty="0" err="1"/>
              <a:t>Language</a:t>
            </a:r>
            <a:r>
              <a:rPr lang="es-ES" dirty="0"/>
              <a:t> </a:t>
            </a:r>
            <a:r>
              <a:rPr lang="es-ES" dirty="0" err="1"/>
              <a:t>Runtime</a:t>
            </a:r>
            <a:endParaRPr lang="es-ES" dirty="0"/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60967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Tipos por valor y referencia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53B98B-C9CD-439E-B58D-9F1145DFE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50000"/>
              </a:spcAft>
            </a:pPr>
            <a:r>
              <a:rPr lang="es-ES" sz="1800" dirty="0"/>
              <a:t>Define un conjunto común de “tipos” de datos</a:t>
            </a:r>
          </a:p>
          <a:p>
            <a:pPr>
              <a:spcAft>
                <a:spcPct val="50000"/>
              </a:spcAft>
            </a:pPr>
            <a:r>
              <a:rPr lang="es-ES" sz="1800" dirty="0"/>
              <a:t>Todo lenguaje de programación debe implementar los tipos definidos por el CTS</a:t>
            </a:r>
          </a:p>
          <a:p>
            <a:pPr lvl="1">
              <a:spcAft>
                <a:spcPct val="50000"/>
              </a:spcAft>
            </a:pPr>
            <a:r>
              <a:rPr lang="es-ES" dirty="0"/>
              <a:t>Todo tipo hereda directa o indirectamente del tipo OBJECT</a:t>
            </a:r>
          </a:p>
          <a:p>
            <a:pPr lvl="1">
              <a:spcAft>
                <a:spcPct val="50000"/>
              </a:spcAft>
            </a:pPr>
            <a:r>
              <a:rPr lang="es-ES" dirty="0"/>
              <a:t>Tipos de VALOR (</a:t>
            </a:r>
            <a:r>
              <a:rPr lang="es-ES" dirty="0" err="1"/>
              <a:t>Stack</a:t>
            </a:r>
            <a:r>
              <a:rPr lang="es-ES" dirty="0"/>
              <a:t>)y de REFERENCIA (</a:t>
            </a:r>
            <a:r>
              <a:rPr lang="es-ES" dirty="0" err="1"/>
              <a:t>Heap</a:t>
            </a:r>
            <a:endParaRPr lang="es-ES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4897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Tipos por valor y referencia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AR" dirty="0"/>
              <a:t>Tipos de Datos implementados según su clasificación. Esta clasificación es acorde a si un variable almacena su valor o es un puntero (referencia) a los datos. </a:t>
            </a:r>
          </a:p>
          <a:p>
            <a:pPr algn="just"/>
            <a:r>
              <a:rPr lang="es-AR" dirty="0"/>
              <a:t>Por Valor</a:t>
            </a:r>
          </a:p>
          <a:p>
            <a:pPr lvl="1" algn="just"/>
            <a:r>
              <a:rPr lang="es-AR" dirty="0"/>
              <a:t>Mantiene los datos dentro de su propia asignación de memoria</a:t>
            </a:r>
          </a:p>
          <a:p>
            <a:pPr lvl="1" algn="just"/>
            <a:r>
              <a:rPr lang="es-AR" dirty="0"/>
              <a:t>Todos los tipos numéricos, </a:t>
            </a:r>
            <a:r>
              <a:rPr lang="es-AR" dirty="0" err="1"/>
              <a:t>boolean</a:t>
            </a:r>
            <a:r>
              <a:rPr lang="es-AR" dirty="0"/>
              <a:t>, </a:t>
            </a:r>
            <a:r>
              <a:rPr lang="es-AR" dirty="0" err="1"/>
              <a:t>char</a:t>
            </a:r>
            <a:r>
              <a:rPr lang="es-AR" dirty="0"/>
              <a:t>, Date</a:t>
            </a:r>
          </a:p>
          <a:p>
            <a:pPr lvl="1" algn="just"/>
            <a:r>
              <a:rPr lang="es-AR" dirty="0"/>
              <a:t>Se crean en el STACK de la memoria</a:t>
            </a:r>
          </a:p>
          <a:p>
            <a:pPr algn="just"/>
            <a:r>
              <a:rPr lang="es-AR" dirty="0"/>
              <a:t>Por Referencia</a:t>
            </a:r>
          </a:p>
          <a:p>
            <a:pPr lvl="1" algn="just"/>
            <a:r>
              <a:rPr lang="es-AR" dirty="0"/>
              <a:t>Mantiene una referencia a la posición de memoria donde están los datos</a:t>
            </a:r>
          </a:p>
          <a:p>
            <a:pPr lvl="1" algn="just"/>
            <a:r>
              <a:rPr lang="es-AR" dirty="0" err="1"/>
              <a:t>Object</a:t>
            </a:r>
            <a:r>
              <a:rPr lang="es-AR" dirty="0"/>
              <a:t>, </a:t>
            </a:r>
            <a:r>
              <a:rPr lang="es-AR" dirty="0" err="1"/>
              <a:t>String</a:t>
            </a:r>
            <a:r>
              <a:rPr lang="es-AR" dirty="0"/>
              <a:t>, </a:t>
            </a:r>
            <a:r>
              <a:rPr lang="es-AR" dirty="0" err="1"/>
              <a:t>Arrays</a:t>
            </a:r>
            <a:r>
              <a:rPr lang="es-AR" dirty="0"/>
              <a:t>, Tipos </a:t>
            </a:r>
            <a:r>
              <a:rPr lang="es-AR" dirty="0" err="1"/>
              <a:t>Class</a:t>
            </a:r>
            <a:endParaRPr lang="es-AR" dirty="0"/>
          </a:p>
          <a:p>
            <a:pPr lvl="1" algn="just"/>
            <a:r>
              <a:rPr lang="es-AR" dirty="0"/>
              <a:t>Se crean en el “HEAP (</a:t>
            </a:r>
            <a:r>
              <a:rPr lang="es-AR" dirty="0" err="1"/>
              <a:t>monton</a:t>
            </a:r>
            <a:r>
              <a:rPr lang="es-AR" dirty="0"/>
              <a:t>)” de la memoria </a:t>
            </a:r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80854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Tipos por valor y referencia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AR" dirty="0" err="1"/>
              <a:t>Gestion</a:t>
            </a:r>
            <a:r>
              <a:rPr lang="es-AR" dirty="0"/>
              <a:t> de memoria en C# se hace automáticamente</a:t>
            </a:r>
          </a:p>
          <a:p>
            <a:pPr algn="just"/>
            <a:r>
              <a:rPr lang="es-AR" dirty="0"/>
              <a:t>Cuando .NET ejecuta un programa  guarda los elementos en  dos tipos diferentes de memoria: </a:t>
            </a:r>
            <a:r>
              <a:rPr lang="es-AR" dirty="0" err="1"/>
              <a:t>stack</a:t>
            </a:r>
            <a:r>
              <a:rPr lang="es-AR" dirty="0"/>
              <a:t> y </a:t>
            </a:r>
            <a:r>
              <a:rPr lang="es-AR" dirty="0" err="1"/>
              <a:t>heap</a:t>
            </a:r>
            <a:r>
              <a:rPr lang="es-AR" dirty="0"/>
              <a:t>.</a:t>
            </a:r>
          </a:p>
          <a:p>
            <a:pPr algn="just"/>
            <a:r>
              <a:rPr lang="es-AR" dirty="0"/>
              <a:t>el </a:t>
            </a:r>
            <a:r>
              <a:rPr lang="es-AR" dirty="0" err="1"/>
              <a:t>Stack</a:t>
            </a:r>
            <a:r>
              <a:rPr lang="es-AR" dirty="0"/>
              <a:t> es responsable por hacer el seguimiento de la ejecución de lo que está en nuestro código. </a:t>
            </a:r>
          </a:p>
          <a:p>
            <a:pPr algn="just"/>
            <a:r>
              <a:rPr lang="es-AR" dirty="0"/>
              <a:t>El </a:t>
            </a:r>
            <a:r>
              <a:rPr lang="es-AR" dirty="0" err="1"/>
              <a:t>Heap</a:t>
            </a:r>
            <a:r>
              <a:rPr lang="es-AR" dirty="0"/>
              <a:t> es responsable por hacer seguimiento de la mayor parte de nuestros datos</a:t>
            </a:r>
          </a:p>
          <a:p>
            <a:pPr algn="just"/>
            <a:r>
              <a:rPr lang="es-AR" dirty="0"/>
              <a:t>El </a:t>
            </a:r>
            <a:r>
              <a:rPr lang="es-AR" dirty="0" err="1"/>
              <a:t>Stack</a:t>
            </a:r>
            <a:r>
              <a:rPr lang="es-AR" dirty="0"/>
              <a:t> lo podemos imaginar como un conjunto de cajas ordenadas una encima de otra. Cada vez que llamamos a un método, para hacer el seguimiento de lo que ocurre en la aplicación colocamos una caja en la parte superior del </a:t>
            </a:r>
            <a:r>
              <a:rPr lang="es-AR" dirty="0" err="1"/>
              <a:t>Stack</a:t>
            </a:r>
            <a:r>
              <a:rPr lang="es-AR" dirty="0"/>
              <a:t>. Una vez que el método es ejecutado retiramos esta caja y la tiramos a la basura.</a:t>
            </a:r>
          </a:p>
          <a:p>
            <a:pPr algn="just"/>
            <a:r>
              <a:rPr lang="es-AR" dirty="0"/>
              <a:t>El </a:t>
            </a:r>
            <a:r>
              <a:rPr lang="es-AR" dirty="0" err="1"/>
              <a:t>Heap</a:t>
            </a:r>
            <a:r>
              <a:rPr lang="es-AR" dirty="0"/>
              <a:t> es similar, solo que su función es mantener la información. Lo que existe en el </a:t>
            </a:r>
            <a:r>
              <a:rPr lang="es-AR" dirty="0" err="1"/>
              <a:t>Heap</a:t>
            </a:r>
            <a:r>
              <a:rPr lang="es-AR" dirty="0"/>
              <a:t> puede ser accedido en cualquier momento sin limitaciones en lo que se puede acceder como ocurre en el </a:t>
            </a:r>
            <a:r>
              <a:rPr lang="es-AR" dirty="0" err="1"/>
              <a:t>Stack</a:t>
            </a:r>
            <a:r>
              <a:rPr lang="es-AR" dirty="0"/>
              <a:t>.</a:t>
            </a:r>
          </a:p>
          <a:p>
            <a:pPr marL="324000" lvl="1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45096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Tipos por valor y referencia</a:t>
            </a:r>
            <a:endParaRPr lang="es-AR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2B76F10C-C1A3-4FBD-8DFB-35678F7E3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3395" y="2006126"/>
            <a:ext cx="5505652" cy="453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95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Tipos por valor y referencia</a:t>
            </a:r>
            <a:endParaRPr lang="es-AR" dirty="0"/>
          </a:p>
        </p:txBody>
      </p:sp>
      <p:pic>
        <p:nvPicPr>
          <p:cNvPr id="7" name="Picture 2" descr="http://3.bp.blogspot.com/_d2n6u9eMSpE/TExxwgeKLjI/AAAAAAAAAAM/GHTU_LylWrA/s320/fig01-01.png">
            <a:extLst>
              <a:ext uri="{FF2B5EF4-FFF2-40B4-BE49-F238E27FC236}">
                <a16:creationId xmlns:a16="http://schemas.microsoft.com/office/drawing/2014/main" id="{8589B92E-F30A-4061-B5AD-AEF60E06B5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1" y="1889885"/>
            <a:ext cx="6442953" cy="481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596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Tipos por valor y referencia</a:t>
            </a:r>
            <a:endParaRPr lang="es-A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5CFB1D-2CD3-4D9F-A322-AE6952D67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5" y="1955404"/>
            <a:ext cx="110299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chemeClr val="tx1"/>
                </a:solidFill>
                <a:latin typeface="Arial" panose="020B0604020202020204" pitchFamily="34" charset="0"/>
              </a:rPr>
              <a:t>public int </a:t>
            </a:r>
            <a:r>
              <a:rPr lang="es-AR" b="1" dirty="0" err="1">
                <a:solidFill>
                  <a:schemeClr val="tx1"/>
                </a:solidFill>
                <a:latin typeface="Arial" panose="020B0604020202020204" pitchFamily="34" charset="0"/>
              </a:rPr>
              <a:t>SumaDos</a:t>
            </a:r>
            <a:r>
              <a:rPr lang="es-AR" b="1" dirty="0">
                <a:solidFill>
                  <a:schemeClr val="tx1"/>
                </a:solidFill>
                <a:latin typeface="Arial" panose="020B0604020202020204" pitchFamily="34" charset="0"/>
              </a:rPr>
              <a:t>(int valor)</a:t>
            </a:r>
            <a:br>
              <a:rPr lang="es-AR" dirty="0">
                <a:solidFill>
                  <a:schemeClr val="tx1"/>
                </a:solidFill>
              </a:rPr>
            </a:br>
            <a:r>
              <a:rPr lang="es-AR" dirty="0">
                <a:solidFill>
                  <a:schemeClr val="tx1"/>
                </a:solidFill>
                <a:latin typeface="Arial" panose="020B0604020202020204" pitchFamily="34" charset="0"/>
              </a:rPr>
              <a:t>{</a:t>
            </a:r>
            <a:br>
              <a:rPr lang="es-AR" dirty="0">
                <a:solidFill>
                  <a:schemeClr val="tx1"/>
                </a:solidFill>
              </a:rPr>
            </a:br>
            <a:r>
              <a:rPr lang="es-AR" dirty="0">
                <a:solidFill>
                  <a:schemeClr val="tx1"/>
                </a:solidFill>
                <a:latin typeface="Arial" panose="020B0604020202020204" pitchFamily="34" charset="0"/>
              </a:rPr>
              <a:t>int resultado;</a:t>
            </a:r>
            <a:br>
              <a:rPr lang="es-AR" dirty="0">
                <a:solidFill>
                  <a:schemeClr val="tx1"/>
                </a:solidFill>
              </a:rPr>
            </a:br>
            <a:r>
              <a:rPr lang="es-AR" dirty="0">
                <a:solidFill>
                  <a:schemeClr val="tx1"/>
                </a:solidFill>
                <a:latin typeface="Arial" panose="020B0604020202020204" pitchFamily="34" charset="0"/>
              </a:rPr>
              <a:t>resultado = valor + 2;</a:t>
            </a:r>
            <a:br>
              <a:rPr lang="es-AR" dirty="0">
                <a:solidFill>
                  <a:schemeClr val="tx1"/>
                </a:solidFill>
              </a:rPr>
            </a:br>
            <a:r>
              <a:rPr lang="es-AR" dirty="0" err="1">
                <a:solidFill>
                  <a:schemeClr val="tx1"/>
                </a:solidFill>
                <a:latin typeface="Arial" panose="020B0604020202020204" pitchFamily="34" charset="0"/>
              </a:rPr>
              <a:t>return</a:t>
            </a:r>
            <a:r>
              <a:rPr lang="es-AR" dirty="0">
                <a:solidFill>
                  <a:schemeClr val="tx1"/>
                </a:solidFill>
                <a:latin typeface="Arial" panose="020B0604020202020204" pitchFamily="34" charset="0"/>
              </a:rPr>
              <a:t> resultado;</a:t>
            </a:r>
            <a:br>
              <a:rPr lang="es-AR" dirty="0">
                <a:solidFill>
                  <a:schemeClr val="tx1"/>
                </a:solidFill>
              </a:rPr>
            </a:br>
            <a:r>
              <a:rPr lang="es-AR" dirty="0">
                <a:solidFill>
                  <a:schemeClr val="tx1"/>
                </a:solidFill>
                <a:latin typeface="Arial" panose="020B0604020202020204" pitchFamily="34" charset="0"/>
              </a:rPr>
              <a:t>}</a:t>
            </a:r>
            <a:endParaRPr lang="es-AR" dirty="0">
              <a:solidFill>
                <a:schemeClr val="tx1"/>
              </a:solidFill>
            </a:endParaRPr>
          </a:p>
        </p:txBody>
      </p:sp>
      <p:pic>
        <p:nvPicPr>
          <p:cNvPr id="6" name="Picture 2" descr="http://2.bp.blogspot.com/_d2n6u9eMSpE/TEy3mdGy9yI/AAAAAAAAAAk/hsdrwLdDcjA/s320/fig01-03.png">
            <a:extLst>
              <a:ext uri="{FF2B5EF4-FFF2-40B4-BE49-F238E27FC236}">
                <a16:creationId xmlns:a16="http://schemas.microsoft.com/office/drawing/2014/main" id="{1C9A477E-12FD-4EDD-B562-91FDA356A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54" y="3824601"/>
            <a:ext cx="243840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B81B8477-09A5-4ACB-A7B4-39D95E05A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3805551"/>
            <a:ext cx="2343150" cy="2771775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37A30495-ADE4-4B2E-86CF-9C6EBDA69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096" y="3719255"/>
            <a:ext cx="2343150" cy="2752725"/>
          </a:xfrm>
          <a:prstGeom prst="rect">
            <a:avLst/>
          </a:prstGeom>
        </p:spPr>
      </p:pic>
      <p:pic>
        <p:nvPicPr>
          <p:cNvPr id="10" name="Picture 4" descr="http://3.bp.blogspot.com/_d2n6u9eMSpE/TEzDMFFgxWI/AAAAAAAAAA8/5eGKe-Xuv_I/s320/fig01-06.png">
            <a:extLst>
              <a:ext uri="{FF2B5EF4-FFF2-40B4-BE49-F238E27FC236}">
                <a16:creationId xmlns:a16="http://schemas.microsoft.com/office/drawing/2014/main" id="{9A623418-85C5-41D0-A2C6-47148724F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342" y="3709730"/>
            <a:ext cx="232410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23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Tipos por valor y referencia</a:t>
            </a:r>
            <a:endParaRPr lang="es-A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5CFB1D-2CD3-4D9F-A322-AE6952D67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5" y="1955404"/>
            <a:ext cx="110299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public </a:t>
            </a:r>
            <a:r>
              <a:rPr lang="es-AR" dirty="0" err="1"/>
              <a:t>MiEntero</a:t>
            </a:r>
            <a:r>
              <a:rPr lang="es-AR" dirty="0"/>
              <a:t> </a:t>
            </a:r>
            <a:r>
              <a:rPr lang="es-AR" dirty="0" err="1"/>
              <a:t>SumaDos</a:t>
            </a:r>
            <a:r>
              <a:rPr lang="es-AR" dirty="0"/>
              <a:t>(</a:t>
            </a:r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punteroValor</a:t>
            </a:r>
            <a:r>
              <a:rPr lang="es-AR" dirty="0"/>
              <a:t>)</a:t>
            </a:r>
            <a:br>
              <a:rPr lang="es-AR" dirty="0"/>
            </a:br>
            <a:r>
              <a:rPr lang="es-AR" dirty="0"/>
              <a:t>{</a:t>
            </a:r>
            <a:br>
              <a:rPr lang="es-AR" dirty="0"/>
            </a:br>
            <a:r>
              <a:rPr lang="es-AR" dirty="0" err="1"/>
              <a:t>MiEntero</a:t>
            </a:r>
            <a:r>
              <a:rPr lang="es-AR" dirty="0"/>
              <a:t> resultado = new </a:t>
            </a:r>
            <a:r>
              <a:rPr lang="es-AR" dirty="0" err="1"/>
              <a:t>MiEntero</a:t>
            </a:r>
            <a:r>
              <a:rPr lang="es-AR" dirty="0"/>
              <a:t>();</a:t>
            </a:r>
            <a:br>
              <a:rPr lang="es-AR" dirty="0"/>
            </a:br>
            <a:r>
              <a:rPr lang="es-AR" dirty="0" err="1"/>
              <a:t>resultado.MiValor</a:t>
            </a:r>
            <a:r>
              <a:rPr lang="es-AR" dirty="0"/>
              <a:t> = </a:t>
            </a:r>
            <a:r>
              <a:rPr lang="es-AR" dirty="0" err="1"/>
              <a:t>punteroValor</a:t>
            </a:r>
            <a:r>
              <a:rPr lang="es-AR" dirty="0"/>
              <a:t> + 2;</a:t>
            </a:r>
            <a:br>
              <a:rPr lang="es-AR" dirty="0"/>
            </a:br>
            <a:r>
              <a:rPr lang="es-AR" dirty="0" err="1"/>
              <a:t>return</a:t>
            </a:r>
            <a:r>
              <a:rPr lang="es-AR" dirty="0"/>
              <a:t> resultado;</a:t>
            </a:r>
            <a:br>
              <a:rPr lang="es-AR" dirty="0"/>
            </a:br>
            <a:r>
              <a:rPr lang="es-AR" dirty="0"/>
              <a:t>}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028E693-1C8C-4EEE-8690-FFB1E899C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975" y="2493183"/>
            <a:ext cx="5182049" cy="1871634"/>
          </a:xfrm>
          <a:prstGeom prst="rect">
            <a:avLst/>
          </a:prstGeom>
        </p:spPr>
      </p:pic>
      <p:pic>
        <p:nvPicPr>
          <p:cNvPr id="11" name="Picture 2" descr="http://2.bp.blogspot.com/_d2n6u9eMSpE/TEy3mdGy9yI/AAAAAAAAAAk/hsdrwLdDcjA/s320/fig01-03.png">
            <a:extLst>
              <a:ext uri="{FF2B5EF4-FFF2-40B4-BE49-F238E27FC236}">
                <a16:creationId xmlns:a16="http://schemas.microsoft.com/office/drawing/2014/main" id="{04C4C4D4-A7F5-4A40-852B-9790F9849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3917912"/>
            <a:ext cx="243840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://1.bp.blogspot.com/_d2n6u9eMSpE/TEzaT6bTJWI/AAAAAAAAABU/5Gm9CPnV1Uw/s400/fig01-07.png">
            <a:extLst>
              <a:ext uri="{FF2B5EF4-FFF2-40B4-BE49-F238E27FC236}">
                <a16:creationId xmlns:a16="http://schemas.microsoft.com/office/drawing/2014/main" id="{71D03EC3-C35D-4F28-8A86-433F92691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670" y="4129917"/>
            <a:ext cx="3930595" cy="202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http://1.bp.blogspot.com/_d2n6u9eMSpE/TEzZhd1l6kI/AAAAAAAAABM/Se3DPWyRY20/s400/fig01-08.png">
            <a:extLst>
              <a:ext uri="{FF2B5EF4-FFF2-40B4-BE49-F238E27FC236}">
                <a16:creationId xmlns:a16="http://schemas.microsoft.com/office/drawing/2014/main" id="{AE261C71-8DD9-4B1C-AD5D-878D3FB98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4510" y="4165733"/>
            <a:ext cx="381000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949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Tipos por valor y referencia</a:t>
            </a:r>
            <a:endParaRPr lang="es-AR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028E693-1C8C-4EEE-8690-FFB1E899C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975" y="2493183"/>
            <a:ext cx="5182049" cy="1871634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0B946C92-B911-41DB-AEEE-22022919D5D5}"/>
              </a:ext>
            </a:extLst>
          </p:cNvPr>
          <p:cNvSpPr/>
          <p:nvPr/>
        </p:nvSpPr>
        <p:spPr>
          <a:xfrm>
            <a:off x="785473" y="3072154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public int </a:t>
            </a:r>
            <a:r>
              <a:rPr lang="fr-FR" dirty="0" err="1"/>
              <a:t>RetornaValor</a:t>
            </a:r>
            <a:r>
              <a:rPr lang="fr-FR" dirty="0"/>
              <a:t>()</a:t>
            </a:r>
          </a:p>
          <a:p>
            <a:r>
              <a:rPr lang="fr-FR" dirty="0"/>
              <a:t>{</a:t>
            </a:r>
          </a:p>
          <a:p>
            <a:pPr lvl="1"/>
            <a:r>
              <a:rPr lang="fr-FR" dirty="0" err="1"/>
              <a:t>MiEntero</a:t>
            </a:r>
            <a:r>
              <a:rPr lang="fr-FR" dirty="0"/>
              <a:t> x;</a:t>
            </a:r>
          </a:p>
          <a:p>
            <a:pPr lvl="1"/>
            <a:r>
              <a:rPr lang="fr-FR" dirty="0" err="1"/>
              <a:t>x.MiValor</a:t>
            </a:r>
            <a:r>
              <a:rPr lang="fr-FR" dirty="0"/>
              <a:t> = 3;</a:t>
            </a:r>
          </a:p>
          <a:p>
            <a:pPr lvl="1"/>
            <a:r>
              <a:rPr lang="fr-FR" dirty="0" err="1"/>
              <a:t>MiEntero</a:t>
            </a:r>
            <a:r>
              <a:rPr lang="fr-FR" dirty="0"/>
              <a:t> y;</a:t>
            </a:r>
          </a:p>
          <a:p>
            <a:pPr lvl="1"/>
            <a:r>
              <a:rPr lang="fr-FR" dirty="0"/>
              <a:t>y = x; </a:t>
            </a:r>
          </a:p>
          <a:p>
            <a:pPr lvl="1"/>
            <a:r>
              <a:rPr lang="fr-FR" dirty="0" err="1"/>
              <a:t>y.MiValor</a:t>
            </a:r>
            <a:r>
              <a:rPr lang="fr-FR" dirty="0"/>
              <a:t> = 4;</a:t>
            </a:r>
          </a:p>
          <a:p>
            <a:pPr lvl="1"/>
            <a:r>
              <a:rPr lang="fr-FR" dirty="0"/>
              <a:t>return </a:t>
            </a:r>
            <a:r>
              <a:rPr lang="fr-FR" dirty="0" err="1"/>
              <a:t>x.MiValor</a:t>
            </a:r>
            <a:r>
              <a:rPr lang="fr-FR" dirty="0"/>
              <a:t>;</a:t>
            </a:r>
          </a:p>
          <a:p>
            <a:r>
              <a:rPr lang="fr-FR" dirty="0"/>
              <a:t>}</a:t>
            </a:r>
            <a:endParaRPr lang="es-AR" dirty="0"/>
          </a:p>
        </p:txBody>
      </p:sp>
      <p:pic>
        <p:nvPicPr>
          <p:cNvPr id="15" name="Picture 2" descr="http://4.bp.blogspot.com/_d2n6u9eMSpE/TEzp8_kCO9I/AAAAAAAAAB0/OnDTsBx-88U/s400/fig01-11.png">
            <a:extLst>
              <a:ext uri="{FF2B5EF4-FFF2-40B4-BE49-F238E27FC236}">
                <a16:creationId xmlns:a16="http://schemas.microsoft.com/office/drawing/2014/main" id="{1BC99440-2288-4AEB-A930-FB4DE41C9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188" y="2845413"/>
            <a:ext cx="5900597" cy="3038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303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Boxing</a:t>
            </a:r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 y </a:t>
            </a:r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Unboxing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AR" dirty="0" err="1"/>
              <a:t>Boxing</a:t>
            </a:r>
            <a:endParaRPr lang="es-AR" dirty="0"/>
          </a:p>
          <a:p>
            <a:pPr lvl="1" algn="just"/>
            <a:r>
              <a:rPr lang="es-AR" dirty="0"/>
              <a:t>Convertir un valor a un tipo por valor (</a:t>
            </a:r>
            <a:r>
              <a:rPr lang="fr-FR" dirty="0" err="1"/>
              <a:t>int</a:t>
            </a:r>
            <a:r>
              <a:rPr lang="fr-FR" dirty="0"/>
              <a:t>, double, </a:t>
            </a:r>
            <a:r>
              <a:rPr lang="fr-FR" dirty="0" err="1"/>
              <a:t>float</a:t>
            </a:r>
            <a:r>
              <a:rPr lang="fr-FR" dirty="0"/>
              <a:t>, </a:t>
            </a:r>
            <a:r>
              <a:rPr lang="fr-FR" dirty="0" err="1"/>
              <a:t>Guid</a:t>
            </a:r>
            <a:r>
              <a:rPr lang="fr-FR" dirty="0"/>
              <a:t>, </a:t>
            </a:r>
            <a:r>
              <a:rPr lang="fr-FR" dirty="0" err="1"/>
              <a:t>etc</a:t>
            </a:r>
            <a:r>
              <a:rPr lang="fr-FR" dirty="0"/>
              <a:t>) </a:t>
            </a:r>
            <a:r>
              <a:rPr lang="es-AR" dirty="0"/>
              <a:t> a un tipo por referencia (</a:t>
            </a:r>
            <a:r>
              <a:rPr lang="es-AR" dirty="0" err="1"/>
              <a:t>System.Object</a:t>
            </a:r>
            <a:r>
              <a:rPr lang="es-AR" dirty="0"/>
              <a:t>, </a:t>
            </a:r>
            <a:r>
              <a:rPr lang="es-AR" dirty="0" err="1"/>
              <a:t>System.String</a:t>
            </a:r>
            <a:r>
              <a:rPr lang="es-AR" dirty="0"/>
              <a:t>)</a:t>
            </a:r>
          </a:p>
          <a:p>
            <a:pPr lvl="1" algn="just"/>
            <a:endParaRPr lang="es-AR" dirty="0"/>
          </a:p>
          <a:p>
            <a:pPr marL="0" indent="0" algn="just">
              <a:buNone/>
            </a:pPr>
            <a:r>
              <a:rPr lang="es-AR" dirty="0"/>
              <a:t>En la siguiente línea la variable i se asigna a un tipo </a:t>
            </a:r>
            <a:r>
              <a:rPr lang="es-AR" dirty="0" err="1"/>
              <a:t>object</a:t>
            </a:r>
            <a:r>
              <a:rPr lang="es-AR" dirty="0"/>
              <a:t> (</a:t>
            </a:r>
            <a:r>
              <a:rPr lang="es-AR" dirty="0" err="1"/>
              <a:t>boxing</a:t>
            </a:r>
            <a:r>
              <a:rPr lang="es-AR" dirty="0"/>
              <a:t>)</a:t>
            </a:r>
          </a:p>
          <a:p>
            <a:pPr marL="0" indent="0" algn="just">
              <a:buNone/>
            </a:pPr>
            <a:r>
              <a:rPr lang="es-AR" sz="2000" dirty="0"/>
              <a:t>Ejemplo</a:t>
            </a:r>
          </a:p>
          <a:p>
            <a:pPr marL="0" indent="0" fontAlgn="base">
              <a:buNone/>
            </a:pPr>
            <a:r>
              <a:rPr lang="es-AR" sz="1600" b="1" dirty="0" err="1"/>
              <a:t>Int</a:t>
            </a:r>
            <a:r>
              <a:rPr lang="es-AR" sz="1600" b="1" dirty="0"/>
              <a:t> i = 123;</a:t>
            </a:r>
          </a:p>
          <a:p>
            <a:pPr marL="0" indent="0" fontAlgn="base">
              <a:buNone/>
            </a:pPr>
            <a:r>
              <a:rPr lang="es-AR" sz="1600" b="1" dirty="0" err="1"/>
              <a:t>Object</a:t>
            </a:r>
            <a:r>
              <a:rPr lang="es-AR" sz="1600" b="1" dirty="0"/>
              <a:t> o = i;       '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01303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Boxing</a:t>
            </a:r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 y </a:t>
            </a:r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Unboxing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AR" dirty="0" err="1"/>
              <a:t>Unboxing</a:t>
            </a:r>
            <a:endParaRPr lang="es-AR" dirty="0"/>
          </a:p>
          <a:p>
            <a:pPr lvl="1" algn="just"/>
            <a:r>
              <a:rPr lang="es-AR" dirty="0"/>
              <a:t>Convertir un tipo por referencia a un tipo por valor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 err="1"/>
              <a:t>Object</a:t>
            </a:r>
            <a:r>
              <a:rPr lang="pt-BR" b="1" dirty="0"/>
              <a:t> o=123;</a:t>
            </a:r>
          </a:p>
          <a:p>
            <a:pPr marL="0" indent="0">
              <a:buNone/>
            </a:pPr>
            <a:r>
              <a:rPr lang="pt-BR" b="1" dirty="0" err="1"/>
              <a:t>Int</a:t>
            </a:r>
            <a:r>
              <a:rPr lang="pt-BR" b="1" dirty="0"/>
              <a:t> i  = (</a:t>
            </a:r>
            <a:r>
              <a:rPr lang="pt-BR" b="1" dirty="0" err="1"/>
              <a:t>int</a:t>
            </a:r>
            <a:r>
              <a:rPr lang="pt-BR" b="1" dirty="0"/>
              <a:t>) o;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68720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CONVERT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221167" cy="436170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AR" sz="1900" dirty="0"/>
              <a:t>Convierte un tipo de datos base en otro tipo</a:t>
            </a:r>
          </a:p>
          <a:p>
            <a:pPr algn="just"/>
            <a:r>
              <a:rPr lang="es-AR" sz="1900" dirty="0"/>
              <a:t>Excepciones</a:t>
            </a:r>
          </a:p>
          <a:p>
            <a:pPr lvl="1" algn="just"/>
            <a:r>
              <a:rPr lang="es-AR" sz="1700" dirty="0" err="1"/>
              <a:t>InvalidCastException</a:t>
            </a:r>
            <a:r>
              <a:rPr lang="es-AR" sz="1700" dirty="0"/>
              <a:t> </a:t>
            </a:r>
          </a:p>
          <a:p>
            <a:pPr lvl="2" algn="just"/>
            <a:r>
              <a:rPr lang="es-AR" sz="1500" dirty="0"/>
              <a:t>No se admite una conversión determinada</a:t>
            </a:r>
          </a:p>
          <a:p>
            <a:pPr lvl="2" algn="just"/>
            <a:r>
              <a:rPr lang="es-AR" sz="1500" dirty="0"/>
              <a:t>Las conversiones de </a:t>
            </a:r>
            <a:r>
              <a:rPr lang="es-AR" sz="1500" dirty="0" err="1"/>
              <a:t>Char</a:t>
            </a:r>
            <a:r>
              <a:rPr lang="es-AR" sz="1500" dirty="0"/>
              <a:t> a </a:t>
            </a:r>
            <a:r>
              <a:rPr lang="es-AR" sz="1500" dirty="0" err="1"/>
              <a:t>Boolean</a:t>
            </a:r>
            <a:r>
              <a:rPr lang="es-AR" sz="1500" dirty="0"/>
              <a:t>, Single, </a:t>
            </a:r>
            <a:r>
              <a:rPr lang="es-AR" sz="1500" dirty="0" err="1"/>
              <a:t>Double</a:t>
            </a:r>
            <a:r>
              <a:rPr lang="es-AR" sz="1500" dirty="0"/>
              <a:t>, Decimal, o </a:t>
            </a:r>
            <a:r>
              <a:rPr lang="es-AR" sz="1500" dirty="0" err="1"/>
              <a:t>DateTime</a:t>
            </a:r>
            <a:r>
              <a:rPr lang="es-AR" sz="1500" dirty="0"/>
              <a:t>.</a:t>
            </a:r>
          </a:p>
          <a:p>
            <a:pPr lvl="2" algn="just"/>
            <a:r>
              <a:rPr lang="es-AR" sz="1500" dirty="0"/>
              <a:t>Las conversiones de </a:t>
            </a:r>
            <a:r>
              <a:rPr lang="es-AR" sz="1500" dirty="0" err="1"/>
              <a:t>Boolean</a:t>
            </a:r>
            <a:r>
              <a:rPr lang="es-AR" sz="1500" dirty="0"/>
              <a:t>, Single, </a:t>
            </a:r>
            <a:r>
              <a:rPr lang="es-AR" sz="1500" dirty="0" err="1"/>
              <a:t>Double</a:t>
            </a:r>
            <a:r>
              <a:rPr lang="es-AR" sz="1500" dirty="0"/>
              <a:t>, Decimal, o </a:t>
            </a:r>
            <a:r>
              <a:rPr lang="es-AR" sz="1500" dirty="0" err="1"/>
              <a:t>DateTime</a:t>
            </a:r>
            <a:r>
              <a:rPr lang="es-AR" sz="1500" dirty="0"/>
              <a:t> a </a:t>
            </a:r>
            <a:r>
              <a:rPr lang="es-AR" sz="1500" dirty="0" err="1"/>
              <a:t>Char</a:t>
            </a:r>
            <a:r>
              <a:rPr lang="es-AR" sz="1500" dirty="0"/>
              <a:t>.</a:t>
            </a:r>
          </a:p>
          <a:p>
            <a:pPr lvl="2" algn="just"/>
            <a:r>
              <a:rPr lang="es-AR" sz="1500" dirty="0"/>
              <a:t>Las conversiones de </a:t>
            </a:r>
            <a:r>
              <a:rPr lang="es-AR" sz="1500" dirty="0" err="1"/>
              <a:t>DateTime</a:t>
            </a:r>
            <a:r>
              <a:rPr lang="es-AR" sz="1500" dirty="0"/>
              <a:t> a cualquier otro tipo excepto </a:t>
            </a:r>
            <a:r>
              <a:rPr lang="es-AR" sz="1500" dirty="0" err="1"/>
              <a:t>String</a:t>
            </a:r>
            <a:r>
              <a:rPr lang="es-AR" sz="1500" dirty="0"/>
              <a:t>.</a:t>
            </a:r>
          </a:p>
          <a:p>
            <a:pPr lvl="2" algn="just"/>
            <a:r>
              <a:rPr lang="es-AR" sz="1500" dirty="0"/>
              <a:t>Conversiones de cualquier otro tipo, excepto </a:t>
            </a:r>
            <a:r>
              <a:rPr lang="es-AR" sz="1500" dirty="0" err="1"/>
              <a:t>String</a:t>
            </a:r>
            <a:r>
              <a:rPr lang="es-AR" sz="1500" dirty="0"/>
              <a:t>, a </a:t>
            </a:r>
            <a:r>
              <a:rPr lang="es-AR" sz="1500" dirty="0" err="1"/>
              <a:t>DateTime</a:t>
            </a:r>
            <a:r>
              <a:rPr lang="es-AR" sz="1500" dirty="0"/>
              <a:t>.</a:t>
            </a:r>
          </a:p>
          <a:p>
            <a:pPr lvl="1" algn="just"/>
            <a:r>
              <a:rPr lang="es-AR" sz="1700" dirty="0" err="1"/>
              <a:t>FormatException</a:t>
            </a:r>
            <a:endParaRPr lang="es-AR" sz="1700" dirty="0"/>
          </a:p>
          <a:p>
            <a:pPr lvl="2" algn="just"/>
            <a:r>
              <a:rPr lang="es-AR" sz="1500" dirty="0"/>
              <a:t> Esto se produce cuando el intento de convertir un valor de cadena a cualquier otro tipo base porque la cadena no está en el formato correcto</a:t>
            </a:r>
          </a:p>
          <a:p>
            <a:pPr lvl="1" algn="just"/>
            <a:r>
              <a:rPr lang="es-AR" sz="1700" dirty="0" err="1"/>
              <a:t>OverflowException</a:t>
            </a:r>
            <a:endParaRPr lang="es-AR" sz="1700" dirty="0"/>
          </a:p>
          <a:p>
            <a:pPr lvl="2" algn="just"/>
            <a:r>
              <a:rPr lang="es-AR" sz="1500" dirty="0"/>
              <a:t>Ocurre cuando una conversión de restricción produce una pérdida de datos. Por ejemplo, al intentar convertir una Int32 instancia cuyo valor es 10000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07981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CONVERT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416" y="1715956"/>
            <a:ext cx="11221167" cy="4361706"/>
          </a:xfrm>
        </p:spPr>
        <p:txBody>
          <a:bodyPr>
            <a:normAutofit/>
          </a:bodyPr>
          <a:lstStyle/>
          <a:p>
            <a:r>
              <a:rPr lang="es-AR" b="1" dirty="0"/>
              <a:t>Convierte un tipo de datos base en otro tipo</a:t>
            </a:r>
            <a:endParaRPr lang="es-AR" dirty="0"/>
          </a:p>
          <a:p>
            <a:r>
              <a:rPr lang="es-AR" b="1" dirty="0"/>
              <a:t>Se pueden realizar los siguientes tipos de conversiones:</a:t>
            </a:r>
            <a:endParaRPr lang="es-AR" dirty="0"/>
          </a:p>
          <a:p>
            <a:pPr lvl="1"/>
            <a:r>
              <a:rPr lang="es-AR" b="1" dirty="0" err="1"/>
              <a:t>Implícitas:</a:t>
            </a:r>
            <a:r>
              <a:rPr lang="es-AR" dirty="0" err="1"/>
              <a:t>No</a:t>
            </a:r>
            <a:r>
              <a:rPr lang="es-AR" dirty="0"/>
              <a:t> se requiere una sintaxis especial porque la conversión es segura y no se perderán </a:t>
            </a:r>
            <a:r>
              <a:rPr lang="es-AR" dirty="0" err="1"/>
              <a:t>datos.Los</a:t>
            </a:r>
            <a:r>
              <a:rPr lang="es-AR" dirty="0"/>
              <a:t> ejemplos incluyen conversiones de tipos integrales de menor a mayor.</a:t>
            </a:r>
          </a:p>
          <a:p>
            <a:pPr lvl="1"/>
            <a:endParaRPr lang="es-MX" dirty="0"/>
          </a:p>
          <a:p>
            <a:pPr lvl="1"/>
            <a:endParaRPr lang="es-AR" dirty="0"/>
          </a:p>
          <a:p>
            <a:endParaRPr lang="es-MX" dirty="0"/>
          </a:p>
          <a:p>
            <a:pPr lvl="1"/>
            <a:endParaRPr lang="es-AR" dirty="0"/>
          </a:p>
          <a:p>
            <a:pPr lvl="1"/>
            <a:r>
              <a:rPr lang="es-AR" b="1" dirty="0"/>
              <a:t>Explícitas: </a:t>
            </a:r>
            <a:r>
              <a:rPr lang="es-AR" dirty="0"/>
              <a:t>Interviene el programador, porque puede haber pérdida de datos. Ejemplo paso de un número grande a uno pequeño, se castea pero en algunos casos habrá perdida de datos.</a:t>
            </a:r>
          </a:p>
          <a:p>
            <a:pPr marL="0" indent="0" algn="just">
              <a:buNone/>
            </a:pPr>
            <a:endParaRPr lang="es-AR" sz="1500" dirty="0"/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1C91B4-4AAD-466C-925D-E408F3C8E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36" y="3429000"/>
            <a:ext cx="5219700" cy="122872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E27932A-76B0-4D4B-83F0-23563AE8C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336" y="5418330"/>
            <a:ext cx="526732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927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CONVERT y </a:t>
            </a:r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parse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416" y="1715956"/>
            <a:ext cx="11221167" cy="4361706"/>
          </a:xfrm>
        </p:spPr>
        <p:txBody>
          <a:bodyPr>
            <a:normAutofit/>
          </a:bodyPr>
          <a:lstStyle/>
          <a:p>
            <a:pPr lvl="1"/>
            <a:r>
              <a:rPr lang="es-ES" b="0" dirty="0"/>
              <a:t>Cuando utilizamos la segunda opción, el método </a:t>
            </a:r>
            <a:r>
              <a:rPr lang="es-ES" b="0" dirty="0" err="1"/>
              <a:t>Parse</a:t>
            </a:r>
            <a:r>
              <a:rPr lang="es-ES" b="0" dirty="0"/>
              <a:t>(), si el usuario no ha introducido ningún valor (</a:t>
            </a:r>
            <a:r>
              <a:rPr lang="es-ES" b="0" dirty="0" err="1"/>
              <a:t>null</a:t>
            </a:r>
            <a:r>
              <a:rPr lang="es-ES" b="0" dirty="0"/>
              <a:t>) recibiremos una excepción del tipo </a:t>
            </a:r>
            <a:r>
              <a:rPr lang="es-ES" b="0" dirty="0" err="1"/>
              <a:t>System.FormatException</a:t>
            </a:r>
            <a:r>
              <a:rPr lang="es-ES" b="0" dirty="0"/>
              <a:t>. Lo que indica que el formato del argumento no cumple las especificaciones del parámetro del método invocado.</a:t>
            </a:r>
          </a:p>
          <a:p>
            <a:pPr lvl="1"/>
            <a:r>
              <a:rPr lang="es-ES" b="0" dirty="0"/>
              <a:t>En cambio, cuando utilizamos la primera opción, los métodos de la clase </a:t>
            </a:r>
            <a:r>
              <a:rPr lang="es-ES" b="0" dirty="0" err="1"/>
              <a:t>System.Convert</a:t>
            </a:r>
            <a:r>
              <a:rPr lang="es-ES" b="0" dirty="0"/>
              <a:t>, si el valor </a:t>
            </a:r>
            <a:r>
              <a:rPr lang="es-ES" b="0" dirty="0" err="1"/>
              <a:t>pasádo</a:t>
            </a:r>
            <a:r>
              <a:rPr lang="es-ES" b="0" dirty="0"/>
              <a:t> al método es </a:t>
            </a:r>
            <a:r>
              <a:rPr lang="es-ES" b="0" dirty="0" err="1"/>
              <a:t>null</a:t>
            </a:r>
            <a:r>
              <a:rPr lang="es-ES" b="0" dirty="0"/>
              <a:t>, el método ConovertToInt32() devolverá un valor numérico, devolverá cero en todos los casos que el valor de entrada sea </a:t>
            </a:r>
            <a:r>
              <a:rPr lang="es-ES" b="0" dirty="0" err="1"/>
              <a:t>null</a:t>
            </a:r>
            <a:r>
              <a:rPr lang="es-ES" b="0" dirty="0"/>
              <a:t>.</a:t>
            </a:r>
          </a:p>
          <a:p>
            <a:pPr lvl="1"/>
            <a:endParaRPr lang="es-ES" b="0" dirty="0"/>
          </a:p>
          <a:p>
            <a:pPr marL="324000" lvl="1" indent="0">
              <a:buNone/>
            </a:pPr>
            <a:r>
              <a:rPr lang="es-ES" b="0" dirty="0" err="1"/>
              <a:t>int</a:t>
            </a:r>
            <a:r>
              <a:rPr lang="es-ES" b="0" dirty="0"/>
              <a:t> </a:t>
            </a:r>
            <a:r>
              <a:rPr lang="es-ES" b="0" dirty="0" err="1"/>
              <a:t>valorA</a:t>
            </a:r>
            <a:r>
              <a:rPr lang="es-ES" b="0" dirty="0"/>
              <a:t> = Convert.ToInt32(</a:t>
            </a:r>
            <a:r>
              <a:rPr lang="es-ES" b="0" dirty="0" err="1"/>
              <a:t>valorUsuario</a:t>
            </a:r>
            <a:r>
              <a:rPr lang="es-ES" b="0" dirty="0"/>
              <a:t>);</a:t>
            </a:r>
          </a:p>
          <a:p>
            <a:pPr marL="324000" lvl="1" indent="0">
              <a:buNone/>
            </a:pPr>
            <a:r>
              <a:rPr lang="es-ES" b="0" dirty="0" err="1"/>
              <a:t>int</a:t>
            </a:r>
            <a:r>
              <a:rPr lang="es-ES" b="0" dirty="0"/>
              <a:t> </a:t>
            </a:r>
            <a:r>
              <a:rPr lang="es-ES" b="0" dirty="0" err="1"/>
              <a:t>valorB</a:t>
            </a:r>
            <a:r>
              <a:rPr lang="es-ES" b="0" dirty="0"/>
              <a:t> = Int32.Parse(</a:t>
            </a:r>
            <a:r>
              <a:rPr lang="es-ES" b="0" dirty="0" err="1"/>
              <a:t>valorUsuario</a:t>
            </a:r>
            <a:r>
              <a:rPr lang="es-ES" b="0" dirty="0"/>
              <a:t>);</a:t>
            </a:r>
          </a:p>
          <a:p>
            <a:endParaRPr lang="es-AR" sz="1500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29593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El tipo </a:t>
            </a:r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Object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s-AR" dirty="0"/>
              <a:t>Todas los tipos de datos heredan de </a:t>
            </a:r>
            <a:r>
              <a:rPr lang="es-AR" dirty="0" err="1"/>
              <a:t>Object</a:t>
            </a:r>
            <a:r>
              <a:rPr lang="es-AR" dirty="0"/>
              <a:t>.</a:t>
            </a:r>
          </a:p>
          <a:p>
            <a:r>
              <a:rPr lang="es-AR" dirty="0"/>
              <a:t>Admite todas las clases de la jerarquía de clases de .NET Framework y proporciona servicios de bajo nivel a las clases derivadas. </a:t>
            </a:r>
          </a:p>
          <a:p>
            <a:r>
              <a:rPr lang="es-AR" dirty="0"/>
              <a:t>Se trata de la clase base fundamental de todas las clases de .NET Framework; es la raíz de la jerarquía de tipos.</a:t>
            </a:r>
          </a:p>
          <a:p>
            <a:pPr lvl="1"/>
            <a:r>
              <a:rPr lang="es-AR" dirty="0" err="1"/>
              <a:t>Equals</a:t>
            </a:r>
            <a:endParaRPr lang="es-AR" dirty="0"/>
          </a:p>
          <a:p>
            <a:pPr lvl="1"/>
            <a:r>
              <a:rPr lang="es-AR" dirty="0" err="1"/>
              <a:t>Finalize</a:t>
            </a:r>
            <a:r>
              <a:rPr lang="es-AR" dirty="0"/>
              <a:t>()</a:t>
            </a:r>
          </a:p>
          <a:p>
            <a:pPr lvl="1"/>
            <a:r>
              <a:rPr lang="es-AR" dirty="0" err="1"/>
              <a:t>GetGashCode</a:t>
            </a:r>
            <a:r>
              <a:rPr lang="es-AR" dirty="0"/>
              <a:t>()</a:t>
            </a:r>
          </a:p>
          <a:p>
            <a:pPr lvl="1"/>
            <a:r>
              <a:rPr lang="es-AR" dirty="0" err="1"/>
              <a:t>GetType</a:t>
            </a:r>
            <a:r>
              <a:rPr lang="es-AR" dirty="0"/>
              <a:t>()</a:t>
            </a:r>
          </a:p>
          <a:p>
            <a:pPr lvl="1"/>
            <a:r>
              <a:rPr lang="es-AR" dirty="0" err="1"/>
              <a:t>ToString</a:t>
            </a:r>
            <a:r>
              <a:rPr lang="es-AR" dirty="0"/>
              <a:t>()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25532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El tipo </a:t>
            </a:r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string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55043"/>
            <a:ext cx="11302993" cy="4463633"/>
          </a:xfrm>
        </p:spPr>
        <p:txBody>
          <a:bodyPr anchor="t">
            <a:normAutofit/>
          </a:bodyPr>
          <a:lstStyle/>
          <a:p>
            <a:r>
              <a:rPr lang="es-ES" dirty="0"/>
              <a:t>Pertenece a </a:t>
            </a:r>
            <a:r>
              <a:rPr lang="es-ES" dirty="0" err="1"/>
              <a:t>System.String</a:t>
            </a:r>
            <a:endParaRPr lang="es-ES" dirty="0"/>
          </a:p>
          <a:p>
            <a:r>
              <a:rPr lang="es-ES" dirty="0"/>
              <a:t>Almacena cadenas</a:t>
            </a:r>
          </a:p>
          <a:p>
            <a:r>
              <a:rPr lang="es-ES" dirty="0"/>
              <a:t>Lo nuevo de el tipo </a:t>
            </a:r>
            <a:r>
              <a:rPr lang="es-ES" dirty="0" err="1"/>
              <a:t>String</a:t>
            </a:r>
            <a:endParaRPr lang="es-ES" dirty="0"/>
          </a:p>
          <a:p>
            <a:pPr lvl="1"/>
            <a:r>
              <a:rPr lang="es-ES" dirty="0"/>
              <a:t>Tiene muchos constructores</a:t>
            </a:r>
          </a:p>
          <a:p>
            <a:pPr lvl="2"/>
            <a:r>
              <a:rPr lang="es-ES" dirty="0"/>
              <a:t>Permiten una Secuencia de N caracteres similares</a:t>
            </a:r>
          </a:p>
          <a:p>
            <a:pPr lvl="2"/>
            <a:r>
              <a:rPr lang="es-ES" dirty="0"/>
              <a:t>	</a:t>
            </a:r>
            <a:r>
              <a:rPr lang="es-ES" dirty="0" err="1"/>
              <a:t>string</a:t>
            </a:r>
            <a:r>
              <a:rPr lang="es-ES" dirty="0"/>
              <a:t>  cadena = “Caracteres”</a:t>
            </a:r>
          </a:p>
          <a:p>
            <a:pPr lvl="1"/>
            <a:r>
              <a:rPr lang="es-ES" dirty="0"/>
              <a:t>Otras propiedades y métodos</a:t>
            </a:r>
          </a:p>
          <a:p>
            <a:pPr lvl="2"/>
            <a:r>
              <a:rPr lang="es-ES" dirty="0" err="1"/>
              <a:t>Length</a:t>
            </a:r>
            <a:r>
              <a:rPr lang="es-ES" dirty="0"/>
              <a:t>: Numero de caracteres</a:t>
            </a:r>
          </a:p>
          <a:p>
            <a:pPr lvl="2"/>
            <a:r>
              <a:rPr lang="es-ES" dirty="0" err="1"/>
              <a:t>Chars</a:t>
            </a:r>
            <a:r>
              <a:rPr lang="es-ES" dirty="0"/>
              <a:t>: devuelve un carácter situado en un índice.</a:t>
            </a:r>
          </a:p>
          <a:p>
            <a:r>
              <a:rPr lang="es-ES" dirty="0"/>
              <a:t>Formateando las salidas</a:t>
            </a:r>
          </a:p>
          <a:p>
            <a:pPr lvl="1"/>
            <a:r>
              <a:rPr lang="es-ES" dirty="0"/>
              <a:t> </a:t>
            </a:r>
            <a:r>
              <a:rPr lang="es-ES" dirty="0" err="1"/>
              <a:t>string.Format</a:t>
            </a:r>
            <a:r>
              <a:rPr lang="es-ES" dirty="0"/>
              <a:t>("El valor de {0}", nombre variable); 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85893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El tipo date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Espacio de nombre </a:t>
            </a:r>
            <a:r>
              <a:rPr lang="es-AR" dirty="0" err="1"/>
              <a:t>Using</a:t>
            </a:r>
            <a:r>
              <a:rPr lang="es-AR" dirty="0"/>
              <a:t> </a:t>
            </a:r>
            <a:r>
              <a:rPr lang="es-AR" dirty="0" err="1"/>
              <a:t>System.DateTime</a:t>
            </a:r>
            <a:endParaRPr lang="es-AR" dirty="0"/>
          </a:p>
          <a:p>
            <a:pPr algn="just"/>
            <a:r>
              <a:rPr lang="es-AR" dirty="0"/>
              <a:t>Operaciones con Fechas</a:t>
            </a:r>
          </a:p>
          <a:p>
            <a:pPr lvl="1" algn="just"/>
            <a:r>
              <a:rPr lang="es-AR" dirty="0" err="1"/>
              <a:t>Fecha.AddDays</a:t>
            </a:r>
            <a:r>
              <a:rPr lang="es-AR" dirty="0"/>
              <a:t>(-1)</a:t>
            </a:r>
          </a:p>
          <a:p>
            <a:pPr lvl="1" algn="just"/>
            <a:r>
              <a:rPr lang="es-AR" dirty="0" err="1"/>
              <a:t>Fecha.AddYears</a:t>
            </a:r>
            <a:r>
              <a:rPr lang="es-AR" dirty="0"/>
              <a:t>(5)</a:t>
            </a:r>
          </a:p>
          <a:p>
            <a:pPr algn="just"/>
            <a:r>
              <a:rPr lang="es-AR" dirty="0"/>
              <a:t>Formatear Fechas</a:t>
            </a:r>
          </a:p>
          <a:p>
            <a:pPr lvl="1" algn="just"/>
            <a:r>
              <a:rPr lang="es-AR" dirty="0" err="1"/>
              <a:t>String.Format</a:t>
            </a:r>
            <a:r>
              <a:rPr lang="es-AR" dirty="0"/>
              <a:t>(“{0:dd-MM-yyyy}”,fecha)</a:t>
            </a:r>
          </a:p>
          <a:p>
            <a:pPr lvl="1" algn="just"/>
            <a:r>
              <a:rPr lang="es-AR" dirty="0" err="1"/>
              <a:t>Fecha.ToString</a:t>
            </a:r>
            <a:r>
              <a:rPr lang="es-AR" dirty="0"/>
              <a:t>(“</a:t>
            </a:r>
            <a:r>
              <a:rPr lang="es-AR" dirty="0" err="1"/>
              <a:t>dd</a:t>
            </a:r>
            <a:r>
              <a:rPr lang="es-AR" dirty="0"/>
              <a:t>-MM-</a:t>
            </a:r>
            <a:r>
              <a:rPr lang="es-AR" dirty="0" err="1"/>
              <a:t>yyyy</a:t>
            </a:r>
            <a:r>
              <a:rPr lang="es-AR" dirty="0"/>
              <a:t>”)</a:t>
            </a:r>
          </a:p>
          <a:p>
            <a:pPr lvl="1" algn="just"/>
            <a:r>
              <a:rPr lang="es-AR" dirty="0"/>
              <a:t>https://msdn.microsoft.com/en-us/library/8kb3ddd4(v=vs.110).aspx</a:t>
            </a:r>
          </a:p>
          <a:p>
            <a:pPr marL="0" indent="0">
              <a:buNone/>
            </a:pPr>
            <a:endParaRPr lang="es-AR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62158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Generación de números aleatorios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Clase </a:t>
            </a:r>
            <a:r>
              <a:rPr lang="es-ES" dirty="0" err="1"/>
              <a:t>Random</a:t>
            </a:r>
            <a:endParaRPr lang="es-ES" dirty="0"/>
          </a:p>
          <a:p>
            <a:r>
              <a:rPr lang="es-ES" dirty="0"/>
              <a:t>Representa un pseudo generador de números </a:t>
            </a:r>
            <a:r>
              <a:rPr lang="es-ES" dirty="0" err="1"/>
              <a:t>random</a:t>
            </a:r>
            <a:endParaRPr lang="es-ES" dirty="0"/>
          </a:p>
          <a:p>
            <a:r>
              <a:rPr lang="es-ES" dirty="0"/>
              <a:t>Produce una secuencia de números que cumplen con ciertos requisitos estadísticos para la aleatoriedad.</a:t>
            </a:r>
          </a:p>
          <a:p>
            <a:endParaRPr lang="es-ES" dirty="0"/>
          </a:p>
          <a:p>
            <a:pPr marL="0" indent="0">
              <a:buNone/>
            </a:pPr>
            <a:endParaRPr lang="es-A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4039CC-8321-45DD-8715-6631C9AD8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571" y="4841909"/>
            <a:ext cx="849694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295182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Random</a:t>
            </a:r>
            <a:r>
              <a:rPr kumimoji="0" lang="en-US" altLang="es-E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r = new Random();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r.Next</a:t>
            </a:r>
            <a:r>
              <a:rPr kumimoji="0" lang="es-ES" altLang="es-E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(valor inicial, valor final);</a:t>
            </a:r>
            <a:endParaRPr kumimoji="0" lang="es-ES" altLang="es-E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355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arrays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err="1"/>
              <a:t>System.Array</a:t>
            </a:r>
            <a:endParaRPr lang="es-AR" dirty="0"/>
          </a:p>
          <a:p>
            <a:pPr algn="just"/>
            <a:r>
              <a:rPr lang="es-AR" b="1" dirty="0" err="1"/>
              <a:t>Estaticos</a:t>
            </a:r>
            <a:endParaRPr lang="es-AR" b="1" dirty="0"/>
          </a:p>
          <a:p>
            <a:pPr lvl="1" algn="just"/>
            <a:r>
              <a:rPr lang="es-AR" dirty="0" err="1"/>
              <a:t>Int</a:t>
            </a:r>
            <a:r>
              <a:rPr lang="es-AR" dirty="0"/>
              <a:t>[] array = new </a:t>
            </a:r>
            <a:r>
              <a:rPr lang="es-AR" dirty="0" err="1"/>
              <a:t>int</a:t>
            </a:r>
            <a:r>
              <a:rPr lang="es-AR" dirty="0"/>
              <a:t>[2]</a:t>
            </a:r>
          </a:p>
          <a:p>
            <a:pPr marL="457200" lvl="1" indent="0" algn="just">
              <a:buNone/>
            </a:pPr>
            <a:endParaRPr lang="es-AR" dirty="0"/>
          </a:p>
          <a:p>
            <a:pPr algn="just"/>
            <a:r>
              <a:rPr lang="es-AR" b="1" dirty="0"/>
              <a:t>Dinámicos</a:t>
            </a:r>
          </a:p>
          <a:p>
            <a:pPr lvl="1" algn="just"/>
            <a:r>
              <a:rPr lang="es-AR" dirty="0" err="1"/>
              <a:t>Array.Resize</a:t>
            </a:r>
            <a:r>
              <a:rPr lang="es-AR" dirty="0"/>
              <a:t>(</a:t>
            </a:r>
            <a:r>
              <a:rPr lang="es-AR" dirty="0" err="1"/>
              <a:t>ref</a:t>
            </a:r>
            <a:r>
              <a:rPr lang="es-AR" dirty="0"/>
              <a:t> array,4);</a:t>
            </a:r>
          </a:p>
          <a:p>
            <a:pPr marL="457200" lvl="1" indent="0" algn="just">
              <a:buNone/>
            </a:pPr>
            <a:endParaRPr lang="es-AR" dirty="0"/>
          </a:p>
          <a:p>
            <a:pPr algn="just"/>
            <a:r>
              <a:rPr lang="es-AR" b="1" dirty="0"/>
              <a:t>Matiz</a:t>
            </a:r>
            <a:r>
              <a:rPr lang="es-AR" dirty="0"/>
              <a:t> (Array multidimensional)</a:t>
            </a:r>
          </a:p>
          <a:p>
            <a:pPr lvl="1" algn="just"/>
            <a:r>
              <a:rPr lang="es-AR" dirty="0" err="1"/>
              <a:t>Int</a:t>
            </a:r>
            <a:r>
              <a:rPr lang="es-AR" dirty="0"/>
              <a:t>[,] matriz = new </a:t>
            </a:r>
            <a:r>
              <a:rPr lang="es-AR" dirty="0" err="1"/>
              <a:t>int</a:t>
            </a:r>
            <a:r>
              <a:rPr lang="es-AR" dirty="0"/>
              <a:t>[100,200]</a:t>
            </a:r>
          </a:p>
        </p:txBody>
      </p:sp>
    </p:spTree>
    <p:extLst>
      <p:ext uri="{BB962C8B-B14F-4D97-AF65-F5344CB8AC3E}">
        <p14:creationId xmlns:p14="http://schemas.microsoft.com/office/powerpoint/2010/main" val="149544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Introducción a los Formularios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Windows </a:t>
            </a:r>
            <a:r>
              <a:rPr lang="es-ES" dirty="0" err="1"/>
              <a:t>Forms</a:t>
            </a:r>
            <a:r>
              <a:rPr lang="es-ES" dirty="0"/>
              <a:t> ("WinForms" para abreviar) es una biblioteca de clase GUI incluida con .NET Framework.</a:t>
            </a:r>
          </a:p>
          <a:p>
            <a:r>
              <a:rPr lang="es-ES" dirty="0"/>
              <a:t>Permite el desarrollo de aplicaciones de escritorio y móviles de Windows orientadas a .NET Framework .</a:t>
            </a:r>
          </a:p>
          <a:p>
            <a:r>
              <a:rPr lang="es-ES" dirty="0"/>
              <a:t>WinForms es principalmente impulsado por eventos . Una aplicación consta de varios formularios (mostrados como ventanas en la pantalla), que contienen controles (etiquetas, botones, cuadros de texto, listas, etc.) con los que el usuario interactúa directamente.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73013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Introducción a los Formularios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aplicación consta de varios formularios (mostrados como ventanas en la pantalla), que contienen controles (etiquetas, botones, cuadros de texto, listas, etc.) con los que el usuario interactúa directamente. </a:t>
            </a:r>
          </a:p>
          <a:p>
            <a:r>
              <a:rPr lang="es-ES" dirty="0"/>
              <a:t>En respuesta a la interacción del usuario, estos controles generan eventos que el programa puede manejar para realizar tareas.</a:t>
            </a:r>
          </a:p>
          <a:p>
            <a:r>
              <a:rPr lang="es-ES" dirty="0"/>
              <a:t>Como en Windows, todo en WinForms es un control de usuario. La clase de </a:t>
            </a:r>
            <a:r>
              <a:rPr lang="es-ES" b="1" dirty="0"/>
              <a:t>Control</a:t>
            </a:r>
            <a:r>
              <a:rPr lang="es-ES" dirty="0"/>
              <a:t> proporciona una funcionalidad básica, que incluye propiedades para configurar texto, ubicación, tamaño y color, así como un conjunto común de eventos que se pueden manejar. Esto es común a todos los controles existentes.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0402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Introducción a los Formularios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19A47A44-E65B-44CD-BD89-85EEB6511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2250" y="3154343"/>
            <a:ext cx="3901846" cy="3703657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73B897A9-0230-41B8-AA32-DD25836EA3C1}"/>
              </a:ext>
            </a:extLst>
          </p:cNvPr>
          <p:cNvCxnSpPr>
            <a:cxnSpLocks/>
          </p:cNvCxnSpPr>
          <p:nvPr/>
        </p:nvCxnSpPr>
        <p:spPr>
          <a:xfrm flipV="1">
            <a:off x="2403835" y="2286000"/>
            <a:ext cx="4454165" cy="1032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A4A8AF3-E033-444D-9978-427E44E0BFC5}"/>
              </a:ext>
            </a:extLst>
          </p:cNvPr>
          <p:cNvCxnSpPr>
            <a:cxnSpLocks/>
          </p:cNvCxnSpPr>
          <p:nvPr/>
        </p:nvCxnSpPr>
        <p:spPr>
          <a:xfrm flipV="1">
            <a:off x="3376367" y="6089715"/>
            <a:ext cx="3401505" cy="180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9CE3065-1E38-4FF5-90C3-FFA61E916905}"/>
              </a:ext>
            </a:extLst>
          </p:cNvPr>
          <p:cNvCxnSpPr>
            <a:cxnSpLocks/>
          </p:cNvCxnSpPr>
          <p:nvPr/>
        </p:nvCxnSpPr>
        <p:spPr>
          <a:xfrm flipV="1">
            <a:off x="4630917" y="4756622"/>
            <a:ext cx="1948992" cy="180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025FA43-87CD-4E06-AAB1-BC6F3EF39E1E}"/>
              </a:ext>
            </a:extLst>
          </p:cNvPr>
          <p:cNvSpPr txBox="1"/>
          <p:nvPr/>
        </p:nvSpPr>
        <p:spPr>
          <a:xfrm>
            <a:off x="6858000" y="2101334"/>
            <a:ext cx="213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Título del formulario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654D6BB-3EC0-4F88-94E0-38E59E174731}"/>
              </a:ext>
            </a:extLst>
          </p:cNvPr>
          <p:cNvSpPr txBox="1"/>
          <p:nvPr/>
        </p:nvSpPr>
        <p:spPr>
          <a:xfrm>
            <a:off x="6579909" y="4567972"/>
            <a:ext cx="2305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Ventana del formulario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471DD26-70D6-4E7C-9248-311D3AE1FFDE}"/>
              </a:ext>
            </a:extLst>
          </p:cNvPr>
          <p:cNvSpPr txBox="1"/>
          <p:nvPr/>
        </p:nvSpPr>
        <p:spPr>
          <a:xfrm>
            <a:off x="6858000" y="5857030"/>
            <a:ext cx="3215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Controles dentro del formulario</a:t>
            </a:r>
          </a:p>
        </p:txBody>
      </p:sp>
    </p:spTree>
    <p:extLst>
      <p:ext uri="{BB962C8B-B14F-4D97-AF65-F5344CB8AC3E}">
        <p14:creationId xmlns:p14="http://schemas.microsoft.com/office/powerpoint/2010/main" val="1943480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Introducción a los Formularios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19A47A44-E65B-44CD-BD89-85EEB6511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2250" y="3154343"/>
            <a:ext cx="3901846" cy="3703657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A4A8AF3-E033-444D-9978-427E44E0BFC5}"/>
              </a:ext>
            </a:extLst>
          </p:cNvPr>
          <p:cNvCxnSpPr>
            <a:cxnSpLocks/>
          </p:cNvCxnSpPr>
          <p:nvPr/>
        </p:nvCxnSpPr>
        <p:spPr>
          <a:xfrm flipV="1">
            <a:off x="3376367" y="2620652"/>
            <a:ext cx="3373225" cy="3649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471DD26-70D6-4E7C-9248-311D3AE1FFDE}"/>
              </a:ext>
            </a:extLst>
          </p:cNvPr>
          <p:cNvSpPr txBox="1"/>
          <p:nvPr/>
        </p:nvSpPr>
        <p:spPr>
          <a:xfrm>
            <a:off x="6945381" y="2435985"/>
            <a:ext cx="44421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Todos los controles (incluyendo las ventanas) tienen una serie de eventos que se pueden programar para lograr resultados esperados.</a:t>
            </a:r>
          </a:p>
          <a:p>
            <a:r>
              <a:rPr lang="es-AR" dirty="0"/>
              <a:t>Esto se hace a partir de funciones y procedimientos vinculadas al diseñador de formularios</a:t>
            </a:r>
          </a:p>
          <a:p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A8D4B3-1A46-4426-81B0-7934FAFF0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746" y="4509155"/>
            <a:ext cx="5495925" cy="1304925"/>
          </a:xfrm>
          <a:prstGeom prst="rect">
            <a:avLst/>
          </a:prstGeom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121E281-C32D-4A42-80BF-F76912241D28}"/>
              </a:ext>
            </a:extLst>
          </p:cNvPr>
          <p:cNvCxnSpPr>
            <a:cxnSpLocks/>
          </p:cNvCxnSpPr>
          <p:nvPr/>
        </p:nvCxnSpPr>
        <p:spPr>
          <a:xfrm flipV="1">
            <a:off x="3521413" y="5379396"/>
            <a:ext cx="2655651" cy="891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405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Introducción a los Formularios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19A47A44-E65B-44CD-BD89-85EEB6511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2250" y="3154343"/>
            <a:ext cx="3901846" cy="3703657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A4A8AF3-E033-444D-9978-427E44E0BFC5}"/>
              </a:ext>
            </a:extLst>
          </p:cNvPr>
          <p:cNvCxnSpPr>
            <a:cxnSpLocks/>
          </p:cNvCxnSpPr>
          <p:nvPr/>
        </p:nvCxnSpPr>
        <p:spPr>
          <a:xfrm flipV="1">
            <a:off x="3376367" y="3585311"/>
            <a:ext cx="2594876" cy="2685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471DD26-70D6-4E7C-9248-311D3AE1FFDE}"/>
              </a:ext>
            </a:extLst>
          </p:cNvPr>
          <p:cNvSpPr txBox="1"/>
          <p:nvPr/>
        </p:nvSpPr>
        <p:spPr>
          <a:xfrm>
            <a:off x="5371259" y="3154343"/>
            <a:ext cx="1698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Clic</a:t>
            </a:r>
          </a:p>
          <a:p>
            <a:endParaRPr lang="es-AR" dirty="0"/>
          </a:p>
        </p:txBody>
      </p:sp>
      <p:pic>
        <p:nvPicPr>
          <p:cNvPr id="1026" name="Picture 2" descr="Un cuadro de mensaje que dice &quot;¡Hola mundo!&quot;">
            <a:extLst>
              <a:ext uri="{FF2B5EF4-FFF2-40B4-BE49-F238E27FC236}">
                <a16:creationId xmlns:a16="http://schemas.microsoft.com/office/drawing/2014/main" id="{11AD4E5C-51F6-4353-9764-EDE5A7E88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317" y="4572680"/>
            <a:ext cx="1247775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44B83E6-579D-412F-AB56-9F4748F4A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758" y="2264977"/>
            <a:ext cx="5560823" cy="1320334"/>
          </a:xfrm>
          <a:prstGeom prst="rect">
            <a:avLst/>
          </a:prstGeom>
        </p:spPr>
      </p:pic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C75363C1-A44D-49B0-9586-84A80FE58402}"/>
              </a:ext>
            </a:extLst>
          </p:cNvPr>
          <p:cNvSpPr/>
          <p:nvPr/>
        </p:nvSpPr>
        <p:spPr>
          <a:xfrm>
            <a:off x="8412714" y="3848638"/>
            <a:ext cx="314708" cy="50867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26793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Formularios MDI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21502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menues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3260855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</TotalTime>
  <Words>1589</Words>
  <Application>Microsoft Office PowerPoint</Application>
  <PresentationFormat>Panorámica</PresentationFormat>
  <Paragraphs>179</Paragraphs>
  <Slides>29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6" baseType="lpstr">
      <vt:lpstr>Arial</vt:lpstr>
      <vt:lpstr>Arial Unicode MS</vt:lpstr>
      <vt:lpstr>Calibri</vt:lpstr>
      <vt:lpstr>Courier New</vt:lpstr>
      <vt:lpstr>Gill Sans MT</vt:lpstr>
      <vt:lpstr>Wingdings 2</vt:lpstr>
      <vt:lpstr>Dividendo</vt:lpstr>
      <vt:lpstr>Presentación de PowerPoint</vt:lpstr>
      <vt:lpstr>Unidad 1</vt:lpstr>
      <vt:lpstr>temas</vt:lpstr>
      <vt:lpstr>CTS Sistemas común de tipos</vt:lpstr>
      <vt:lpstr>Tipos por valor y referencia</vt:lpstr>
      <vt:lpstr>Tipos por valor y referencia</vt:lpstr>
      <vt:lpstr>Tipos por valor y referencia</vt:lpstr>
      <vt:lpstr>Tipos por valor y referencia</vt:lpstr>
      <vt:lpstr>Tipos por valor y referencia</vt:lpstr>
      <vt:lpstr>Tipos por valor y referencia</vt:lpstr>
      <vt:lpstr>Tipos por valor y referencia</vt:lpstr>
      <vt:lpstr>Tipos por valor y referencia</vt:lpstr>
      <vt:lpstr>Boxing y Unboxing</vt:lpstr>
      <vt:lpstr>Boxing y Unboxing</vt:lpstr>
      <vt:lpstr>CONVERT</vt:lpstr>
      <vt:lpstr>CONVERT</vt:lpstr>
      <vt:lpstr>CONVERT y parse</vt:lpstr>
      <vt:lpstr>El tipo Object </vt:lpstr>
      <vt:lpstr>El tipo string </vt:lpstr>
      <vt:lpstr>El tipo date </vt:lpstr>
      <vt:lpstr>Generación de números aleatorios </vt:lpstr>
      <vt:lpstr>arrays </vt:lpstr>
      <vt:lpstr>Introducción a los Formularios </vt:lpstr>
      <vt:lpstr>Introducción a los Formularios </vt:lpstr>
      <vt:lpstr>Introducción a los Formularios </vt:lpstr>
      <vt:lpstr>Introducción a los Formularios </vt:lpstr>
      <vt:lpstr>Introducción a los Formularios </vt:lpstr>
      <vt:lpstr>Formularios MDI </vt:lpstr>
      <vt:lpstr>menues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– PROGRAMACIÓN ESTRUCTURADA</dc:title>
  <dc:creator>Battaglia, Nicolas</dc:creator>
  <cp:lastModifiedBy>Rodriguez Escobedo, Julian</cp:lastModifiedBy>
  <cp:revision>37</cp:revision>
  <dcterms:created xsi:type="dcterms:W3CDTF">2020-06-09T18:56:19Z</dcterms:created>
  <dcterms:modified xsi:type="dcterms:W3CDTF">2023-03-06T19:11:36Z</dcterms:modified>
</cp:coreProperties>
</file>