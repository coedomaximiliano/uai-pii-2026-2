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0"/>
  </p:notesMasterIdLst>
  <p:sldIdLst>
    <p:sldId id="274" r:id="rId2"/>
    <p:sldId id="298" r:id="rId3"/>
    <p:sldId id="355" r:id="rId4"/>
    <p:sldId id="356" r:id="rId5"/>
    <p:sldId id="357" r:id="rId6"/>
    <p:sldId id="358" r:id="rId7"/>
    <p:sldId id="359" r:id="rId8"/>
    <p:sldId id="360" r:id="rId9"/>
    <p:sldId id="361" r:id="rId10"/>
    <p:sldId id="362" r:id="rId11"/>
    <p:sldId id="363" r:id="rId12"/>
    <p:sldId id="364" r:id="rId13"/>
    <p:sldId id="365" r:id="rId14"/>
    <p:sldId id="366" r:id="rId15"/>
    <p:sldId id="367" r:id="rId16"/>
    <p:sldId id="374" r:id="rId17"/>
    <p:sldId id="375" r:id="rId18"/>
    <p:sldId id="376" r:id="rId19"/>
    <p:sldId id="377" r:id="rId20"/>
    <p:sldId id="368" r:id="rId21"/>
    <p:sldId id="369" r:id="rId22"/>
    <p:sldId id="370" r:id="rId23"/>
    <p:sldId id="371" r:id="rId24"/>
    <p:sldId id="372" r:id="rId25"/>
    <p:sldId id="378" r:id="rId26"/>
    <p:sldId id="379" r:id="rId27"/>
    <p:sldId id="373" r:id="rId28"/>
    <p:sldId id="269" r:id="rId29"/>
  </p:sldIdLst>
  <p:sldSz cx="12192000" cy="6858000"/>
  <p:notesSz cx="12192000" cy="6858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159003B-2340-4899-903E-673FBCFBBBFB}" v="79" dt="2023-04-10T17:12:33.347"/>
    <p1510:client id="{DD593837-0009-4906-A4A0-22ADBABB9BD8}" v="37" dt="2023-04-11T12:04:57.392"/>
    <p1510:client id="{FF24E7CE-9290-43E6-9707-5C7AE54C2836}" v="24" dt="2023-04-10T17:24:06.628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>
      <p:cViewPr varScale="1">
        <p:scale>
          <a:sx n="106" d="100"/>
          <a:sy n="106" d="100"/>
        </p:scale>
        <p:origin x="792" y="9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microsoft.com/office/2015/10/relationships/revisionInfo" Target="revisionInfo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01A597-DC91-40F9-8D10-3F9F40F51A34}" type="datetimeFigureOut">
              <a:rPr lang="es-AR" smtClean="0"/>
              <a:t>13/8/2026</a:t>
            </a:fld>
            <a:endParaRPr lang="es-AR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AR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234F8C-6F27-4042-9A2E-00EF595E1BDF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4480166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8/13/2026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8/13/2026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8/13/2026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446531" y="457201"/>
            <a:ext cx="3703320" cy="94615"/>
          </a:xfrm>
          <a:custGeom>
            <a:avLst/>
            <a:gdLst/>
            <a:ahLst/>
            <a:cxnLst/>
            <a:rect l="l" t="t" r="r" b="b"/>
            <a:pathLst>
              <a:path w="3703320" h="94615">
                <a:moveTo>
                  <a:pt x="3703320" y="0"/>
                </a:moveTo>
                <a:lnTo>
                  <a:pt x="0" y="0"/>
                </a:lnTo>
                <a:lnTo>
                  <a:pt x="0" y="94359"/>
                </a:lnTo>
                <a:lnTo>
                  <a:pt x="3703320" y="94359"/>
                </a:lnTo>
                <a:lnTo>
                  <a:pt x="3703320" y="0"/>
                </a:lnTo>
                <a:close/>
              </a:path>
            </a:pathLst>
          </a:custGeom>
          <a:solidFill>
            <a:srgbClr val="4D123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8042147" y="454151"/>
            <a:ext cx="3703320" cy="97790"/>
          </a:xfrm>
          <a:custGeom>
            <a:avLst/>
            <a:gdLst/>
            <a:ahLst/>
            <a:cxnLst/>
            <a:rect l="l" t="t" r="r" b="b"/>
            <a:pathLst>
              <a:path w="3703320" h="97790">
                <a:moveTo>
                  <a:pt x="3703320" y="0"/>
                </a:moveTo>
                <a:lnTo>
                  <a:pt x="0" y="0"/>
                </a:lnTo>
                <a:lnTo>
                  <a:pt x="0" y="97282"/>
                </a:lnTo>
                <a:lnTo>
                  <a:pt x="3703320" y="97282"/>
                </a:lnTo>
                <a:lnTo>
                  <a:pt x="3703320" y="0"/>
                </a:lnTo>
                <a:close/>
              </a:path>
            </a:pathLst>
          </a:custGeom>
          <a:solidFill>
            <a:srgbClr val="949FA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4241292" y="457201"/>
            <a:ext cx="3703320" cy="91440"/>
          </a:xfrm>
          <a:custGeom>
            <a:avLst/>
            <a:gdLst/>
            <a:ahLst/>
            <a:cxnLst/>
            <a:rect l="l" t="t" r="r" b="b"/>
            <a:pathLst>
              <a:path w="3703320" h="91440">
                <a:moveTo>
                  <a:pt x="3703319" y="0"/>
                </a:moveTo>
                <a:lnTo>
                  <a:pt x="0" y="0"/>
                </a:lnTo>
                <a:lnTo>
                  <a:pt x="0" y="91438"/>
                </a:lnTo>
                <a:lnTo>
                  <a:pt x="3703319" y="91438"/>
                </a:lnTo>
                <a:lnTo>
                  <a:pt x="3703319" y="0"/>
                </a:lnTo>
                <a:close/>
              </a:path>
            </a:pathLst>
          </a:custGeom>
          <a:solidFill>
            <a:srgbClr val="902F6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193919" y="3269107"/>
            <a:ext cx="1804161" cy="406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33171" y="2973070"/>
            <a:ext cx="10925657" cy="14890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" y="0"/>
            <a:ext cx="12191999" cy="685799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09600" y="1036701"/>
            <a:ext cx="11277600" cy="68948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ts val="5700"/>
              </a:lnSpc>
              <a:spcBef>
                <a:spcPts val="95"/>
              </a:spcBef>
            </a:pPr>
            <a:r>
              <a:rPr lang="es-ES" sz="4400" b="1" spc="-15" noProof="0" dirty="0">
                <a:solidFill>
                  <a:schemeClr val="bg1"/>
                </a:solidFill>
                <a:latin typeface="Arial"/>
                <a:cs typeface="Arial"/>
              </a:rPr>
              <a:t>Clase 1: </a:t>
            </a:r>
            <a:r>
              <a:rPr lang="es-ES" sz="4400" b="1" spc="-15" dirty="0">
                <a:latin typeface="Arial"/>
                <a:cs typeface="Arial"/>
              </a:rPr>
              <a:t>Introducción y repaso</a:t>
            </a:r>
            <a:endParaRPr lang="es-AR" sz="4400" noProof="0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257800" y="122436"/>
            <a:ext cx="6781799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pc="-5" dirty="0">
                <a:solidFill>
                  <a:srgbClr val="FFFFFF"/>
                </a:solidFill>
                <a:latin typeface="Arial MT"/>
                <a:cs typeface="Arial MT"/>
              </a:rPr>
              <a:t>PROGRAMACIÓN Y ESTRUCTURAS DE DATOS</a:t>
            </a:r>
            <a:endParaRPr lang="es-AR" sz="1800" noProof="0" dirty="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44863" y="5854903"/>
            <a:ext cx="231648" cy="256031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7ECB98BF-F9F5-DFDB-F1EF-93F7E9B2E70D}"/>
              </a:ext>
            </a:extLst>
          </p:cNvPr>
          <p:cNvSpPr txBox="1"/>
          <p:nvPr/>
        </p:nvSpPr>
        <p:spPr>
          <a:xfrm>
            <a:off x="381000" y="56685"/>
            <a:ext cx="3505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b="1" noProof="0" dirty="0">
                <a:solidFill>
                  <a:schemeClr val="bg1"/>
                </a:solidFill>
              </a:rPr>
              <a:t>Prof. Coedo, Maximiliano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0436" y="614172"/>
            <a:ext cx="11309985" cy="1377300"/>
          </a:xfrm>
          <a:prstGeom prst="rect">
            <a:avLst/>
          </a:prstGeom>
          <a:solidFill>
            <a:srgbClr val="662937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550" dirty="0">
              <a:latin typeface="Times New Roman"/>
              <a:cs typeface="Times New Roman"/>
            </a:endParaRPr>
          </a:p>
          <a:p>
            <a:pPr marR="6350" algn="ctr">
              <a:lnSpc>
                <a:spcPct val="100000"/>
              </a:lnSpc>
            </a:pPr>
            <a:r>
              <a:rPr lang="es-ES" sz="3600" dirty="0"/>
              <a:t>Encuadre de la asignatura</a:t>
            </a:r>
            <a:br>
              <a:rPr lang="es-ES" sz="3600" dirty="0"/>
            </a:br>
            <a:endParaRPr sz="2800" dirty="0">
              <a:latin typeface="Trebuchet MS"/>
              <a:cs typeface="Trebuchet MS"/>
            </a:endParaRP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E34C2BBD-F7B7-4F25-67A4-C0A13B8C3C2A}"/>
              </a:ext>
            </a:extLst>
          </p:cNvPr>
          <p:cNvSpPr txBox="1"/>
          <p:nvPr/>
        </p:nvSpPr>
        <p:spPr>
          <a:xfrm>
            <a:off x="440435" y="2437703"/>
            <a:ext cx="11309985" cy="2967479"/>
          </a:xfrm>
          <a:prstGeom prst="rect">
            <a:avLst/>
          </a:prstGeom>
        </p:spPr>
        <p:txBody>
          <a:bodyPr/>
          <a:lstStyle/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lang="es-ES" sz="2000" dirty="0"/>
              <a:t>Asignatura: Programación y Estructuras de Datos</a:t>
            </a: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lang="es-ES" sz="2000" dirty="0"/>
              <a:t>Clases: 16 (5 hs. semanales)</a:t>
            </a: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lang="es-ES" sz="2000" dirty="0"/>
              <a:t>Aula: a confirmar</a:t>
            </a: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lang="es-ES" sz="2000" dirty="0"/>
              <a:t>Horario presencial: jueves (horario a confirmar)</a:t>
            </a: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lang="es-ES" sz="2000" dirty="0"/>
              <a:t>Trabajos Prácticos por unidad + Trabajo Práctico Integrador + Trabajo de Indagación.</a:t>
            </a: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lang="es-ES" sz="2000" dirty="0"/>
              <a:t>Exámenes: 2 Parciales (Clase 8 y entre Clase 12 y 14) - Recuperatorios y Examen Final.</a:t>
            </a: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lang="es-ES" sz="2000" dirty="0"/>
              <a:t>Correlativa previa: Introducción a los Algoritmos y la Programación.</a:t>
            </a: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lang="es-ES" sz="2000" dirty="0"/>
              <a:t>Correlativa posterior: Programación Orientada a Objetos.</a:t>
            </a:r>
          </a:p>
        </p:txBody>
      </p:sp>
    </p:spTree>
    <p:extLst>
      <p:ext uri="{BB962C8B-B14F-4D97-AF65-F5344CB8AC3E}">
        <p14:creationId xmlns:p14="http://schemas.microsoft.com/office/powerpoint/2010/main" val="39140268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0436" y="614172"/>
            <a:ext cx="11309985" cy="1377300"/>
          </a:xfrm>
          <a:prstGeom prst="rect">
            <a:avLst/>
          </a:prstGeom>
          <a:solidFill>
            <a:srgbClr val="662937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550" dirty="0">
              <a:latin typeface="Times New Roman"/>
              <a:cs typeface="Times New Roman"/>
            </a:endParaRPr>
          </a:p>
          <a:p>
            <a:pPr marR="6350" algn="ctr">
              <a:lnSpc>
                <a:spcPct val="100000"/>
              </a:lnSpc>
            </a:pPr>
            <a:r>
              <a:rPr lang="es-ES" sz="3600" dirty="0"/>
              <a:t>Objetivos</a:t>
            </a:r>
            <a:br>
              <a:rPr lang="es-ES" sz="3600" dirty="0"/>
            </a:br>
            <a:endParaRPr sz="2800" dirty="0">
              <a:latin typeface="Trebuchet MS"/>
              <a:cs typeface="Trebuchet MS"/>
            </a:endParaRP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E34C2BBD-F7B7-4F25-67A4-C0A13B8C3C2A}"/>
              </a:ext>
            </a:extLst>
          </p:cNvPr>
          <p:cNvSpPr txBox="1"/>
          <p:nvPr/>
        </p:nvSpPr>
        <p:spPr>
          <a:xfrm>
            <a:off x="440435" y="2437703"/>
            <a:ext cx="11309985" cy="2967479"/>
          </a:xfrm>
          <a:prstGeom prst="rect">
            <a:avLst/>
          </a:prstGeom>
        </p:spPr>
        <p:txBody>
          <a:bodyPr/>
          <a:lstStyle/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lang="es-ES" sz="1900" dirty="0"/>
              <a:t>Identificar las diferencias entre la programación estructurada, la orientada a objetos y la orientada a eventos.</a:t>
            </a: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lang="es-ES" sz="1900" dirty="0"/>
              <a:t>Dominar el manejo de punteros y archivos desde ambas metodologías.</a:t>
            </a: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lang="es-ES" sz="1900" dirty="0"/>
              <a:t>Incorporar los elementos de la interfaz de los lenguajes orientados a eventos para aplicarlos en la construcción de software.</a:t>
            </a: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lang="es-ES" sz="1900" dirty="0"/>
              <a:t>Dominar los aspectos lógicos y algorítmicos de la programación orientada a eventos.</a:t>
            </a: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lang="es-ES" sz="1900" dirty="0"/>
              <a:t>Desarrollar la idea de objeto, sus propiedades y los eventos que lo controlan.</a:t>
            </a: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lang="es-ES" sz="1900" dirty="0"/>
              <a:t>Comprender las técnicas de acceso a archivos, su administración, ventajas y desventajas.</a:t>
            </a:r>
          </a:p>
        </p:txBody>
      </p:sp>
    </p:spTree>
    <p:extLst>
      <p:ext uri="{BB962C8B-B14F-4D97-AF65-F5344CB8AC3E}">
        <p14:creationId xmlns:p14="http://schemas.microsoft.com/office/powerpoint/2010/main" val="39140268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0436" y="614172"/>
            <a:ext cx="11309985" cy="1377300"/>
          </a:xfrm>
          <a:prstGeom prst="rect">
            <a:avLst/>
          </a:prstGeom>
          <a:solidFill>
            <a:srgbClr val="662937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550" dirty="0">
              <a:latin typeface="Times New Roman"/>
              <a:cs typeface="Times New Roman"/>
            </a:endParaRPr>
          </a:p>
          <a:p>
            <a:pPr marR="6350" algn="ctr">
              <a:lnSpc>
                <a:spcPct val="100000"/>
              </a:lnSpc>
            </a:pPr>
            <a:r>
              <a:rPr lang="es-ES" sz="3600" dirty="0"/>
              <a:t>Aprobación de la materia</a:t>
            </a:r>
            <a:br>
              <a:rPr lang="es-ES" sz="3600" dirty="0"/>
            </a:br>
            <a:endParaRPr sz="2800" dirty="0">
              <a:latin typeface="Trebuchet MS"/>
              <a:cs typeface="Trebuchet MS"/>
            </a:endParaRP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E34C2BBD-F7B7-4F25-67A4-C0A13B8C3C2A}"/>
              </a:ext>
            </a:extLst>
          </p:cNvPr>
          <p:cNvSpPr txBox="1"/>
          <p:nvPr/>
        </p:nvSpPr>
        <p:spPr>
          <a:xfrm>
            <a:off x="440435" y="2437703"/>
            <a:ext cx="11309985" cy="2967479"/>
          </a:xfrm>
          <a:prstGeom prst="rect">
            <a:avLst/>
          </a:prstGeom>
        </p:spPr>
        <p:txBody>
          <a:bodyPr/>
          <a:lstStyle/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lang="es-ES" sz="2400" dirty="0"/>
              <a:t>2 exámenes parciales.</a:t>
            </a: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lang="es-ES" sz="2400" dirty="0"/>
              <a:t>Recuperatorios.</a:t>
            </a: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lang="es-ES" sz="2400" dirty="0"/>
              <a:t>Trabajo práctico de cada unidad.</a:t>
            </a: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lang="es-ES" sz="2400" dirty="0"/>
              <a:t>Asistencia: 75% de presentismo.</a:t>
            </a:r>
          </a:p>
        </p:txBody>
      </p:sp>
    </p:spTree>
    <p:extLst>
      <p:ext uri="{BB962C8B-B14F-4D97-AF65-F5344CB8AC3E}">
        <p14:creationId xmlns:p14="http://schemas.microsoft.com/office/powerpoint/2010/main" val="39140268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0436" y="614172"/>
            <a:ext cx="11309985" cy="1377300"/>
          </a:xfrm>
          <a:prstGeom prst="rect">
            <a:avLst/>
          </a:prstGeom>
          <a:solidFill>
            <a:srgbClr val="662937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550" dirty="0">
              <a:latin typeface="Times New Roman"/>
              <a:cs typeface="Times New Roman"/>
            </a:endParaRPr>
          </a:p>
          <a:p>
            <a:pPr marR="6350" algn="ctr">
              <a:lnSpc>
                <a:spcPct val="100000"/>
              </a:lnSpc>
            </a:pPr>
            <a:r>
              <a:rPr lang="es-ES" sz="3600" dirty="0"/>
              <a:t>Bibliografía obligatoria</a:t>
            </a:r>
            <a:br>
              <a:rPr lang="es-ES" sz="3600" dirty="0"/>
            </a:br>
            <a:endParaRPr sz="2800" dirty="0">
              <a:latin typeface="Trebuchet MS"/>
              <a:cs typeface="Trebuchet MS"/>
            </a:endParaRP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E34C2BBD-F7B7-4F25-67A4-C0A13B8C3C2A}"/>
              </a:ext>
            </a:extLst>
          </p:cNvPr>
          <p:cNvSpPr txBox="1"/>
          <p:nvPr/>
        </p:nvSpPr>
        <p:spPr>
          <a:xfrm>
            <a:off x="440435" y="2437703"/>
            <a:ext cx="11309985" cy="2967479"/>
          </a:xfrm>
          <a:prstGeom prst="rect">
            <a:avLst/>
          </a:prstGeom>
        </p:spPr>
        <p:txBody>
          <a:bodyPr/>
          <a:lstStyle/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lang="es-ES" sz="2000" dirty="0"/>
              <a:t>Deitel, H. &amp; Deitel, P. (2007). C# cómo programar. México: Pearson Prentice Hall.</a:t>
            </a: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lang="es-ES" sz="2000" dirty="0"/>
              <a:t>Brizuela, R. (2016). Apuntes de programación I. Buenos Aires: UAI.</a:t>
            </a: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lang="es-ES" sz="2000" dirty="0"/>
              <a:t>Ceballos, F. J. (2008). Microsoft C# lenguaje y aplicaciones. México: Alfaomega RA-MA.</a:t>
            </a: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lang="es-ES" sz="2000" dirty="0"/>
              <a:t>Nilsson, N. J. (2001). Inteligencia artificial: una nueva síntesis. Madrid: McGraw-Hill.</a:t>
            </a:r>
          </a:p>
        </p:txBody>
      </p:sp>
    </p:spTree>
    <p:extLst>
      <p:ext uri="{BB962C8B-B14F-4D97-AF65-F5344CB8AC3E}">
        <p14:creationId xmlns:p14="http://schemas.microsoft.com/office/powerpoint/2010/main" val="39140268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0436" y="614172"/>
            <a:ext cx="11309985" cy="1377300"/>
          </a:xfrm>
          <a:prstGeom prst="rect">
            <a:avLst/>
          </a:prstGeom>
          <a:solidFill>
            <a:srgbClr val="662937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550" dirty="0">
              <a:latin typeface="Times New Roman"/>
              <a:cs typeface="Times New Roman"/>
            </a:endParaRPr>
          </a:p>
          <a:p>
            <a:pPr marR="6350" algn="ctr">
              <a:lnSpc>
                <a:spcPct val="100000"/>
              </a:lnSpc>
            </a:pPr>
            <a:r>
              <a:rPr lang="es-ES" sz="3600" dirty="0"/>
              <a:t>Contenido de la asignatura</a:t>
            </a:r>
            <a:br>
              <a:rPr lang="es-ES" sz="3600" dirty="0"/>
            </a:br>
            <a:endParaRPr sz="2800" dirty="0">
              <a:latin typeface="Trebuchet MS"/>
              <a:cs typeface="Trebuchet MS"/>
            </a:endParaRP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E34C2BBD-F7B7-4F25-67A4-C0A13B8C3C2A}"/>
              </a:ext>
            </a:extLst>
          </p:cNvPr>
          <p:cNvSpPr txBox="1"/>
          <p:nvPr/>
        </p:nvSpPr>
        <p:spPr>
          <a:xfrm>
            <a:off x="440435" y="2437703"/>
            <a:ext cx="11309985" cy="2967479"/>
          </a:xfrm>
          <a:prstGeom prst="rect">
            <a:avLst/>
          </a:prstGeom>
        </p:spPr>
        <p:txBody>
          <a:bodyPr/>
          <a:lstStyle/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lang="es-ES" sz="2200" dirty="0"/>
              <a:t>Unidad 1 – Introducción a la programación visual (10 hs.)</a:t>
            </a: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lang="es-ES" sz="2200" dirty="0"/>
              <a:t>Unidad 2 – Estructuras dinámicas I (20 hs.)</a:t>
            </a: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lang="es-ES" sz="2200" dirty="0"/>
              <a:t>Unidad 3 – Estructuras dinámicas II (20 hs.)</a:t>
            </a: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lang="es-ES" sz="2200" dirty="0"/>
              <a:t>Unidad 4 – Archivos (5 hs.)</a:t>
            </a: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lang="es-ES" sz="2200" dirty="0"/>
              <a:t>Unidad 5 – Corte de control y apareo de archivos (20 hs.)</a:t>
            </a: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lang="es-ES" sz="2200" dirty="0"/>
              <a:t>Unidad 6 – Estilos de programación (5 hs.)</a:t>
            </a:r>
          </a:p>
        </p:txBody>
      </p:sp>
    </p:spTree>
    <p:extLst>
      <p:ext uri="{BB962C8B-B14F-4D97-AF65-F5344CB8AC3E}">
        <p14:creationId xmlns:p14="http://schemas.microsoft.com/office/powerpoint/2010/main" val="39140268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0436" y="614172"/>
            <a:ext cx="11309985" cy="1377300"/>
          </a:xfrm>
          <a:prstGeom prst="rect">
            <a:avLst/>
          </a:prstGeom>
          <a:solidFill>
            <a:srgbClr val="662937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550" dirty="0">
              <a:latin typeface="Times New Roman"/>
              <a:cs typeface="Times New Roman"/>
            </a:endParaRPr>
          </a:p>
          <a:p>
            <a:pPr marR="6350" algn="ctr">
              <a:lnSpc>
                <a:spcPct val="100000"/>
              </a:lnSpc>
            </a:pPr>
            <a:r>
              <a:rPr lang="es-ES" sz="3600" dirty="0"/>
              <a:t>Repaso general — Temas de hoy</a:t>
            </a:r>
            <a:br>
              <a:rPr lang="es-ES" sz="3600" dirty="0"/>
            </a:br>
            <a:endParaRPr sz="2800" dirty="0">
              <a:latin typeface="Trebuchet MS"/>
              <a:cs typeface="Trebuchet MS"/>
            </a:endParaRP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E34C2BBD-F7B7-4F25-67A4-C0A13B8C3C2A}"/>
              </a:ext>
            </a:extLst>
          </p:cNvPr>
          <p:cNvSpPr txBox="1"/>
          <p:nvPr/>
        </p:nvSpPr>
        <p:spPr>
          <a:xfrm>
            <a:off x="440435" y="2437703"/>
            <a:ext cx="11309985" cy="2967479"/>
          </a:xfrm>
          <a:prstGeom prst="rect">
            <a:avLst/>
          </a:prstGeom>
        </p:spPr>
        <p:txBody>
          <a:bodyPr/>
          <a:lstStyle/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lang="es-ES" sz="2400" dirty="0"/>
              <a:t>Variables.</a:t>
            </a: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lang="es-ES" sz="2400" dirty="0"/>
              <a:t>Vectores y matrices.</a:t>
            </a: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lang="es-ES" sz="2400" dirty="0"/>
              <a:t>Operadores lógicos.</a:t>
            </a: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lang="es-ES" sz="2400" dirty="0"/>
              <a:t>Entradas y salidas en C#.</a:t>
            </a: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lang="es-ES" sz="2400" dirty="0"/>
              <a:t>Estructuras de repetición.</a:t>
            </a: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lang="es-ES" sz="2400" dirty="0"/>
              <a:t>Introducción a .NET y Visual Studio C#.</a:t>
            </a:r>
          </a:p>
        </p:txBody>
      </p:sp>
    </p:spTree>
    <p:extLst>
      <p:ext uri="{BB962C8B-B14F-4D97-AF65-F5344CB8AC3E}">
        <p14:creationId xmlns:p14="http://schemas.microsoft.com/office/powerpoint/2010/main" val="39140268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0436" y="614172"/>
            <a:ext cx="11309985" cy="1377300"/>
          </a:xfrm>
          <a:prstGeom prst="rect">
            <a:avLst/>
          </a:prstGeom>
          <a:solidFill>
            <a:srgbClr val="662937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550" dirty="0">
              <a:latin typeface="Times New Roman"/>
              <a:cs typeface="Times New Roman"/>
            </a:endParaRPr>
          </a:p>
          <a:p>
            <a:pPr marR="6350" algn="ctr">
              <a:lnSpc>
                <a:spcPct val="100000"/>
              </a:lnSpc>
            </a:pPr>
            <a:r>
              <a:rPr lang="es-ES" sz="3600" dirty="0"/>
              <a:t>Variables — Conceptos</a:t>
            </a:r>
            <a:br>
              <a:rPr lang="es-ES" sz="3600" dirty="0"/>
            </a:br>
            <a:endParaRPr sz="2800" dirty="0">
              <a:latin typeface="Trebuchet MS"/>
              <a:cs typeface="Trebuchet MS"/>
            </a:endParaRP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E34C2BBD-F7B7-4F25-67A4-C0A13B8C3C2A}"/>
              </a:ext>
            </a:extLst>
          </p:cNvPr>
          <p:cNvSpPr txBox="1"/>
          <p:nvPr/>
        </p:nvSpPr>
        <p:spPr>
          <a:xfrm>
            <a:off x="440435" y="2437703"/>
            <a:ext cx="6200000" cy="2967479"/>
          </a:xfrm>
          <a:prstGeom prst="rect">
            <a:avLst/>
          </a:prstGeom>
        </p:spPr>
        <p:txBody>
          <a:bodyPr/>
          <a:lstStyle/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lang="es-ES" sz="1900" dirty="0"/>
              <a:t>Las variables almacenan valores que pueden cambiar mientras la aplicación se está ejecutando.</a:t>
            </a:r>
          </a:p>
          <a:p>
            <a:endParaRPr lang="es-ES" dirty="0"/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lang="es-ES" sz="1900" dirty="0"/>
              <a:t>Reglas para nombrarlas:</a:t>
            </a: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lang="es-ES" sz="1900" dirty="0"/>
              <a:t>Empezar con un carácter alfabético o guión bajo.</a:t>
            </a: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lang="es-ES" sz="1900" dirty="0"/>
              <a:t>No utilizar espacios ni símbolos.</a:t>
            </a: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lang="es-ES" sz="1900" dirty="0"/>
              <a:t>No utilizar palabras clave (por ejemplo, int).</a:t>
            </a:r>
          </a:p>
          <a:p>
            <a:endParaRPr lang="es-ES" dirty="0"/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lang="es-ES" sz="1900" dirty="0"/>
              <a:t>Convenciones de nombres: NombreCliente (PascalCasing), numeroCuenta (camelCasing).</a:t>
            </a:r>
          </a:p>
        </p:txBody>
      </p:sp>
      <p:pic>
        <p:nvPicPr>
          <p:cNvPr id="90" name="Elementos de una variab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0000" y="2450000"/>
            <a:ext cx="4600000" cy="21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40268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0436" y="614172"/>
            <a:ext cx="11309985" cy="1377300"/>
          </a:xfrm>
          <a:prstGeom prst="rect">
            <a:avLst/>
          </a:prstGeom>
          <a:solidFill>
            <a:srgbClr val="662937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550" dirty="0">
              <a:latin typeface="Times New Roman"/>
              <a:cs typeface="Times New Roman"/>
            </a:endParaRPr>
          </a:p>
          <a:p>
            <a:pPr marR="6350" algn="ctr">
              <a:lnSpc>
                <a:spcPct val="100000"/>
              </a:lnSpc>
            </a:pPr>
            <a:r>
              <a:rPr lang="es-ES" sz="3600" dirty="0"/>
              <a:t>Variables — Sintaxis y tipos</a:t>
            </a:r>
            <a:br>
              <a:rPr lang="es-ES" sz="3600" dirty="0"/>
            </a:br>
            <a:endParaRPr sz="2800" dirty="0">
              <a:latin typeface="Trebuchet MS"/>
              <a:cs typeface="Trebuchet MS"/>
            </a:endParaRP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E34C2BBD-F7B7-4F25-67A4-C0A13B8C3C2A}"/>
              </a:ext>
            </a:extLst>
          </p:cNvPr>
          <p:cNvSpPr txBox="1"/>
          <p:nvPr/>
        </p:nvSpPr>
        <p:spPr>
          <a:xfrm>
            <a:off x="440435" y="2437703"/>
            <a:ext cx="11309985" cy="2967479"/>
          </a:xfrm>
          <a:prstGeom prst="rect">
            <a:avLst/>
          </a:prstGeom>
        </p:spPr>
        <p:txBody>
          <a:bodyPr/>
          <a:lstStyle/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lang="es-ES" sz="1900" dirty="0"/>
              <a:t>Sintaxis para declarar una variable: TipoDeDato NombreVariable;</a:t>
            </a:r>
          </a:p>
          <a:p>
            <a:endParaRPr lang="es-ES" dirty="0"/>
          </a:p>
          <a:p>
            <a:pPr marL="457200">
              <a:lnSpc>
                <a:spcPct val="100000"/>
              </a:lnSpc>
              <a:spcBef>
                <a:spcPts val="600"/>
              </a:spcBef>
            </a:pPr>
            <a:r>
              <a:rPr lang="es-ES" sz="1600" dirty="0">
                <a:latin typeface="Courier New"/>
                <a:cs typeface="Courier New"/>
              </a:rPr>
              <a:t>int Divisor;</a:t>
            </a:r>
          </a:p>
          <a:p>
            <a:pPr marL="457200">
              <a:lnSpc>
                <a:spcPct val="100000"/>
              </a:lnSpc>
              <a:spcBef>
                <a:spcPts val="600"/>
              </a:spcBef>
            </a:pPr>
            <a:r>
              <a:rPr lang="es-ES" sz="1600" dirty="0">
                <a:latin typeface="Courier New"/>
                <a:cs typeface="Courier New"/>
              </a:rPr>
              <a:t>double Dividendo;</a:t>
            </a:r>
          </a:p>
          <a:p>
            <a:pPr marL="457200">
              <a:lnSpc>
                <a:spcPct val="100000"/>
              </a:lnSpc>
              <a:spcBef>
                <a:spcPts val="600"/>
              </a:spcBef>
            </a:pPr>
            <a:r>
              <a:rPr lang="es-ES" sz="1600" dirty="0">
                <a:latin typeface="Courier New"/>
                <a:cs typeface="Courier New"/>
              </a:rPr>
              <a:t>char x, y, z;</a:t>
            </a:r>
          </a:p>
          <a:p>
            <a:pPr marL="457200">
              <a:lnSpc>
                <a:spcPct val="100000"/>
              </a:lnSpc>
              <a:spcBef>
                <a:spcPts val="600"/>
              </a:spcBef>
            </a:pPr>
            <a:r>
              <a:rPr lang="es-ES" sz="1600" dirty="0">
                <a:latin typeface="Courier New"/>
                <a:cs typeface="Courier New"/>
              </a:rPr>
              <a:t>string Apellido;</a:t>
            </a:r>
          </a:p>
          <a:p>
            <a:pPr marL="457200">
              <a:lnSpc>
                <a:spcPct val="100000"/>
              </a:lnSpc>
              <a:spcBef>
                <a:spcPts val="600"/>
              </a:spcBef>
            </a:pPr>
            <a:r>
              <a:rPr lang="es-ES" sz="1600" dirty="0">
                <a:latin typeface="Courier New"/>
                <a:cs typeface="Courier New"/>
              </a:rPr>
              <a:t>Form Formulario;</a:t>
            </a:r>
          </a:p>
          <a:p>
            <a:endParaRPr lang="es-ES" dirty="0"/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lang="es-ES" sz="1900" dirty="0"/>
              <a:t>Tipos por valor: int, double, char, bool, struct. Tipos por referencia: string, class, Form, array, object.</a:t>
            </a:r>
          </a:p>
        </p:txBody>
      </p:sp>
    </p:spTree>
    <p:extLst>
      <p:ext uri="{BB962C8B-B14F-4D97-AF65-F5344CB8AC3E}">
        <p14:creationId xmlns:p14="http://schemas.microsoft.com/office/powerpoint/2010/main" val="39140268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0436" y="614172"/>
            <a:ext cx="11309985" cy="1377300"/>
          </a:xfrm>
          <a:prstGeom prst="rect">
            <a:avLst/>
          </a:prstGeom>
          <a:solidFill>
            <a:srgbClr val="662937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550" dirty="0">
              <a:latin typeface="Times New Roman"/>
              <a:cs typeface="Times New Roman"/>
            </a:endParaRPr>
          </a:p>
          <a:p>
            <a:pPr marR="6350" algn="ctr">
              <a:lnSpc>
                <a:spcPct val="100000"/>
              </a:lnSpc>
            </a:pPr>
            <a:r>
              <a:rPr lang="es-ES" sz="3600" dirty="0"/>
              <a:t>Variables — Asignación de valores</a:t>
            </a:r>
            <a:br>
              <a:rPr lang="es-ES" sz="3600" dirty="0"/>
            </a:br>
            <a:endParaRPr sz="2800" dirty="0">
              <a:latin typeface="Trebuchet MS"/>
              <a:cs typeface="Trebuchet MS"/>
            </a:endParaRP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E34C2BBD-F7B7-4F25-67A4-C0A13B8C3C2A}"/>
              </a:ext>
            </a:extLst>
          </p:cNvPr>
          <p:cNvSpPr txBox="1"/>
          <p:nvPr/>
        </p:nvSpPr>
        <p:spPr>
          <a:xfrm>
            <a:off x="440435" y="2437703"/>
            <a:ext cx="11309985" cy="2967479"/>
          </a:xfrm>
          <a:prstGeom prst="rect">
            <a:avLst/>
          </a:prstGeom>
        </p:spPr>
        <p:txBody>
          <a:bodyPr/>
          <a:lstStyle/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lang="es-ES" sz="2000" dirty="0"/>
              <a:t>Sintaxis para asignar un valor a una variable:</a:t>
            </a:r>
          </a:p>
          <a:p>
            <a:endParaRPr lang="es-ES" dirty="0"/>
          </a:p>
          <a:p>
            <a:pPr marL="457200">
              <a:lnSpc>
                <a:spcPct val="100000"/>
              </a:lnSpc>
              <a:spcBef>
                <a:spcPts val="600"/>
              </a:spcBef>
            </a:pPr>
            <a:r>
              <a:rPr lang="es-ES" sz="1600" dirty="0">
                <a:latin typeface="Courier New"/>
                <a:cs typeface="Courier New"/>
              </a:rPr>
              <a:t>int Numero = 1517;</a:t>
            </a:r>
          </a:p>
          <a:p>
            <a:endParaRPr lang="es-ES" dirty="0"/>
          </a:p>
          <a:p>
            <a:pPr marL="457200">
              <a:lnSpc>
                <a:spcPct val="100000"/>
              </a:lnSpc>
              <a:spcBef>
                <a:spcPts val="600"/>
              </a:spcBef>
            </a:pPr>
            <a:r>
              <a:rPr lang="es-ES" sz="1600" dirty="0">
                <a:latin typeface="Courier New"/>
                <a:cs typeface="Courier New"/>
              </a:rPr>
              <a:t>int          → tipo de dato</a:t>
            </a:r>
          </a:p>
          <a:p>
            <a:pPr marL="457200">
              <a:lnSpc>
                <a:spcPct val="100000"/>
              </a:lnSpc>
              <a:spcBef>
                <a:spcPts val="600"/>
              </a:spcBef>
            </a:pPr>
            <a:r>
              <a:rPr lang="es-ES" sz="1600" dirty="0">
                <a:latin typeface="Courier New"/>
                <a:cs typeface="Courier New"/>
              </a:rPr>
              <a:t>Numero       → nombre de la variable</a:t>
            </a:r>
          </a:p>
          <a:p>
            <a:pPr marL="457200">
              <a:lnSpc>
                <a:spcPct val="100000"/>
              </a:lnSpc>
              <a:spcBef>
                <a:spcPts val="600"/>
              </a:spcBef>
            </a:pPr>
            <a:r>
              <a:rPr lang="es-ES" sz="1600" dirty="0">
                <a:latin typeface="Courier New"/>
                <a:cs typeface="Courier New"/>
              </a:rPr>
              <a:t>1517         → valor asignado</a:t>
            </a:r>
          </a:p>
        </p:txBody>
      </p:sp>
      <p:pic>
        <p:nvPicPr>
          <p:cNvPr id="90" name="Sintaxis de asignació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0000" y="4600000"/>
            <a:ext cx="6600000" cy="168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40268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0436" y="614172"/>
            <a:ext cx="11309985" cy="1377300"/>
          </a:xfrm>
          <a:prstGeom prst="rect">
            <a:avLst/>
          </a:prstGeom>
          <a:solidFill>
            <a:srgbClr val="662937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550" dirty="0">
              <a:latin typeface="Times New Roman"/>
              <a:cs typeface="Times New Roman"/>
            </a:endParaRPr>
          </a:p>
          <a:p>
            <a:pPr marR="6350" algn="ctr">
              <a:lnSpc>
                <a:spcPct val="100000"/>
              </a:lnSpc>
            </a:pPr>
            <a:r>
              <a:rPr lang="es-ES" sz="3600" dirty="0"/>
              <a:t>Operadores lógicos</a:t>
            </a:r>
            <a:br>
              <a:rPr lang="es-ES" sz="3600" dirty="0"/>
            </a:br>
            <a:endParaRPr sz="2800" dirty="0">
              <a:latin typeface="Trebuchet MS"/>
              <a:cs typeface="Trebuchet MS"/>
            </a:endParaRP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E34C2BBD-F7B7-4F25-67A4-C0A13B8C3C2A}"/>
              </a:ext>
            </a:extLst>
          </p:cNvPr>
          <p:cNvSpPr txBox="1"/>
          <p:nvPr/>
        </p:nvSpPr>
        <p:spPr>
          <a:xfrm>
            <a:off x="440435" y="2437703"/>
            <a:ext cx="6700000" cy="2967479"/>
          </a:xfrm>
          <a:prstGeom prst="rect">
            <a:avLst/>
          </a:prstGeom>
        </p:spPr>
        <p:txBody>
          <a:bodyPr/>
          <a:lstStyle/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lang="es-ES" sz="1700" dirty="0"/>
              <a:t>AND lógico:  x &amp; y   →  AND bit a bit / AND lógico booleano</a:t>
            </a: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lang="es-ES" sz="1700" dirty="0"/>
              <a:t>XOR lógico:  x ^ y   →  XOR bit a bit / XOR lógico booleano</a:t>
            </a: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lang="es-ES" sz="1700" dirty="0"/>
              <a:t>OR lógico:   x | y   →  OR bit a bit / OR lógico booleano</a:t>
            </a: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lang="es-ES" sz="1700" dirty="0"/>
              <a:t>AND condicional:  x &amp;&amp; y   →  evalúa y solo si x es true</a:t>
            </a: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lang="es-ES" sz="1700" dirty="0"/>
              <a:t>OR condicional:   x || y   →  evalúa y solo si x es false</a:t>
            </a: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lang="es-ES" sz="1700" dirty="0"/>
              <a:t>Uso combinado de null:  x ?? y   →  se evalúa como y si x es null; si no, como x</a:t>
            </a: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lang="es-ES" sz="1700" dirty="0"/>
              <a:t>Condicional:  x ? y : z   →  se evalúa como y si x es true, como z si x es false</a:t>
            </a:r>
          </a:p>
        </p:txBody>
      </p:sp>
      <p:pic>
        <p:nvPicPr>
          <p:cNvPr id="90" name="Tabla de operadores lógico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0000" y="2200000"/>
            <a:ext cx="4200000" cy="247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40268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0436" y="614172"/>
            <a:ext cx="11309985" cy="1377300"/>
          </a:xfrm>
          <a:prstGeom prst="rect">
            <a:avLst/>
          </a:prstGeom>
          <a:solidFill>
            <a:srgbClr val="662937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550" dirty="0">
              <a:latin typeface="Times New Roman"/>
              <a:cs typeface="Times New Roman"/>
            </a:endParaRPr>
          </a:p>
          <a:p>
            <a:pPr marR="6350" algn="ctr">
              <a:lnSpc>
                <a:spcPct val="100000"/>
              </a:lnSpc>
            </a:pPr>
            <a:r>
              <a:rPr lang="es-ES" sz="3600" dirty="0"/>
              <a:t>Vectores y matrices — Conceptos</a:t>
            </a:r>
            <a:br>
              <a:rPr lang="es-ES" sz="3600" dirty="0"/>
            </a:br>
            <a:endParaRPr sz="2800" dirty="0">
              <a:latin typeface="Trebuchet MS"/>
              <a:cs typeface="Trebuchet MS"/>
            </a:endParaRP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E34C2BBD-F7B7-4F25-67A4-C0A13B8C3C2A}"/>
              </a:ext>
            </a:extLst>
          </p:cNvPr>
          <p:cNvSpPr txBox="1"/>
          <p:nvPr/>
        </p:nvSpPr>
        <p:spPr>
          <a:xfrm>
            <a:off x="440435" y="2437703"/>
            <a:ext cx="11309985" cy="2967479"/>
          </a:xfrm>
          <a:prstGeom prst="rect">
            <a:avLst/>
          </a:prstGeom>
        </p:spPr>
        <p:txBody>
          <a:bodyPr/>
          <a:lstStyle/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lang="es-ES" sz="2000" dirty="0"/>
              <a:t>Estáticos:</a:t>
            </a:r>
          </a:p>
          <a:p>
            <a:pPr marL="457200">
              <a:lnSpc>
                <a:spcPct val="100000"/>
              </a:lnSpc>
              <a:spcBef>
                <a:spcPts val="600"/>
              </a:spcBef>
            </a:pPr>
            <a:r>
              <a:rPr lang="es-ES" sz="1600" dirty="0">
                <a:latin typeface="Courier New"/>
                <a:cs typeface="Courier New"/>
              </a:rPr>
              <a:t>int[] array = new int[2];</a:t>
            </a:r>
          </a:p>
          <a:p>
            <a:endParaRPr lang="es-ES" dirty="0"/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lang="es-ES" sz="2000" dirty="0"/>
              <a:t>Dinámicos:</a:t>
            </a:r>
          </a:p>
          <a:p>
            <a:pPr marL="457200">
              <a:lnSpc>
                <a:spcPct val="100000"/>
              </a:lnSpc>
              <a:spcBef>
                <a:spcPts val="600"/>
              </a:spcBef>
            </a:pPr>
            <a:r>
              <a:rPr lang="es-ES" sz="1600" dirty="0">
                <a:latin typeface="Courier New"/>
                <a:cs typeface="Courier New"/>
              </a:rPr>
              <a:t>Array.Resize(ref array, 4);</a:t>
            </a:r>
          </a:p>
          <a:p>
            <a:endParaRPr lang="es-ES" dirty="0"/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lang="es-ES" sz="2000" dirty="0"/>
              <a:t>Matrices (arrays multidimensionales):</a:t>
            </a:r>
          </a:p>
          <a:p>
            <a:pPr marL="457200">
              <a:lnSpc>
                <a:spcPct val="100000"/>
              </a:lnSpc>
              <a:spcBef>
                <a:spcPts val="600"/>
              </a:spcBef>
            </a:pPr>
            <a:r>
              <a:rPr lang="es-ES" sz="1600" dirty="0">
                <a:latin typeface="Courier New"/>
                <a:cs typeface="Courier New"/>
              </a:rPr>
              <a:t>int[,] matriz = new int[100, 200];</a:t>
            </a:r>
          </a:p>
        </p:txBody>
      </p:sp>
    </p:spTree>
    <p:extLst>
      <p:ext uri="{BB962C8B-B14F-4D97-AF65-F5344CB8AC3E}">
        <p14:creationId xmlns:p14="http://schemas.microsoft.com/office/powerpoint/2010/main" val="39140268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0436" y="614172"/>
            <a:ext cx="11309985" cy="1377300"/>
          </a:xfrm>
          <a:prstGeom prst="rect">
            <a:avLst/>
          </a:prstGeom>
          <a:solidFill>
            <a:srgbClr val="662937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550" dirty="0">
              <a:latin typeface="Times New Roman"/>
              <a:cs typeface="Times New Roman"/>
            </a:endParaRPr>
          </a:p>
          <a:p>
            <a:pPr marR="6350" algn="ctr">
              <a:lnSpc>
                <a:spcPct val="100000"/>
              </a:lnSpc>
            </a:pPr>
            <a:r>
              <a:rPr lang="es-ES" sz="3600" dirty="0"/>
              <a:t>Vectores y matrices — Características</a:t>
            </a:r>
            <a:br>
              <a:rPr lang="es-ES" sz="3600" dirty="0"/>
            </a:br>
            <a:endParaRPr sz="2800" dirty="0">
              <a:latin typeface="Trebuchet MS"/>
              <a:cs typeface="Trebuchet MS"/>
            </a:endParaRP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E34C2BBD-F7B7-4F25-67A4-C0A13B8C3C2A}"/>
              </a:ext>
            </a:extLst>
          </p:cNvPr>
          <p:cNvSpPr txBox="1"/>
          <p:nvPr/>
        </p:nvSpPr>
        <p:spPr>
          <a:xfrm>
            <a:off x="440435" y="2437703"/>
            <a:ext cx="11309985" cy="2967479"/>
          </a:xfrm>
          <a:prstGeom prst="rect">
            <a:avLst/>
          </a:prstGeom>
        </p:spPr>
        <p:txBody>
          <a:bodyPr/>
          <a:lstStyle/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lang="es-ES" sz="1800" dirty="0"/>
              <a:t>Un elemento es un valor dentro de un array; su longitud es el número total de elementos que puede contener.</a:t>
            </a: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lang="es-ES" sz="1800" dirty="0"/>
              <a:t>Posee un límite inferior de cero por defecto y cualquier número como límite superior.</a:t>
            </a: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lang="es-ES" sz="1800" dirty="0"/>
              <a:t>Tiene capacidad fija: para ampliarla hay que crear un nuevo array o usar Resize (copia de forma transparente).</a:t>
            </a: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lang="es-ES" sz="1800" dirty="0"/>
              <a:t>Tamaño máximo: 2 GB en sistemas de 64 bits.</a:t>
            </a:r>
          </a:p>
          <a:p>
            <a:endParaRPr lang="es-ES" dirty="0"/>
          </a:p>
          <a:p>
            <a:pPr marL="457200">
              <a:lnSpc>
                <a:spcPct val="100000"/>
              </a:lnSpc>
              <a:spcBef>
                <a:spcPts val="600"/>
              </a:spcBef>
            </a:pPr>
            <a:r>
              <a:rPr lang="es-ES" sz="1600" dirty="0">
                <a:latin typeface="Courier New"/>
                <a:cs typeface="Courier New"/>
              </a:rPr>
              <a:t>char[] array = new char[4];</a:t>
            </a:r>
          </a:p>
          <a:p>
            <a:pPr marL="457200">
              <a:lnSpc>
                <a:spcPct val="100000"/>
              </a:lnSpc>
              <a:spcBef>
                <a:spcPts val="600"/>
              </a:spcBef>
            </a:pPr>
            <a:r>
              <a:rPr lang="es-ES" sz="1600" dirty="0">
                <a:latin typeface="Courier New"/>
                <a:cs typeface="Courier New"/>
              </a:rPr>
              <a:t>Array.Resize(ref array, 2);</a:t>
            </a:r>
          </a:p>
        </p:txBody>
      </p:sp>
    </p:spTree>
    <p:extLst>
      <p:ext uri="{BB962C8B-B14F-4D97-AF65-F5344CB8AC3E}">
        <p14:creationId xmlns:p14="http://schemas.microsoft.com/office/powerpoint/2010/main" val="39140268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0436" y="614172"/>
            <a:ext cx="11309985" cy="1377300"/>
          </a:xfrm>
          <a:prstGeom prst="rect">
            <a:avLst/>
          </a:prstGeom>
          <a:solidFill>
            <a:srgbClr val="662937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550" dirty="0">
              <a:latin typeface="Times New Roman"/>
              <a:cs typeface="Times New Roman"/>
            </a:endParaRPr>
          </a:p>
          <a:p>
            <a:pPr marR="6350" algn="ctr">
              <a:lnSpc>
                <a:spcPct val="100000"/>
              </a:lnSpc>
            </a:pPr>
            <a:r>
              <a:rPr lang="es-ES" sz="3600" dirty="0"/>
              <a:t>Entradas y salidas en C#</a:t>
            </a:r>
            <a:br>
              <a:rPr lang="es-ES" sz="3600" dirty="0"/>
            </a:br>
            <a:endParaRPr sz="2800" dirty="0">
              <a:latin typeface="Trebuchet MS"/>
              <a:cs typeface="Trebuchet MS"/>
            </a:endParaRP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E34C2BBD-F7B7-4F25-67A4-C0A13B8C3C2A}"/>
              </a:ext>
            </a:extLst>
          </p:cNvPr>
          <p:cNvSpPr txBox="1"/>
          <p:nvPr/>
        </p:nvSpPr>
        <p:spPr>
          <a:xfrm>
            <a:off x="440435" y="2437703"/>
            <a:ext cx="11309985" cy="2967479"/>
          </a:xfrm>
          <a:prstGeom prst="rect">
            <a:avLst/>
          </a:prstGeom>
        </p:spPr>
        <p:txBody>
          <a:bodyPr/>
          <a:lstStyle/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lang="es-ES" sz="2000" dirty="0"/>
              <a:t>En C# las entradas y salidas se manejan como flujos (streams).</a:t>
            </a:r>
          </a:p>
          <a:p>
            <a:endParaRPr lang="es-ES" dirty="0"/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lang="es-ES" sz="2000" dirty="0"/>
              <a:t>Salida de datos por pantalla:</a:t>
            </a:r>
          </a:p>
          <a:p>
            <a:pPr marL="457200">
              <a:lnSpc>
                <a:spcPct val="100000"/>
              </a:lnSpc>
              <a:spcBef>
                <a:spcPts val="600"/>
              </a:spcBef>
            </a:pPr>
            <a:r>
              <a:rPr lang="es-ES" sz="1600" dirty="0">
                <a:latin typeface="Courier New"/>
                <a:cs typeface="Courier New"/>
              </a:rPr>
              <a:t>Console.WriteLine("Introduzca un texto");</a:t>
            </a:r>
          </a:p>
          <a:p>
            <a:endParaRPr lang="es-ES" dirty="0"/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lang="es-ES" sz="2000" dirty="0"/>
              <a:t>Entrada de datos por teclado:</a:t>
            </a:r>
          </a:p>
          <a:p>
            <a:pPr marL="457200">
              <a:lnSpc>
                <a:spcPct val="100000"/>
              </a:lnSpc>
              <a:spcBef>
                <a:spcPts val="600"/>
              </a:spcBef>
            </a:pPr>
            <a:r>
              <a:rPr lang="es-ES" sz="1600" dirty="0">
                <a:latin typeface="Courier New"/>
                <a:cs typeface="Courier New"/>
              </a:rPr>
              <a:t>string texto = Console.ReadLine();</a:t>
            </a:r>
          </a:p>
          <a:p>
            <a:pPr marL="457200">
              <a:lnSpc>
                <a:spcPct val="100000"/>
              </a:lnSpc>
              <a:spcBef>
                <a:spcPts val="600"/>
              </a:spcBef>
            </a:pPr>
            <a:r>
              <a:rPr lang="es-ES" sz="1600" dirty="0">
                <a:latin typeface="Courier New"/>
                <a:cs typeface="Courier New"/>
              </a:rPr>
              <a:t>Console.WriteLine("El texto introducido es: " + texto);</a:t>
            </a:r>
          </a:p>
        </p:txBody>
      </p:sp>
    </p:spTree>
    <p:extLst>
      <p:ext uri="{BB962C8B-B14F-4D97-AF65-F5344CB8AC3E}">
        <p14:creationId xmlns:p14="http://schemas.microsoft.com/office/powerpoint/2010/main" val="39140268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0436" y="614172"/>
            <a:ext cx="11309985" cy="1377300"/>
          </a:xfrm>
          <a:prstGeom prst="rect">
            <a:avLst/>
          </a:prstGeom>
          <a:solidFill>
            <a:srgbClr val="662937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550" dirty="0">
              <a:latin typeface="Times New Roman"/>
              <a:cs typeface="Times New Roman"/>
            </a:endParaRPr>
          </a:p>
          <a:p>
            <a:pPr marR="6350" algn="ctr">
              <a:lnSpc>
                <a:spcPct val="100000"/>
              </a:lnSpc>
            </a:pPr>
            <a:r>
              <a:rPr lang="es-ES" sz="3600" dirty="0"/>
              <a:t>Estructuras de repetición: while y for</a:t>
            </a:r>
            <a:br>
              <a:rPr lang="es-ES" sz="3600" dirty="0"/>
            </a:br>
            <a:endParaRPr sz="2800" dirty="0">
              <a:latin typeface="Trebuchet MS"/>
              <a:cs typeface="Trebuchet MS"/>
            </a:endParaRP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E34C2BBD-F7B7-4F25-67A4-C0A13B8C3C2A}"/>
              </a:ext>
            </a:extLst>
          </p:cNvPr>
          <p:cNvSpPr txBox="1"/>
          <p:nvPr/>
        </p:nvSpPr>
        <p:spPr>
          <a:xfrm>
            <a:off x="440435" y="2437703"/>
            <a:ext cx="11309985" cy="2967479"/>
          </a:xfrm>
          <a:prstGeom prst="rect">
            <a:avLst/>
          </a:prstGeom>
        </p:spPr>
        <p:txBody>
          <a:bodyPr/>
          <a:lstStyle/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lang="es-ES" sz="2000" dirty="0"/>
              <a:t>while:</a:t>
            </a:r>
          </a:p>
          <a:p>
            <a:pPr marL="457200">
              <a:lnSpc>
                <a:spcPct val="100000"/>
              </a:lnSpc>
              <a:spcBef>
                <a:spcPts val="600"/>
              </a:spcBef>
            </a:pPr>
            <a:r>
              <a:rPr lang="es-ES" sz="1600" dirty="0">
                <a:latin typeface="Courier New"/>
                <a:cs typeface="Courier New"/>
              </a:rPr>
              <a:t>while (&lt;expresión&gt;) { //... }</a:t>
            </a:r>
          </a:p>
          <a:p>
            <a:pPr marL="457200">
              <a:lnSpc>
                <a:spcPct val="100000"/>
              </a:lnSpc>
              <a:spcBef>
                <a:spcPts val="600"/>
              </a:spcBef>
            </a:pPr>
            <a:r>
              <a:rPr lang="es-ES" sz="1600" dirty="0">
                <a:latin typeface="Courier New"/>
                <a:cs typeface="Courier New"/>
              </a:rPr>
              <a:t>do { //... } while (&lt;expresión&gt;);</a:t>
            </a:r>
          </a:p>
          <a:p>
            <a:endParaRPr lang="es-ES" dirty="0"/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lang="es-ES" sz="2000" dirty="0"/>
              <a:t>for:</a:t>
            </a:r>
          </a:p>
          <a:p>
            <a:pPr marL="457200">
              <a:lnSpc>
                <a:spcPct val="100000"/>
              </a:lnSpc>
              <a:spcBef>
                <a:spcPts val="600"/>
              </a:spcBef>
            </a:pPr>
            <a:r>
              <a:rPr lang="es-ES" sz="1600" dirty="0">
                <a:latin typeface="Courier New"/>
                <a:cs typeface="Courier New"/>
              </a:rPr>
              <a:t>for (int i = 0; i &lt;= 4; i++) { //... }</a:t>
            </a:r>
          </a:p>
        </p:txBody>
      </p:sp>
    </p:spTree>
    <p:extLst>
      <p:ext uri="{BB962C8B-B14F-4D97-AF65-F5344CB8AC3E}">
        <p14:creationId xmlns:p14="http://schemas.microsoft.com/office/powerpoint/2010/main" val="39140268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0436" y="614172"/>
            <a:ext cx="11309985" cy="1377300"/>
          </a:xfrm>
          <a:prstGeom prst="rect">
            <a:avLst/>
          </a:prstGeom>
          <a:solidFill>
            <a:srgbClr val="662937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550" dirty="0">
              <a:latin typeface="Times New Roman"/>
              <a:cs typeface="Times New Roman"/>
            </a:endParaRPr>
          </a:p>
          <a:p>
            <a:pPr marR="6350" algn="ctr">
              <a:lnSpc>
                <a:spcPct val="100000"/>
              </a:lnSpc>
            </a:pPr>
            <a:r>
              <a:rPr lang="es-ES" sz="3600" dirty="0"/>
              <a:t>Ejercicio 1 (C#)</a:t>
            </a:r>
            <a:br>
              <a:rPr lang="es-ES" sz="3600" dirty="0"/>
            </a:br>
            <a:endParaRPr sz="2800" dirty="0">
              <a:latin typeface="Trebuchet MS"/>
              <a:cs typeface="Trebuchet MS"/>
            </a:endParaRP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E34C2BBD-F7B7-4F25-67A4-C0A13B8C3C2A}"/>
              </a:ext>
            </a:extLst>
          </p:cNvPr>
          <p:cNvSpPr txBox="1"/>
          <p:nvPr/>
        </p:nvSpPr>
        <p:spPr>
          <a:xfrm>
            <a:off x="440435" y="2437703"/>
            <a:ext cx="11309985" cy="2967479"/>
          </a:xfrm>
          <a:prstGeom prst="rect">
            <a:avLst/>
          </a:prstGeom>
        </p:spPr>
        <p:txBody>
          <a:bodyPr/>
          <a:lstStyle/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lang="es-ES" sz="2200" dirty="0"/>
              <a:t>Escribir un programa de consola en C# que solicite por teclado dos números enteros, y muestre por pantalla cuál de los dos es mayor, utilizando el operador condicional (?:).</a:t>
            </a:r>
          </a:p>
        </p:txBody>
      </p:sp>
    </p:spTree>
    <p:extLst>
      <p:ext uri="{BB962C8B-B14F-4D97-AF65-F5344CB8AC3E}">
        <p14:creationId xmlns:p14="http://schemas.microsoft.com/office/powerpoint/2010/main" val="39140268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0436" y="614172"/>
            <a:ext cx="11309985" cy="1377300"/>
          </a:xfrm>
          <a:prstGeom prst="rect">
            <a:avLst/>
          </a:prstGeom>
          <a:solidFill>
            <a:srgbClr val="662937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550" dirty="0">
              <a:latin typeface="Times New Roman"/>
              <a:cs typeface="Times New Roman"/>
            </a:endParaRPr>
          </a:p>
          <a:p>
            <a:pPr marR="6350" algn="ctr">
              <a:lnSpc>
                <a:spcPct val="100000"/>
              </a:lnSpc>
            </a:pPr>
            <a:r>
              <a:rPr lang="es-ES" sz="3600" dirty="0"/>
              <a:t>Solución ejercicio 1</a:t>
            </a:r>
            <a:br>
              <a:rPr lang="es-ES" sz="3600" dirty="0"/>
            </a:br>
            <a:endParaRPr sz="2800" dirty="0">
              <a:latin typeface="Trebuchet MS"/>
              <a:cs typeface="Trebuchet MS"/>
            </a:endParaRP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E34C2BBD-F7B7-4F25-67A4-C0A13B8C3C2A}"/>
              </a:ext>
            </a:extLst>
          </p:cNvPr>
          <p:cNvSpPr txBox="1"/>
          <p:nvPr/>
        </p:nvSpPr>
        <p:spPr>
          <a:xfrm>
            <a:off x="440435" y="2437703"/>
            <a:ext cx="11309985" cy="2967479"/>
          </a:xfrm>
          <a:prstGeom prst="rect">
            <a:avLst/>
          </a:prstGeom>
        </p:spPr>
        <p:txBody>
          <a:bodyPr/>
          <a:lstStyle/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lang="es-ES" sz="2400" dirty="0"/>
              <a:t>El código completo, comentado, con la resolución paso a paso y el resultado explicado de una ejecución de ejemplo, está en el archivo adjunto:</a:t>
            </a:r>
          </a:p>
          <a:p>
            <a:endParaRPr lang="es-ES" dirty="0"/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lang="es-ES" sz="2400" dirty="0"/>
              <a:t>Ejercicio1_MayorDeDos.cs</a:t>
            </a:r>
          </a:p>
        </p:txBody>
      </p:sp>
    </p:spTree>
    <p:extLst>
      <p:ext uri="{BB962C8B-B14F-4D97-AF65-F5344CB8AC3E}">
        <p14:creationId xmlns:p14="http://schemas.microsoft.com/office/powerpoint/2010/main" val="39140268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0436" y="614172"/>
            <a:ext cx="11309985" cy="1377300"/>
          </a:xfrm>
          <a:prstGeom prst="rect">
            <a:avLst/>
          </a:prstGeom>
          <a:solidFill>
            <a:srgbClr val="662937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550" dirty="0">
              <a:latin typeface="Times New Roman"/>
              <a:cs typeface="Times New Roman"/>
            </a:endParaRPr>
          </a:p>
          <a:p>
            <a:pPr marR="6350" algn="ctr">
              <a:lnSpc>
                <a:spcPct val="100000"/>
              </a:lnSpc>
            </a:pPr>
            <a:r>
              <a:rPr lang="es-ES" sz="3600" dirty="0"/>
              <a:t>Ejercicio 2 (C#)</a:t>
            </a:r>
            <a:br>
              <a:rPr lang="es-ES" sz="3600" dirty="0"/>
            </a:br>
            <a:endParaRPr sz="2800" dirty="0">
              <a:latin typeface="Trebuchet MS"/>
              <a:cs typeface="Trebuchet MS"/>
            </a:endParaRP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E34C2BBD-F7B7-4F25-67A4-C0A13B8C3C2A}"/>
              </a:ext>
            </a:extLst>
          </p:cNvPr>
          <p:cNvSpPr txBox="1"/>
          <p:nvPr/>
        </p:nvSpPr>
        <p:spPr>
          <a:xfrm>
            <a:off x="440435" y="2437703"/>
            <a:ext cx="11309985" cy="2967479"/>
          </a:xfrm>
          <a:prstGeom prst="rect">
            <a:avLst/>
          </a:prstGeom>
        </p:spPr>
        <p:txBody>
          <a:bodyPr/>
          <a:lstStyle/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lang="es-ES" sz="2200" dirty="0"/>
              <a:t>Escribir un programa de consola en C# que declare un array de 5 números enteros, lo recorra con un ciclo for sumando sus valores, y muestre por pantalla el promedio.</a:t>
            </a:r>
          </a:p>
        </p:txBody>
      </p:sp>
    </p:spTree>
    <p:extLst>
      <p:ext uri="{BB962C8B-B14F-4D97-AF65-F5344CB8AC3E}">
        <p14:creationId xmlns:p14="http://schemas.microsoft.com/office/powerpoint/2010/main" val="39140268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0436" y="614172"/>
            <a:ext cx="11309985" cy="1377300"/>
          </a:xfrm>
          <a:prstGeom prst="rect">
            <a:avLst/>
          </a:prstGeom>
          <a:solidFill>
            <a:srgbClr val="662937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550" dirty="0">
              <a:latin typeface="Times New Roman"/>
              <a:cs typeface="Times New Roman"/>
            </a:endParaRPr>
          </a:p>
          <a:p>
            <a:pPr marR="6350" algn="ctr">
              <a:lnSpc>
                <a:spcPct val="100000"/>
              </a:lnSpc>
            </a:pPr>
            <a:r>
              <a:rPr lang="es-ES" sz="3600" dirty="0"/>
              <a:t>Solución ejercicio 2</a:t>
            </a:r>
            <a:br>
              <a:rPr lang="es-ES" sz="3600" dirty="0"/>
            </a:br>
            <a:endParaRPr sz="2800" dirty="0">
              <a:latin typeface="Trebuchet MS"/>
              <a:cs typeface="Trebuchet MS"/>
            </a:endParaRP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E34C2BBD-F7B7-4F25-67A4-C0A13B8C3C2A}"/>
              </a:ext>
            </a:extLst>
          </p:cNvPr>
          <p:cNvSpPr txBox="1"/>
          <p:nvPr/>
        </p:nvSpPr>
        <p:spPr>
          <a:xfrm>
            <a:off x="440435" y="2437703"/>
            <a:ext cx="11309985" cy="2967479"/>
          </a:xfrm>
          <a:prstGeom prst="rect">
            <a:avLst/>
          </a:prstGeom>
        </p:spPr>
        <p:txBody>
          <a:bodyPr/>
          <a:lstStyle/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lang="es-ES" sz="2400" dirty="0"/>
              <a:t>El código completo, comentado, con la resolución paso a paso y el resultado explicado de una ejecución de ejemplo, está en el archivo adjunto:</a:t>
            </a:r>
          </a:p>
          <a:p>
            <a:endParaRPr lang="es-ES" dirty="0"/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lang="es-ES" sz="2400" dirty="0"/>
              <a:t>Ejercicio2_PromedioArray.cs</a:t>
            </a:r>
          </a:p>
        </p:txBody>
      </p:sp>
    </p:spTree>
    <p:extLst>
      <p:ext uri="{BB962C8B-B14F-4D97-AF65-F5344CB8AC3E}">
        <p14:creationId xmlns:p14="http://schemas.microsoft.com/office/powerpoint/2010/main" val="39140268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0436" y="614172"/>
            <a:ext cx="11309985" cy="1377300"/>
          </a:xfrm>
          <a:prstGeom prst="rect">
            <a:avLst/>
          </a:prstGeom>
          <a:solidFill>
            <a:srgbClr val="662937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550" dirty="0">
              <a:latin typeface="Times New Roman"/>
              <a:cs typeface="Times New Roman"/>
            </a:endParaRPr>
          </a:p>
          <a:p>
            <a:pPr marR="6350" algn="ctr">
              <a:lnSpc>
                <a:spcPct val="100000"/>
              </a:lnSpc>
            </a:pPr>
            <a:r>
              <a:rPr lang="es-ES" sz="3600" dirty="0"/>
              <a:t>Espacios de nombres (namespaces)</a:t>
            </a:r>
            <a:br>
              <a:rPr lang="es-ES" sz="3600" dirty="0"/>
            </a:br>
            <a:endParaRPr sz="2800" dirty="0">
              <a:latin typeface="Trebuchet MS"/>
              <a:cs typeface="Trebuchet MS"/>
            </a:endParaRP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E34C2BBD-F7B7-4F25-67A4-C0A13B8C3C2A}"/>
              </a:ext>
            </a:extLst>
          </p:cNvPr>
          <p:cNvSpPr txBox="1"/>
          <p:nvPr/>
        </p:nvSpPr>
        <p:spPr>
          <a:xfrm>
            <a:off x="440435" y="2437703"/>
            <a:ext cx="11309985" cy="2967479"/>
          </a:xfrm>
          <a:prstGeom prst="rect">
            <a:avLst/>
          </a:prstGeom>
        </p:spPr>
        <p:txBody>
          <a:bodyPr/>
          <a:lstStyle/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lang="es-ES" sz="1900" dirty="0"/>
              <a:t>Son agrupamientos lógicos de funciones dentro de las librerías de .NET.</a:t>
            </a: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lang="es-ES" sz="1900" dirty="0"/>
              <a:t>El espacio de nombres del framework de .NET comienza con “System”.</a:t>
            </a: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lang="es-ES" sz="1900" dirty="0"/>
              <a:t>Al crear programas en .NET se define un espacio de nombres para todas sus funciones.</a:t>
            </a: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lang="es-ES" sz="1900" dirty="0"/>
              <a:t>En System.Console, “System” indica que esas funciones pertenecen a la estructura básica de C# y de la plataforma .NET.</a:t>
            </a: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lang="es-ES" sz="1900" dirty="0"/>
              <a:t>using System.Linq; permite importar las librerías de ese espacio de nombres.</a:t>
            </a:r>
          </a:p>
        </p:txBody>
      </p:sp>
    </p:spTree>
    <p:extLst>
      <p:ext uri="{BB962C8B-B14F-4D97-AF65-F5344CB8AC3E}">
        <p14:creationId xmlns:p14="http://schemas.microsoft.com/office/powerpoint/2010/main" val="39140268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0436" y="614172"/>
            <a:ext cx="11309985" cy="1377300"/>
          </a:xfrm>
          <a:prstGeom prst="rect">
            <a:avLst/>
          </a:prstGeom>
          <a:solidFill>
            <a:srgbClr val="662937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550" dirty="0">
              <a:latin typeface="Times New Roman"/>
              <a:cs typeface="Times New Roman"/>
            </a:endParaRPr>
          </a:p>
          <a:p>
            <a:pPr marR="6350" algn="ctr">
              <a:lnSpc>
                <a:spcPct val="100000"/>
              </a:lnSpc>
            </a:pPr>
            <a:r>
              <a:rPr lang="es-ES" sz="3600" dirty="0"/>
              <a:t>Visual Studio — Entorno de desarrollo (IDE)</a:t>
            </a:r>
            <a:br>
              <a:rPr lang="es-ES" sz="3600" dirty="0"/>
            </a:br>
            <a:endParaRPr sz="2800" dirty="0">
              <a:latin typeface="Trebuchet MS"/>
              <a:cs typeface="Trebuchet MS"/>
            </a:endParaRP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E34C2BBD-F7B7-4F25-67A4-C0A13B8C3C2A}"/>
              </a:ext>
            </a:extLst>
          </p:cNvPr>
          <p:cNvSpPr txBox="1"/>
          <p:nvPr/>
        </p:nvSpPr>
        <p:spPr>
          <a:xfrm>
            <a:off x="440435" y="2437703"/>
            <a:ext cx="11309985" cy="2967479"/>
          </a:xfrm>
          <a:prstGeom prst="rect">
            <a:avLst/>
          </a:prstGeom>
        </p:spPr>
        <p:txBody>
          <a:bodyPr/>
          <a:lstStyle/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lang="es-ES" sz="1800" dirty="0"/>
              <a:t>VS.NET simplifica el desarrollo de aplicaciones .NET proporcionando un entorno de desarrollo simple y unificado.</a:t>
            </a:r>
          </a:p>
          <a:p>
            <a:endParaRPr lang="es-ES" dirty="0"/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lang="es-ES" sz="1800" dirty="0"/>
              <a:t>Un solo IDE (Integrated Development Environment), con soporte para varios lenguajes .NET (C#, VB.NET, entre otros) y múltiples tipos de proyecto.</a:t>
            </a: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lang="es-ES" sz="1800" dirty="0"/>
              <a:t>Interfaz personalizable, con utilidades adicionales: acceso a datos, depurador, IntelliSense, emuladores para móviles, etc.</a:t>
            </a:r>
          </a:p>
        </p:txBody>
      </p:sp>
      <p:pic>
        <p:nvPicPr>
          <p:cNvPr id="90" name="Entorno de Visual Studi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6000" y="4200000"/>
            <a:ext cx="4700000" cy="245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402681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0436" y="614172"/>
            <a:ext cx="11309985" cy="1377300"/>
          </a:xfrm>
          <a:prstGeom prst="rect">
            <a:avLst/>
          </a:prstGeom>
          <a:solidFill>
            <a:srgbClr val="662937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550" dirty="0">
              <a:latin typeface="Times New Roman"/>
              <a:cs typeface="Times New Roman"/>
            </a:endParaRPr>
          </a:p>
          <a:p>
            <a:pPr marR="6350" algn="ctr">
              <a:lnSpc>
                <a:spcPct val="100000"/>
              </a:lnSpc>
            </a:pPr>
            <a:r>
              <a:rPr lang="es-ES" sz="3600" dirty="0"/>
              <a:t>Visual Studio — Ventanas principales</a:t>
            </a:r>
            <a:br>
              <a:rPr lang="es-ES" sz="3600" dirty="0"/>
            </a:br>
            <a:endParaRPr sz="2800" dirty="0">
              <a:latin typeface="Trebuchet MS"/>
              <a:cs typeface="Trebuchet MS"/>
            </a:endParaRP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E34C2BBD-F7B7-4F25-67A4-C0A13B8C3C2A}"/>
              </a:ext>
            </a:extLst>
          </p:cNvPr>
          <p:cNvSpPr txBox="1"/>
          <p:nvPr/>
        </p:nvSpPr>
        <p:spPr>
          <a:xfrm>
            <a:off x="440435" y="2437703"/>
            <a:ext cx="11309985" cy="2967479"/>
          </a:xfrm>
          <a:prstGeom prst="rect">
            <a:avLst/>
          </a:prstGeom>
        </p:spPr>
        <p:txBody>
          <a:bodyPr/>
          <a:lstStyle/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lang="es-ES" sz="1900" dirty="0"/>
              <a:t>Explorador de soluciones: muestra los archivos del proyecto; permite agregar, mover o eliminar elementos y crear carpetas.</a:t>
            </a: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lang="es-ES" sz="1900" dirty="0"/>
              <a:t>Ventana de propiedades: permite ver y modificar las propiedades y eventos del objeto seleccionado (formulario, control, clase, etc.).</a:t>
            </a: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lang="es-ES" sz="1900" dirty="0"/>
              <a:t>Cuadro de herramientas (Toolbox): contiene los componentes y controles que se utilizan para diseñar los formularios.</a:t>
            </a: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lang="es-ES" sz="1900" dirty="0"/>
              <a:t>Examinador de objetos: información detallada sobre propiedades, métodos, eventos y constantes.</a:t>
            </a:r>
          </a:p>
        </p:txBody>
      </p:sp>
    </p:spTree>
    <p:extLst>
      <p:ext uri="{BB962C8B-B14F-4D97-AF65-F5344CB8AC3E}">
        <p14:creationId xmlns:p14="http://schemas.microsoft.com/office/powerpoint/2010/main" val="39140268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0436" y="614172"/>
            <a:ext cx="11309985" cy="1377300"/>
          </a:xfrm>
          <a:prstGeom prst="rect">
            <a:avLst/>
          </a:prstGeom>
          <a:solidFill>
            <a:srgbClr val="662937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550" dirty="0">
              <a:latin typeface="Times New Roman"/>
              <a:cs typeface="Times New Roman"/>
            </a:endParaRPr>
          </a:p>
          <a:p>
            <a:pPr marR="6350" algn="ctr">
              <a:lnSpc>
                <a:spcPct val="100000"/>
              </a:lnSpc>
            </a:pPr>
            <a:r>
              <a:rPr lang="es-ES" sz="3600" dirty="0"/>
              <a:t>Visual Studio — Depuración (Debugger)</a:t>
            </a:r>
            <a:br>
              <a:rPr lang="es-ES" sz="3600" dirty="0"/>
            </a:br>
            <a:endParaRPr sz="2800" dirty="0">
              <a:latin typeface="Trebuchet MS"/>
              <a:cs typeface="Trebuchet MS"/>
            </a:endParaRP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E34C2BBD-F7B7-4F25-67A4-C0A13B8C3C2A}"/>
              </a:ext>
            </a:extLst>
          </p:cNvPr>
          <p:cNvSpPr txBox="1"/>
          <p:nvPr/>
        </p:nvSpPr>
        <p:spPr>
          <a:xfrm>
            <a:off x="440435" y="2437703"/>
            <a:ext cx="11309985" cy="2967479"/>
          </a:xfrm>
          <a:prstGeom prst="rect">
            <a:avLst/>
          </a:prstGeom>
        </p:spPr>
        <p:txBody>
          <a:bodyPr/>
          <a:lstStyle/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lang="es-ES" sz="1700" dirty="0"/>
              <a:t>El modo de depuración detiene la ejecución de la aplicación. En modo de interrupción se puede:</a:t>
            </a: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lang="es-ES" sz="1700" dirty="0"/>
              <a:t>Recorrer el código línea por línea.</a:t>
            </a: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lang="es-ES" sz="1700" dirty="0"/>
              <a:t>Observar los procedimientos activos que se han invocado.</a:t>
            </a: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lang="es-ES" sz="1700" dirty="0"/>
              <a:t>Observar y modificar los valores de variables, propiedades y expresiones.</a:t>
            </a: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lang="es-ES" sz="1700" dirty="0"/>
              <a:t>Cambiar el flujo del programa.</a:t>
            </a:r>
          </a:p>
          <a:p>
            <a:endParaRPr lang="es-ES" dirty="0"/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lang="es-ES" sz="1700" dirty="0"/>
              <a:t>Puntos de interrupción (breakpoints): marcan una línea donde se detiene la ejecución del código; no se pueden colocar en código no ejecutable.</a:t>
            </a: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lang="es-ES" sz="1700" dirty="0"/>
              <a:t>Paso a paso por instrucciones (entra al procedimiento) o por procedimientos (lo ejecuta completo y continúa después).</a:t>
            </a:r>
          </a:p>
        </p:txBody>
      </p:sp>
    </p:spTree>
    <p:extLst>
      <p:ext uri="{BB962C8B-B14F-4D97-AF65-F5344CB8AC3E}">
        <p14:creationId xmlns:p14="http://schemas.microsoft.com/office/powerpoint/2010/main" val="391402681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0436" y="614172"/>
            <a:ext cx="11309985" cy="1377300"/>
          </a:xfrm>
          <a:prstGeom prst="rect">
            <a:avLst/>
          </a:prstGeom>
          <a:solidFill>
            <a:srgbClr val="662937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550" dirty="0">
              <a:latin typeface="Times New Roman"/>
              <a:cs typeface="Times New Roman"/>
            </a:endParaRPr>
          </a:p>
          <a:p>
            <a:pPr marR="6350" algn="ctr">
              <a:lnSpc>
                <a:spcPct val="100000"/>
              </a:lnSpc>
            </a:pPr>
            <a:r>
              <a:rPr lang="es-ES" sz="3600" dirty="0"/>
              <a:t>Trabajo práctico entregable</a:t>
            </a:r>
            <a:br>
              <a:rPr lang="es-ES" sz="3600" dirty="0"/>
            </a:br>
            <a:endParaRPr sz="2800" dirty="0">
              <a:latin typeface="Trebuchet MS"/>
              <a:cs typeface="Trebuchet MS"/>
            </a:endParaRP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E34C2BBD-F7B7-4F25-67A4-C0A13B8C3C2A}"/>
              </a:ext>
            </a:extLst>
          </p:cNvPr>
          <p:cNvSpPr txBox="1"/>
          <p:nvPr/>
        </p:nvSpPr>
        <p:spPr>
          <a:xfrm>
            <a:off x="440435" y="2437703"/>
            <a:ext cx="11309985" cy="2967479"/>
          </a:xfrm>
          <a:prstGeom prst="rect">
            <a:avLst/>
          </a:prstGeom>
        </p:spPr>
        <p:txBody>
          <a:bodyPr/>
          <a:lstStyle/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lang="es-ES" sz="2000" dirty="0"/>
              <a:t>En este trabajo práctico se repasan variables, arrays, operadores lógicos y estructuras de repetición en C#.</a:t>
            </a:r>
          </a:p>
          <a:p>
            <a:endParaRPr lang="es-ES" dirty="0"/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lang="es-ES" sz="2000" dirty="0"/>
              <a:t>Consigna: desarrollar una aplicación de consola en C# que declare variables de distintos tipos, cargue un array, aplique operadores lógicos sobre sus valores y lo recorra con un ciclo for, mostrando los resultados por pantalla.</a:t>
            </a:r>
          </a:p>
        </p:txBody>
      </p:sp>
    </p:spTree>
    <p:extLst>
      <p:ext uri="{BB962C8B-B14F-4D97-AF65-F5344CB8AC3E}">
        <p14:creationId xmlns:p14="http://schemas.microsoft.com/office/powerpoint/2010/main" val="391402681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0436" y="614172"/>
            <a:ext cx="11309985" cy="1377300"/>
          </a:xfrm>
          <a:prstGeom prst="rect">
            <a:avLst/>
          </a:prstGeom>
          <a:solidFill>
            <a:srgbClr val="662937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550" dirty="0">
              <a:latin typeface="Times New Roman"/>
              <a:cs typeface="Times New Roman"/>
            </a:endParaRPr>
          </a:p>
          <a:p>
            <a:pPr marR="6350" algn="ctr">
              <a:lnSpc>
                <a:spcPct val="100000"/>
              </a:lnSpc>
            </a:pPr>
            <a:r>
              <a:rPr lang="es-ES" sz="3600" dirty="0"/>
              <a:t>Ejercicio integrador</a:t>
            </a:r>
            <a:br>
              <a:rPr lang="es-ES" sz="3600" dirty="0"/>
            </a:br>
            <a:endParaRPr sz="2800" dirty="0">
              <a:latin typeface="Trebuchet MS"/>
              <a:cs typeface="Trebuchet MS"/>
            </a:endParaRP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E34C2BBD-F7B7-4F25-67A4-C0A13B8C3C2A}"/>
              </a:ext>
            </a:extLst>
          </p:cNvPr>
          <p:cNvSpPr txBox="1"/>
          <p:nvPr/>
        </p:nvSpPr>
        <p:spPr>
          <a:xfrm>
            <a:off x="440435" y="2437703"/>
            <a:ext cx="11309985" cy="2967479"/>
          </a:xfrm>
          <a:prstGeom prst="rect">
            <a:avLst/>
          </a:prstGeom>
        </p:spPr>
        <p:txBody>
          <a:bodyPr/>
          <a:lstStyle/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lang="es-ES" sz="1800" dirty="0"/>
              <a:t>Desarrollar una aplicación de consola en C# para gestionar las notas de un curso:</a:t>
            </a:r>
          </a:p>
          <a:p>
            <a:endParaRPr lang="es-ES" dirty="0"/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lang="es-ES" sz="1800" dirty="0"/>
              <a:t>Declarar un array de tipo double de tamaño 5 para almacenar notas.</a:t>
            </a: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lang="es-ES" sz="1800" dirty="0"/>
              <a:t>Solicitar cada nota por teclado y cargarla en el array con un ciclo for.</a:t>
            </a: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lang="es-ES" sz="1800" dirty="0"/>
              <a:t>Recorrer el array para calcular el promedio de las notas.</a:t>
            </a: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lang="es-ES" sz="1800" dirty="0"/>
              <a:t>Solicitar también el porcentaje de asistencia del alumno.</a:t>
            </a: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lang="es-ES" sz="1800" dirty="0"/>
              <a:t>Usando operadores lógicos, determinar si el alumno aprueba: promedio ≥ 4 Y asistencia ≥ 75%.</a:t>
            </a: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lang="es-ES" sz="1800" dirty="0"/>
              <a:t>Mostrar por consola un resumen final con el promedio y la condición del alumno.</a:t>
            </a:r>
          </a:p>
        </p:txBody>
      </p:sp>
    </p:spTree>
    <p:extLst>
      <p:ext uri="{BB962C8B-B14F-4D97-AF65-F5344CB8AC3E}">
        <p14:creationId xmlns:p14="http://schemas.microsoft.com/office/powerpoint/2010/main" val="391402681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0436" y="614172"/>
            <a:ext cx="11309985" cy="1377300"/>
          </a:xfrm>
          <a:prstGeom prst="rect">
            <a:avLst/>
          </a:prstGeom>
          <a:solidFill>
            <a:srgbClr val="662937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550" dirty="0">
              <a:latin typeface="Times New Roman"/>
              <a:cs typeface="Times New Roman"/>
            </a:endParaRPr>
          </a:p>
          <a:p>
            <a:pPr marR="6350" algn="ctr">
              <a:lnSpc>
                <a:spcPct val="100000"/>
              </a:lnSpc>
            </a:pPr>
            <a:r>
              <a:rPr lang="es-ES" sz="3600" dirty="0"/>
              <a:t>Solución ejercicio integrador</a:t>
            </a:r>
            <a:br>
              <a:rPr lang="es-ES" sz="3600" dirty="0"/>
            </a:br>
            <a:endParaRPr sz="2800" dirty="0">
              <a:latin typeface="Trebuchet MS"/>
              <a:cs typeface="Trebuchet MS"/>
            </a:endParaRP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E34C2BBD-F7B7-4F25-67A4-C0A13B8C3C2A}"/>
              </a:ext>
            </a:extLst>
          </p:cNvPr>
          <p:cNvSpPr txBox="1"/>
          <p:nvPr/>
        </p:nvSpPr>
        <p:spPr>
          <a:xfrm>
            <a:off x="440435" y="2437703"/>
            <a:ext cx="11309985" cy="2967479"/>
          </a:xfrm>
          <a:prstGeom prst="rect">
            <a:avLst/>
          </a:prstGeom>
        </p:spPr>
        <p:txBody>
          <a:bodyPr/>
          <a:lstStyle/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lang="es-ES" sz="2400" dirty="0"/>
              <a:t>El código completo, comentado, con la resolución paso a paso y el resultado explicado de una ejecución de ejemplo, está en el archivo adjunto:</a:t>
            </a:r>
          </a:p>
          <a:p>
            <a:endParaRPr lang="es-ES" dirty="0"/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lang="es-ES" sz="2400" dirty="0"/>
              <a:t>EjercicioIntegrador_NotasCurso.cs</a:t>
            </a:r>
          </a:p>
        </p:txBody>
      </p:sp>
    </p:spTree>
    <p:extLst>
      <p:ext uri="{BB962C8B-B14F-4D97-AF65-F5344CB8AC3E}">
        <p14:creationId xmlns:p14="http://schemas.microsoft.com/office/powerpoint/2010/main" val="391402681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0436" y="614172"/>
            <a:ext cx="11309985" cy="1377300"/>
          </a:xfrm>
          <a:prstGeom prst="rect">
            <a:avLst/>
          </a:prstGeom>
          <a:solidFill>
            <a:srgbClr val="662937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550" dirty="0">
              <a:latin typeface="Times New Roman"/>
              <a:cs typeface="Times New Roman"/>
            </a:endParaRPr>
          </a:p>
          <a:p>
            <a:pPr marR="6350" algn="ctr">
              <a:lnSpc>
                <a:spcPct val="100000"/>
              </a:lnSpc>
            </a:pPr>
            <a:r>
              <a:rPr lang="es-ES" sz="3600" dirty="0"/>
              <a:t>Debate de cierre de la clase 1</a:t>
            </a:r>
            <a:br>
              <a:rPr lang="es-ES" sz="3600" dirty="0"/>
            </a:br>
            <a:endParaRPr sz="2800" dirty="0">
              <a:latin typeface="Trebuchet MS"/>
              <a:cs typeface="Trebuchet MS"/>
            </a:endParaRP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E34C2BBD-F7B7-4F25-67A4-C0A13B8C3C2A}"/>
              </a:ext>
            </a:extLst>
          </p:cNvPr>
          <p:cNvSpPr txBox="1"/>
          <p:nvPr/>
        </p:nvSpPr>
        <p:spPr>
          <a:xfrm>
            <a:off x="440435" y="2437703"/>
            <a:ext cx="11309985" cy="2967479"/>
          </a:xfrm>
          <a:prstGeom prst="rect">
            <a:avLst/>
          </a:prstGeom>
        </p:spPr>
        <p:txBody>
          <a:bodyPr/>
          <a:lstStyle/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lang="es-ES" sz="2000" dirty="0"/>
              <a:t>A través del foro de debate reflexionaremos entre todos acerca de las ideas trabajadas en esta primera clase, pensando en el pasaje de la programación estructurada a la programación orientada a eventos.</a:t>
            </a:r>
          </a:p>
          <a:p>
            <a:endParaRPr lang="es-ES" dirty="0"/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lang="es-ES" sz="2000" dirty="0"/>
              <a:t>¿Qué ventajas y desafíos identificás al pasar de un lenguaje estructurado a trabajar con C# y Visual Studio en un entorno orientado a eventos?</a:t>
            </a:r>
          </a:p>
        </p:txBody>
      </p:sp>
    </p:spTree>
    <p:extLst>
      <p:ext uri="{BB962C8B-B14F-4D97-AF65-F5344CB8AC3E}">
        <p14:creationId xmlns:p14="http://schemas.microsoft.com/office/powerpoint/2010/main" val="391402681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1999" cy="685799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193919" y="3269107"/>
            <a:ext cx="1645920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Pre</a:t>
            </a:r>
            <a:r>
              <a:rPr dirty="0"/>
              <a:t>g</a:t>
            </a:r>
            <a:r>
              <a:rPr spc="-5" dirty="0"/>
              <a:t>unt</a:t>
            </a:r>
            <a:r>
              <a:rPr spc="-15" dirty="0"/>
              <a:t>a</a:t>
            </a:r>
            <a:r>
              <a:rPr spc="-5" dirty="0"/>
              <a:t>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11878</TotalTime>
  <Words>1717</Words>
  <Application>Microsoft Office PowerPoint</Application>
  <PresentationFormat>Panorámica</PresentationFormat>
  <Paragraphs>196</Paragraphs>
  <Slides>28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28</vt:i4>
      </vt:variant>
    </vt:vector>
  </HeadingPairs>
  <TitlesOfParts>
    <vt:vector size="36" baseType="lpstr">
      <vt:lpstr>Aptos</vt:lpstr>
      <vt:lpstr>Arial</vt:lpstr>
      <vt:lpstr>Arial MT</vt:lpstr>
      <vt:lpstr>Calibri</vt:lpstr>
      <vt:lpstr>Courier New</vt:lpstr>
      <vt:lpstr>Times New Roman</vt:lpstr>
      <vt:lpstr>Trebuchet MS</vt:lpstr>
      <vt:lpstr>Office Theme</vt:lpstr>
      <vt:lpstr>Clase 1: Introducción y repaso</vt:lpstr>
      <vt:lpstr> Encuadre de la asignatura </vt:lpstr>
      <vt:lpstr> Objetivos </vt:lpstr>
      <vt:lpstr> Aprobación de la materia </vt:lpstr>
      <vt:lpstr> Bibliografía obligatoria </vt:lpstr>
      <vt:lpstr> Contenido de la asignatura </vt:lpstr>
      <vt:lpstr> Repaso general — Temas de hoy </vt:lpstr>
      <vt:lpstr> Variables — Conceptos </vt:lpstr>
      <vt:lpstr> Variables — Sintaxis y tipos </vt:lpstr>
      <vt:lpstr> Variables — Asignación de valores </vt:lpstr>
      <vt:lpstr> Operadores lógicos </vt:lpstr>
      <vt:lpstr> Vectores y matrices — Conceptos </vt:lpstr>
      <vt:lpstr> Vectores y matrices — Características </vt:lpstr>
      <vt:lpstr> Entradas y salidas en C# </vt:lpstr>
      <vt:lpstr> Estructuras de repetición: while y for </vt:lpstr>
      <vt:lpstr> Ejercicio 1 (C#) </vt:lpstr>
      <vt:lpstr> Solución ejercicio 1 </vt:lpstr>
      <vt:lpstr> Ejercicio 2 (C#) </vt:lpstr>
      <vt:lpstr> Solución ejercicio 2 </vt:lpstr>
      <vt:lpstr> Espacios de nombres (namespaces) </vt:lpstr>
      <vt:lpstr> Visual Studio — Entorno de desarrollo (IDE) </vt:lpstr>
      <vt:lpstr> Visual Studio — Ventanas principales </vt:lpstr>
      <vt:lpstr> Visual Studio — Depuración (Debugger) </vt:lpstr>
      <vt:lpstr> Trabajo práctico entregable </vt:lpstr>
      <vt:lpstr> Ejercicio integrador </vt:lpstr>
      <vt:lpstr> Solución ejercicio integrador </vt:lpstr>
      <vt:lpstr> Debate de cierre de la clase 1 </vt:lpstr>
      <vt:lpstr>Preguntas?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Milio, Claudio</dc:creator>
  <cp:lastModifiedBy>maximiliano coedo</cp:lastModifiedBy>
  <cp:revision>42</cp:revision>
  <dcterms:created xsi:type="dcterms:W3CDTF">2023-03-27T21:08:01Z</dcterms:created>
  <dcterms:modified xsi:type="dcterms:W3CDTF">2026-08-13T04:26:16Z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2021-02-04T00:00:00Z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2023-03-27T00:00:00Z</vt:filetime>
  </property>
</Properties>
</file>