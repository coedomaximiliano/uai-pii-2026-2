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4"/>
  </p:notesMasterIdLst>
  <p:handoutMasterIdLst>
    <p:handoutMasterId r:id="rId15"/>
  </p:handoutMasterIdLst>
  <p:sldIdLst>
    <p:sldId id="260" r:id="rId2"/>
    <p:sldId id="264" r:id="rId3"/>
    <p:sldId id="263" r:id="rId4"/>
    <p:sldId id="275" r:id="rId5"/>
    <p:sldId id="281" r:id="rId6"/>
    <p:sldId id="282" r:id="rId7"/>
    <p:sldId id="283" r:id="rId8"/>
    <p:sldId id="278" r:id="rId9"/>
    <p:sldId id="284" r:id="rId10"/>
    <p:sldId id="277" r:id="rId11"/>
    <p:sldId id="276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39" autoAdjust="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376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6AC1C1D-8DE8-454D-8ACE-E96FE005D9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3809AF2-CEB7-4F6A-A27B-928B8B2E6D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D82B3-EF6D-4BD8-93E0-5C8EB0FADB6E}" type="datetimeFigureOut">
              <a:rPr lang="es-AR" smtClean="0"/>
              <a:t>6/3/2023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139870-BB4B-44F2-B9B9-BCA55069F9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668AB2-2774-4251-BE9E-29A161BE59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D24C5F-D5C7-4544-90B0-C5E587813506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1368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84DF4-CC8D-4AB2-A5D0-F7B0EFE6C907}" type="datetimeFigureOut">
              <a:rPr lang="es-AR" smtClean="0"/>
              <a:t>6/3/2023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6CC8B-3606-45D9-8F75-FA5507B536C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925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47976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32830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u="sng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3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715142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4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873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01450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54010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5245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49295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6978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29530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1753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6CC8B-3606-45D9-8F75-FA5507B536CA}" type="slidenum">
              <a:rPr lang="es-AR" smtClean="0"/>
              <a:t>12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9160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4145279"/>
            <a:ext cx="11262866" cy="2245285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5124" y="3041409"/>
            <a:ext cx="1116427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A20342A-79CD-483E-8AF7-8313CA88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1387555"/>
            <a:ext cx="8876668" cy="1591366"/>
          </a:xfrm>
        </p:spPr>
        <p:txBody>
          <a:bodyPr>
            <a:noAutofit/>
          </a:bodyPr>
          <a:lstStyle>
            <a:lvl1pPr>
              <a:defRPr lang="es-ES" sz="4000" b="0" kern="1200" cap="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  <p:pic>
        <p:nvPicPr>
          <p:cNvPr id="10" name="Picture 2" descr="UAIOnline Ultra">
            <a:extLst>
              <a:ext uri="{FF2B5EF4-FFF2-40B4-BE49-F238E27FC236}">
                <a16:creationId xmlns:a16="http://schemas.microsoft.com/office/drawing/2014/main" id="{E7C8F655-89B4-47E6-BA4D-177F0160DF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913" y="4873150"/>
            <a:ext cx="2983487" cy="78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65D132C4-CD4F-4972-9F51-47663BD7D2E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46534" y="631496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Marcador de posición de imagen 11" descr="Logo facultad&#10;">
            <a:extLst>
              <a:ext uri="{FF2B5EF4-FFF2-40B4-BE49-F238E27FC236}">
                <a16:creationId xmlns:a16="http://schemas.microsoft.com/office/drawing/2014/main" id="{952B7A0A-C3F3-436E-BDED-F16879BC6A0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26001" y="1324746"/>
            <a:ext cx="1920875" cy="1654175"/>
          </a:xfrm>
        </p:spPr>
        <p:txBody>
          <a:bodyPr/>
          <a:lstStyle/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338055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9580134" cy="1013800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8" name="Picture 2" descr="UAIOnline Ultra">
            <a:extLst>
              <a:ext uri="{FF2B5EF4-FFF2-40B4-BE49-F238E27FC236}">
                <a16:creationId xmlns:a16="http://schemas.microsoft.com/office/drawing/2014/main" id="{CBFC0A98-7AC3-44C0-B991-D9DC2D0BFF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57810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675FA85D-67BD-41E2-8A54-9A21EFBC117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487" y="5481827"/>
            <a:ext cx="2983487" cy="789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292551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583739" cy="988332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8C5EDCA6-3445-48DA-BA2B-18D731C30F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763766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9468329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2"/>
            <a:ext cx="5393103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 u="sng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707" y="2250892"/>
            <a:ext cx="5393101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3" name="Picture 2" descr="UAIOnline Ultra">
            <a:extLst>
              <a:ext uri="{FF2B5EF4-FFF2-40B4-BE49-F238E27FC236}">
                <a16:creationId xmlns:a16="http://schemas.microsoft.com/office/drawing/2014/main" id="{5E285A8B-ACD0-40A5-BE31-440EE676FC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4932" y="729658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55185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3694437" cy="6038086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7"/>
            <a:ext cx="3339158" cy="2803655"/>
          </a:xfrm>
        </p:spPr>
        <p:txBody>
          <a:bodyPr anchor="t"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9" name="Picture 2" descr="UAIOnline Ultra">
            <a:extLst>
              <a:ext uri="{FF2B5EF4-FFF2-40B4-BE49-F238E27FC236}">
                <a16:creationId xmlns:a16="http://schemas.microsoft.com/office/drawing/2014/main" id="{985F790E-31CB-494D-9F8C-0757D8167F7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13" y="5948076"/>
            <a:ext cx="2198272" cy="58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09126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76" y="572048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0" name="Picture 2" descr="UAIOnline Ultra">
            <a:extLst>
              <a:ext uri="{FF2B5EF4-FFF2-40B4-BE49-F238E27FC236}">
                <a16:creationId xmlns:a16="http://schemas.microsoft.com/office/drawing/2014/main" id="{92008831-0394-41C2-8834-95FC87BA92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0" y="6001680"/>
            <a:ext cx="132917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78270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8729607-A7E4-4405-A56C-77696C40FFD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227179"/>
            <a:ext cx="12192000" cy="630821"/>
          </a:xfrm>
          <a:prstGeom prst="rect">
            <a:avLst/>
          </a:prstGeom>
          <a:solidFill>
            <a:srgbClr val="66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2" descr="UAIOnline Ultra">
            <a:extLst>
              <a:ext uri="{FF2B5EF4-FFF2-40B4-BE49-F238E27FC236}">
                <a16:creationId xmlns:a16="http://schemas.microsoft.com/office/drawing/2014/main" id="{E4031F4A-C2C5-4A14-A0D8-904A51825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300" y="6380424"/>
            <a:ext cx="1581086" cy="418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786639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689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6" r:id="rId7"/>
    <p:sldLayoutId id="2147483775" r:id="rId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ítulo 3">
            <a:extLst>
              <a:ext uri="{FF2B5EF4-FFF2-40B4-BE49-F238E27FC236}">
                <a16:creationId xmlns:a16="http://schemas.microsoft.com/office/drawing/2014/main" id="{536CFBD4-0D4D-43F7-91B1-8ED10DB67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3176" y="2927487"/>
            <a:ext cx="11078210" cy="590321"/>
          </a:xfrm>
        </p:spPr>
        <p:txBody>
          <a:bodyPr/>
          <a:lstStyle/>
          <a:p>
            <a:r>
              <a:rPr lang="es-AR" dirty="0">
                <a:solidFill>
                  <a:srgbClr val="662937"/>
                </a:solidFill>
              </a:rPr>
              <a:t>Mg. Nicolás </a:t>
            </a:r>
            <a:r>
              <a:rPr lang="es-AR" dirty="0" err="1">
                <a:solidFill>
                  <a:srgbClr val="662937"/>
                </a:solidFill>
              </a:rPr>
              <a:t>battaglia</a:t>
            </a:r>
            <a:endParaRPr lang="es-AR" dirty="0">
              <a:solidFill>
                <a:srgbClr val="662937"/>
              </a:solidFill>
            </a:endParaRPr>
          </a:p>
        </p:txBody>
      </p:sp>
      <p:pic>
        <p:nvPicPr>
          <p:cNvPr id="8194" name="Picture 2" descr="UAIOnline Ultra">
            <a:extLst>
              <a:ext uri="{FF2B5EF4-FFF2-40B4-BE49-F238E27FC236}">
                <a16:creationId xmlns:a16="http://schemas.microsoft.com/office/drawing/2014/main" id="{E210D410-026C-4305-87D5-80358B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21" y="4899981"/>
            <a:ext cx="3542919" cy="93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49BB4F9F-7C77-4416-BB3E-AE29B127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13176" y="565994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ogo">
            <a:extLst>
              <a:ext uri="{FF2B5EF4-FFF2-40B4-BE49-F238E27FC236}">
                <a16:creationId xmlns:a16="http://schemas.microsoft.com/office/drawing/2014/main" id="{3BBF0169-10E8-4D3D-8682-C8A07CDC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390" y="1275092"/>
            <a:ext cx="2020996" cy="20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36B6728-F978-4577-89F5-F7FCF33CC742}"/>
              </a:ext>
            </a:extLst>
          </p:cNvPr>
          <p:cNvSpPr txBox="1"/>
          <p:nvPr/>
        </p:nvSpPr>
        <p:spPr>
          <a:xfrm>
            <a:off x="460588" y="1746981"/>
            <a:ext cx="8415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dirty="0">
                <a:solidFill>
                  <a:srgbClr val="662937"/>
                </a:solidFill>
              </a:rPr>
              <a:t>PROGRAMACIÓN Y ESTRUCTURAS DE DATOS</a:t>
            </a:r>
            <a:endParaRPr lang="es-AR" sz="3200" b="1" dirty="0">
              <a:solidFill>
                <a:srgbClr val="662937"/>
              </a:solidFill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DB7A91-8606-44EB-AF5A-3A67A239C6C2}"/>
              </a:ext>
            </a:extLst>
          </p:cNvPr>
          <p:cNvCxnSpPr>
            <a:cxnSpLocks/>
          </p:cNvCxnSpPr>
          <p:nvPr/>
        </p:nvCxnSpPr>
        <p:spPr>
          <a:xfrm>
            <a:off x="508000" y="2810072"/>
            <a:ext cx="8321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52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BFBC18-CA47-46CC-A8D3-C8DAF7569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917" y="1252444"/>
            <a:ext cx="8876668" cy="1591366"/>
          </a:xfrm>
        </p:spPr>
        <p:txBody>
          <a:bodyPr/>
          <a:lstStyle/>
          <a:p>
            <a:r>
              <a:rPr lang="es-AR" dirty="0"/>
              <a:t>Unidad 1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4255785-1E73-47B9-855C-BC912D1897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pic>
        <p:nvPicPr>
          <p:cNvPr id="8194" name="Picture 2" descr="UAIOnline Ultra">
            <a:extLst>
              <a:ext uri="{FF2B5EF4-FFF2-40B4-BE49-F238E27FC236}">
                <a16:creationId xmlns:a16="http://schemas.microsoft.com/office/drawing/2014/main" id="{E210D410-026C-4305-87D5-80358B4CF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1821" y="4899981"/>
            <a:ext cx="3542919" cy="937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logo-UAI-nuevo-250 | Congreso de Cicatrización de Heridas">
            <a:extLst>
              <a:ext uri="{FF2B5EF4-FFF2-40B4-BE49-F238E27FC236}">
                <a16:creationId xmlns:a16="http://schemas.microsoft.com/office/drawing/2014/main" id="{49BB4F9F-7C77-4416-BB3E-AE29B1272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20" b="29542"/>
          <a:stretch/>
        </p:blipFill>
        <p:spPr bwMode="auto">
          <a:xfrm>
            <a:off x="413176" y="565994"/>
            <a:ext cx="2545884" cy="68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Logo">
            <a:extLst>
              <a:ext uri="{FF2B5EF4-FFF2-40B4-BE49-F238E27FC236}">
                <a16:creationId xmlns:a16="http://schemas.microsoft.com/office/drawing/2014/main" id="{3BBF0169-10E8-4D3D-8682-C8A07CDC6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0390" y="1275092"/>
            <a:ext cx="2020996" cy="20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11DB7A91-8606-44EB-AF5A-3A67A239C6C2}"/>
              </a:ext>
            </a:extLst>
          </p:cNvPr>
          <p:cNvCxnSpPr>
            <a:cxnSpLocks/>
          </p:cNvCxnSpPr>
          <p:nvPr/>
        </p:nvCxnSpPr>
        <p:spPr>
          <a:xfrm>
            <a:off x="508000" y="2810072"/>
            <a:ext cx="8321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3">
            <a:extLst>
              <a:ext uri="{FF2B5EF4-FFF2-40B4-BE49-F238E27FC236}">
                <a16:creationId xmlns:a16="http://schemas.microsoft.com/office/drawing/2014/main" id="{817E6E6A-56CC-43F1-83E0-2933A3D5A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4513" y="3041650"/>
            <a:ext cx="11164887" cy="590550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662937"/>
                </a:solidFill>
              </a:rPr>
              <a:t>introducción a la programación visual</a:t>
            </a:r>
            <a:endParaRPr lang="es-AR" dirty="0">
              <a:solidFill>
                <a:srgbClr val="66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2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C4C29405-67C3-4AC4-8C82-51A619A0C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054" y="973498"/>
            <a:ext cx="3335706" cy="1871302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s-AR" sz="2400" dirty="0">
                <a:latin typeface="+mn-lt"/>
                <a:ea typeface="+mn-ea"/>
                <a:cs typeface="+mn-cs"/>
              </a:rPr>
              <a:t>temas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A769FCEE-8D02-4FCB-89B9-958297B613B3}"/>
              </a:ext>
            </a:extLst>
          </p:cNvPr>
          <p:cNvSpPr txBox="1">
            <a:spLocks/>
          </p:cNvSpPr>
          <p:nvPr/>
        </p:nvSpPr>
        <p:spPr>
          <a:xfrm>
            <a:off x="4586626" y="1286465"/>
            <a:ext cx="7168602" cy="4754616"/>
          </a:xfrm>
          <a:prstGeom prst="rect">
            <a:avLst/>
          </a:prstGeom>
        </p:spPr>
        <p:txBody>
          <a:bodyPr anchor="t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WinForms. </a:t>
            </a:r>
          </a:p>
          <a:p>
            <a:r>
              <a:rPr lang="es-ES" dirty="0">
                <a:latin typeface="Arial" panose="020B0604020202020204" pitchFamily="34" charset="0"/>
              </a:rPr>
              <a:t>Formularios y controles de usuario</a:t>
            </a:r>
          </a:p>
          <a:p>
            <a:r>
              <a:rPr lang="es-ES" sz="1800" b="0" i="0" u="none" strike="noStrike" dirty="0">
                <a:effectLst/>
                <a:latin typeface="Arial" panose="020B0604020202020204" pitchFamily="34" charset="0"/>
              </a:rPr>
              <a:t>Características de los controles de usuario</a:t>
            </a:r>
            <a:endParaRPr lang="es-ES" sz="1800" b="0" dirty="0"/>
          </a:p>
        </p:txBody>
      </p:sp>
      <p:pic>
        <p:nvPicPr>
          <p:cNvPr id="17" name="Picture 2" descr="UAIOnline Ultra">
            <a:extLst>
              <a:ext uri="{FF2B5EF4-FFF2-40B4-BE49-F238E27FC236}">
                <a16:creationId xmlns:a16="http://schemas.microsoft.com/office/drawing/2014/main" id="{194EECEB-40F8-4338-ACA6-3602F659B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13" y="5884502"/>
            <a:ext cx="2438508" cy="645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68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Controles de usuario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18" y="1935804"/>
            <a:ext cx="11029615" cy="4922196"/>
          </a:xfrm>
        </p:spPr>
        <p:txBody>
          <a:bodyPr>
            <a:normAutofit/>
          </a:bodyPr>
          <a:lstStyle/>
          <a:p>
            <a:r>
              <a:rPr lang="es-AR" dirty="0"/>
              <a:t>En </a:t>
            </a:r>
            <a:r>
              <a:rPr lang="es-AR" dirty="0" err="1"/>
              <a:t>Winforms</a:t>
            </a:r>
            <a:r>
              <a:rPr lang="es-AR" dirty="0"/>
              <a:t> todos los controles de usuario, incluidos los formularios, tienen una estructura común basada en la abstracción “Control”.</a:t>
            </a:r>
          </a:p>
          <a:p>
            <a:r>
              <a:rPr lang="es-AR" dirty="0"/>
              <a:t>Todos los controles tienen 3 características principales</a:t>
            </a:r>
          </a:p>
          <a:p>
            <a:pPr lvl="1"/>
            <a:r>
              <a:rPr lang="es-AR" dirty="0"/>
              <a:t>Comportamiento</a:t>
            </a:r>
          </a:p>
          <a:p>
            <a:pPr lvl="2"/>
            <a:r>
              <a:rPr lang="es-AR" dirty="0"/>
              <a:t>Son funciones que tienen los controles. Poseen las </a:t>
            </a:r>
            <a:r>
              <a:rPr lang="es-AR" dirty="0" err="1"/>
              <a:t>funcionalidads</a:t>
            </a:r>
            <a:r>
              <a:rPr lang="es-AR" dirty="0"/>
              <a:t> de “Control” y las funcionalidades específicas de cada tipo de control</a:t>
            </a:r>
          </a:p>
          <a:p>
            <a:pPr lvl="1"/>
            <a:r>
              <a:rPr lang="es-AR" dirty="0"/>
              <a:t>Eventos</a:t>
            </a:r>
          </a:p>
          <a:p>
            <a:pPr lvl="2"/>
            <a:r>
              <a:rPr lang="es-AR" dirty="0"/>
              <a:t>Reacciones que tienen los controles ante distintos contextos. Por ejemplo,</a:t>
            </a:r>
          </a:p>
          <a:p>
            <a:pPr lvl="3"/>
            <a:r>
              <a:rPr lang="es-AR" dirty="0"/>
              <a:t>Una interacción con el usuario por medio de un clic </a:t>
            </a:r>
          </a:p>
          <a:p>
            <a:pPr lvl="3"/>
            <a:r>
              <a:rPr lang="es-AR" dirty="0"/>
              <a:t>Al momento de cargar la pantalla</a:t>
            </a:r>
          </a:p>
          <a:p>
            <a:pPr lvl="3"/>
            <a:r>
              <a:rPr lang="es-AR" dirty="0"/>
              <a:t>Al momento de cerrar la pantalla</a:t>
            </a:r>
          </a:p>
          <a:p>
            <a:pPr lvl="3"/>
            <a:r>
              <a:rPr lang="es-AR" dirty="0"/>
              <a:t>Al cambiar un valor</a:t>
            </a:r>
          </a:p>
          <a:p>
            <a:pPr lvl="3"/>
            <a:r>
              <a:rPr lang="es-AR" dirty="0"/>
              <a:t>Al cambiar un estado (por ejemplo de “verdadero” a “</a:t>
            </a:r>
            <a:r>
              <a:rPr lang="es-AR"/>
              <a:t>falso”)</a:t>
            </a:r>
            <a:endParaRPr lang="es-AR" dirty="0"/>
          </a:p>
          <a:p>
            <a:pPr lvl="3"/>
            <a:r>
              <a:rPr lang="es-AR" dirty="0" err="1"/>
              <a:t>Etc</a:t>
            </a:r>
            <a:endParaRPr lang="es-AR" dirty="0"/>
          </a:p>
          <a:p>
            <a:pPr lvl="1"/>
            <a:r>
              <a:rPr lang="es-AR" dirty="0"/>
              <a:t>Propiedades son “Variables” que permiten definir el estado de un control, puede ser por ejemplo el color, el tamaño, un valor, el nombre, el texto que muestra en pantalla, etc.</a:t>
            </a:r>
          </a:p>
          <a:p>
            <a:pPr lvl="1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2150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Controles de usuario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E600DAE-04AD-4ACB-8713-234C0A1F0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307" y="2315762"/>
            <a:ext cx="4924425" cy="333375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94808B6-C77E-499B-8478-DEB400D12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9232" y="2698310"/>
            <a:ext cx="4276725" cy="2181225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165CA06-08EA-4BBD-B124-66EEF6CED1C8}"/>
              </a:ext>
            </a:extLst>
          </p:cNvPr>
          <p:cNvCxnSpPr>
            <a:cxnSpLocks/>
          </p:cNvCxnSpPr>
          <p:nvPr/>
        </p:nvCxnSpPr>
        <p:spPr>
          <a:xfrm>
            <a:off x="5863472" y="3902697"/>
            <a:ext cx="8578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79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Controles de usuario - propiedades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E600DAE-04AD-4ACB-8713-234C0A1F0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307" y="2315762"/>
            <a:ext cx="4924425" cy="333375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46369C6-5F09-46DF-BFAF-69807680E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385" y="2020487"/>
            <a:ext cx="4152900" cy="3629025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5D3DED92-9C65-4B30-A09F-78C09AD3763E}"/>
              </a:ext>
            </a:extLst>
          </p:cNvPr>
          <p:cNvCxnSpPr>
            <a:cxnSpLocks/>
          </p:cNvCxnSpPr>
          <p:nvPr/>
        </p:nvCxnSpPr>
        <p:spPr>
          <a:xfrm>
            <a:off x="3412503" y="3912124"/>
            <a:ext cx="5721769" cy="11170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7379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>
                <a:effectLst/>
                <a:latin typeface="Arial" panose="020B0604020202020204" pitchFamily="34" charset="0"/>
              </a:rPr>
              <a:t>Controles de usuario - eventos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EE600DAE-04AD-4ACB-8713-234C0A1F09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2307" y="2315762"/>
            <a:ext cx="4924425" cy="33337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C451BA8-CEEC-4BAF-92D9-A1B7D4E76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270" y="1898457"/>
            <a:ext cx="3857411" cy="2946523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B2BAC021-3613-42CD-B39F-07B66274BA90}"/>
              </a:ext>
            </a:extLst>
          </p:cNvPr>
          <p:cNvCxnSpPr>
            <a:cxnSpLocks/>
          </p:cNvCxnSpPr>
          <p:nvPr/>
        </p:nvCxnSpPr>
        <p:spPr>
          <a:xfrm>
            <a:off x="3412503" y="3912124"/>
            <a:ext cx="385741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E03CD139-DEEE-4645-952C-7C3B7A2262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058" y="5283790"/>
            <a:ext cx="4638675" cy="1063171"/>
          </a:xfrm>
          <a:prstGeom prst="rect">
            <a:avLst/>
          </a:prstGeom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409D886-B47D-42D9-8CAD-2F313A549665}"/>
              </a:ext>
            </a:extLst>
          </p:cNvPr>
          <p:cNvCxnSpPr>
            <a:cxnSpLocks/>
          </p:cNvCxnSpPr>
          <p:nvPr/>
        </p:nvCxnSpPr>
        <p:spPr>
          <a:xfrm>
            <a:off x="9187490" y="4152073"/>
            <a:ext cx="0" cy="10035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29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Button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18" y="1038952"/>
            <a:ext cx="11029615" cy="3678303"/>
          </a:xfrm>
        </p:spPr>
        <p:txBody>
          <a:bodyPr/>
          <a:lstStyle/>
          <a:p>
            <a:r>
              <a:rPr lang="es-ES" b="0" i="0" dirty="0">
                <a:solidFill>
                  <a:srgbClr val="14171A"/>
                </a:solidFill>
                <a:effectLst/>
                <a:latin typeface="Arial" panose="020B0604020202020204" pitchFamily="34" charset="0"/>
              </a:rPr>
              <a:t>Los botones son uno de los controles más simples y se usan principalmente para ejecutar algún código cuando el usuario lo desea.</a:t>
            </a:r>
          </a:p>
          <a:p>
            <a:r>
              <a:rPr lang="es-ES" dirty="0"/>
              <a:t>Aquí tenemos un caso muy simple, mostrar un cuadro de mensaje cuando se hace clic en un botón. </a:t>
            </a:r>
            <a:r>
              <a:rPr lang="es-ES" dirty="0" err="1"/>
              <a:t>cmdShowMessage</a:t>
            </a:r>
            <a:r>
              <a:rPr lang="es-ES" dirty="0"/>
              <a:t> un botón a un formulario, lo denominamos </a:t>
            </a:r>
            <a:r>
              <a:rPr lang="es-ES" dirty="0" err="1"/>
              <a:t>cmdShowMessage</a:t>
            </a:r>
            <a:r>
              <a:rPr lang="es-ES" dirty="0"/>
              <a:t> como se usa en el código para identificar el objeto y establecer el texto de los botones en Mostrar mensaje.</a:t>
            </a:r>
            <a:endParaRPr lang="es-AR" dirty="0"/>
          </a:p>
        </p:txBody>
      </p:sp>
      <p:pic>
        <p:nvPicPr>
          <p:cNvPr id="1026" name="Picture 2" descr="introduzca la descripción de la imagen aquí">
            <a:extLst>
              <a:ext uri="{FF2B5EF4-FFF2-40B4-BE49-F238E27FC236}">
                <a16:creationId xmlns:a16="http://schemas.microsoft.com/office/drawing/2014/main" id="{310CDA8B-AD39-4914-8830-053612EE0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617" y="3999045"/>
            <a:ext cx="199072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5C4EC1F-A544-49D8-97B2-D35F0A44D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8" y="5494228"/>
            <a:ext cx="5800725" cy="1085850"/>
          </a:xfrm>
          <a:prstGeom prst="rect">
            <a:avLst/>
          </a:prstGeom>
        </p:spPr>
      </p:pic>
      <p:pic>
        <p:nvPicPr>
          <p:cNvPr id="1028" name="Picture 4" descr="introduzca la descripción de la imagen aquí">
            <a:extLst>
              <a:ext uri="{FF2B5EF4-FFF2-40B4-BE49-F238E27FC236}">
                <a16:creationId xmlns:a16="http://schemas.microsoft.com/office/drawing/2014/main" id="{1A3BA4CF-1A00-42DF-9042-2AA3B8D49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501" y="3999045"/>
            <a:ext cx="279082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1B0681B0-712C-47AE-A5A3-FF07F4449FA1}"/>
              </a:ext>
            </a:extLst>
          </p:cNvPr>
          <p:cNvSpPr/>
          <p:nvPr/>
        </p:nvSpPr>
        <p:spPr>
          <a:xfrm>
            <a:off x="5830430" y="4600619"/>
            <a:ext cx="839821" cy="30301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84334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AD176EC-FAC1-47D3-B35D-AF6C85E9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095" y="3578932"/>
            <a:ext cx="11029615" cy="1497507"/>
          </a:xfrm>
        </p:spPr>
        <p:txBody>
          <a:bodyPr/>
          <a:lstStyle/>
          <a:p>
            <a:r>
              <a:rPr lang="es-AR" dirty="0"/>
              <a:t>Controles de usuario</a:t>
            </a:r>
          </a:p>
        </p:txBody>
      </p:sp>
    </p:spTree>
    <p:extLst>
      <p:ext uri="{BB962C8B-B14F-4D97-AF65-F5344CB8AC3E}">
        <p14:creationId xmlns:p14="http://schemas.microsoft.com/office/powerpoint/2010/main" val="240961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textbox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618" y="523386"/>
            <a:ext cx="11029615" cy="3678303"/>
          </a:xfrm>
        </p:spPr>
        <p:txBody>
          <a:bodyPr/>
          <a:lstStyle/>
          <a:p>
            <a:r>
              <a:rPr lang="es-ES" b="0" i="0" dirty="0">
                <a:solidFill>
                  <a:srgbClr val="14171A"/>
                </a:solidFill>
                <a:effectLst/>
                <a:latin typeface="Arial" panose="020B0604020202020204" pitchFamily="34" charset="0"/>
              </a:rPr>
              <a:t>Los </a:t>
            </a:r>
            <a:r>
              <a:rPr lang="es-ES" b="0" i="0" dirty="0" err="1">
                <a:solidFill>
                  <a:srgbClr val="14171A"/>
                </a:solidFill>
                <a:effectLst/>
                <a:latin typeface="Arial" panose="020B0604020202020204" pitchFamily="34" charset="0"/>
              </a:rPr>
              <a:t>ComboBoxes</a:t>
            </a:r>
            <a:r>
              <a:rPr lang="es-ES" b="0" i="0" dirty="0">
                <a:solidFill>
                  <a:srgbClr val="14171A"/>
                </a:solidFill>
                <a:effectLst/>
                <a:latin typeface="Arial" panose="020B0604020202020204" pitchFamily="34" charset="0"/>
              </a:rPr>
              <a:t> permiten al usuario elegir una de varias opciones proporcionadas por el desarrollador.</a:t>
            </a:r>
          </a:p>
          <a:p>
            <a:r>
              <a:rPr lang="es-ES" dirty="0">
                <a:solidFill>
                  <a:srgbClr val="14171A"/>
                </a:solidFill>
                <a:latin typeface="Arial" panose="020B0604020202020204" pitchFamily="34" charset="0"/>
              </a:rPr>
              <a:t>Se puede utilizar la Propiedad </a:t>
            </a:r>
            <a:r>
              <a:rPr lang="es-ES" dirty="0" err="1">
                <a:solidFill>
                  <a:srgbClr val="14171A"/>
                </a:solidFill>
                <a:latin typeface="Arial" panose="020B0604020202020204" pitchFamily="34" charset="0"/>
              </a:rPr>
              <a:t>Items</a:t>
            </a:r>
            <a:r>
              <a:rPr lang="es-ES" dirty="0">
                <a:solidFill>
                  <a:srgbClr val="14171A"/>
                </a:solidFill>
                <a:latin typeface="Arial" panose="020B0604020202020204" pitchFamily="34" charset="0"/>
              </a:rPr>
              <a:t> para agregar ítems al control</a:t>
            </a:r>
            <a:endParaRPr lang="es-AR" dirty="0"/>
          </a:p>
        </p:txBody>
      </p:sp>
      <p:pic>
        <p:nvPicPr>
          <p:cNvPr id="2051" name="Picture 3" descr="introduzca la descripción de la imagen aquí">
            <a:extLst>
              <a:ext uri="{FF2B5EF4-FFF2-40B4-BE49-F238E27FC236}">
                <a16:creationId xmlns:a16="http://schemas.microsoft.com/office/drawing/2014/main" id="{0A32B07D-5CA7-4D6F-9EF5-EB84BC8E6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44" y="3030332"/>
            <a:ext cx="481965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7C31F30-4F78-4622-BAEB-2D0E1E027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308" y="2821100"/>
            <a:ext cx="5209363" cy="121579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AD37E77-3E87-463A-B134-FB08131266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8959" y="4473900"/>
            <a:ext cx="4076700" cy="2266950"/>
          </a:xfrm>
          <a:prstGeom prst="rect">
            <a:avLst/>
          </a:prstGeom>
        </p:spPr>
      </p:pic>
      <p:sp>
        <p:nvSpPr>
          <p:cNvPr id="13" name="Flecha: a la derecha 12">
            <a:extLst>
              <a:ext uri="{FF2B5EF4-FFF2-40B4-BE49-F238E27FC236}">
                <a16:creationId xmlns:a16="http://schemas.microsoft.com/office/drawing/2014/main" id="{C7D658E6-0DDB-4859-A7D5-1D84862C79A4}"/>
              </a:ext>
            </a:extLst>
          </p:cNvPr>
          <p:cNvSpPr/>
          <p:nvPr/>
        </p:nvSpPr>
        <p:spPr>
          <a:xfrm>
            <a:off x="5807413" y="3550596"/>
            <a:ext cx="462457" cy="3112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204FE9D4-0890-48A4-AE60-5D1AD6261C3E}"/>
              </a:ext>
            </a:extLst>
          </p:cNvPr>
          <p:cNvSpPr/>
          <p:nvPr/>
        </p:nvSpPr>
        <p:spPr>
          <a:xfrm>
            <a:off x="8978453" y="4086275"/>
            <a:ext cx="377072" cy="2515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1939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Numeric</a:t>
            </a:r>
            <a:r>
              <a:rPr lang="es-ES" dirty="0">
                <a:latin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</a:rPr>
              <a:t>updown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s-ES" dirty="0" err="1"/>
              <a:t>NumericUpDown</a:t>
            </a:r>
            <a:r>
              <a:rPr lang="es-ES" dirty="0"/>
              <a:t> es un control que se parece a </a:t>
            </a:r>
            <a:r>
              <a:rPr lang="es-ES" dirty="0" err="1"/>
              <a:t>TextBox</a:t>
            </a:r>
            <a:r>
              <a:rPr lang="es-ES" dirty="0"/>
              <a:t>. Este control permite al usuario mostrar / seleccionar un número desde un rango. Las flechas arriba y abajo están actualizando el valor del cuadro de texto.</a:t>
            </a:r>
          </a:p>
          <a:p>
            <a:r>
              <a:rPr lang="es-ES" dirty="0"/>
              <a:t>Se pueden usar las propiedades </a:t>
            </a:r>
            <a:r>
              <a:rPr lang="es-ES" dirty="0" err="1"/>
              <a:t>Maximum</a:t>
            </a:r>
            <a:r>
              <a:rPr lang="es-ES" dirty="0"/>
              <a:t> y </a:t>
            </a:r>
            <a:r>
              <a:rPr lang="es-ES" dirty="0" err="1"/>
              <a:t>Minimum</a:t>
            </a:r>
            <a:r>
              <a:rPr lang="es-ES" dirty="0"/>
              <a:t> para establecer el rango.</a:t>
            </a:r>
          </a:p>
          <a:p>
            <a:r>
              <a:rPr lang="es-ES" dirty="0"/>
              <a:t>Se puede utilizar la propiedad </a:t>
            </a:r>
            <a:r>
              <a:rPr lang="es-ES" dirty="0" err="1"/>
              <a:t>Value</a:t>
            </a:r>
            <a:r>
              <a:rPr lang="es-ES" dirty="0"/>
              <a:t> para acceder al valor que tiene el control</a:t>
            </a:r>
            <a:endParaRPr lang="es-AR" dirty="0"/>
          </a:p>
        </p:txBody>
      </p:sp>
      <p:pic>
        <p:nvPicPr>
          <p:cNvPr id="4098" name="Picture 2" descr="introduzca la descripción de la imagen aquí">
            <a:extLst>
              <a:ext uri="{FF2B5EF4-FFF2-40B4-BE49-F238E27FC236}">
                <a16:creationId xmlns:a16="http://schemas.microsoft.com/office/drawing/2014/main" id="{99506889-5132-4142-84CB-189365687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759" y="4360475"/>
            <a:ext cx="3152479" cy="1962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60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E32549B-1EC0-42F8-A984-2AB2DBB5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800" b="0" i="0" u="none" strike="noStrike" dirty="0" err="1">
                <a:effectLst/>
                <a:latin typeface="Arial" panose="020B0604020202020204" pitchFamily="34" charset="0"/>
              </a:rPr>
              <a:t>checkbox</a:t>
            </a:r>
            <a:br>
              <a:rPr lang="es-ES" sz="2800" b="0" i="0" u="none" strike="noStrike" dirty="0">
                <a:effectLst/>
                <a:latin typeface="Arial" panose="020B0604020202020204" pitchFamily="34" charset="0"/>
              </a:rPr>
            </a:br>
            <a:endParaRPr lang="es-AR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F6D9D6-1586-4531-8244-A114113D9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s-ES" dirty="0" err="1"/>
              <a:t>Checkbox</a:t>
            </a:r>
            <a:r>
              <a:rPr lang="es-ES" dirty="0"/>
              <a:t> es un control que permite al usuario obtener valores </a:t>
            </a:r>
            <a:r>
              <a:rPr lang="es-ES" dirty="0" err="1"/>
              <a:t>boolean</a:t>
            </a:r>
            <a:r>
              <a:rPr lang="es-ES" dirty="0"/>
              <a:t> de un usuario para una pregunta específica como por ejemplo "¿Estás bien?" .</a:t>
            </a:r>
          </a:p>
          <a:p>
            <a:r>
              <a:rPr lang="es-ES" dirty="0"/>
              <a:t>Tiene un evento llamado </a:t>
            </a:r>
            <a:r>
              <a:rPr lang="es-ES" dirty="0" err="1"/>
              <a:t>CheckedChanged</a:t>
            </a:r>
            <a:r>
              <a:rPr lang="es-ES" dirty="0"/>
              <a:t> , que ocurre cada vez que se cambia la propiedad de </a:t>
            </a:r>
            <a:r>
              <a:rPr lang="es-ES" dirty="0" err="1"/>
              <a:t>check</a:t>
            </a:r>
            <a:r>
              <a:rPr lang="es-ES" dirty="0"/>
              <a:t> .</a:t>
            </a:r>
          </a:p>
          <a:p>
            <a:pPr lvl="1"/>
            <a:r>
              <a:rPr lang="es-AR" dirty="0"/>
              <a:t>Si </a:t>
            </a:r>
            <a:r>
              <a:rPr lang="es-AR" dirty="0" err="1"/>
              <a:t>CheckBox</a:t>
            </a:r>
            <a:r>
              <a:rPr lang="es-AR" dirty="0"/>
              <a:t> está marcado -&gt; </a:t>
            </a:r>
            <a:r>
              <a:rPr lang="es-AR" dirty="0" err="1"/>
              <a:t>IsChecked</a:t>
            </a:r>
            <a:r>
              <a:rPr lang="es-AR" dirty="0"/>
              <a:t> será true .</a:t>
            </a:r>
          </a:p>
          <a:p>
            <a:pPr lvl="1"/>
            <a:r>
              <a:rPr lang="es-AR" dirty="0"/>
              <a:t>Si </a:t>
            </a:r>
            <a:r>
              <a:rPr lang="es-AR" dirty="0" err="1"/>
              <a:t>CheckBox</a:t>
            </a:r>
            <a:r>
              <a:rPr lang="es-AR" dirty="0"/>
              <a:t> no está marcado -&gt; </a:t>
            </a:r>
            <a:r>
              <a:rPr lang="es-AR" dirty="0" err="1"/>
              <a:t>IsChecked</a:t>
            </a:r>
            <a:r>
              <a:rPr lang="es-AR" dirty="0"/>
              <a:t> será false .</a:t>
            </a:r>
          </a:p>
        </p:txBody>
      </p:sp>
      <p:pic>
        <p:nvPicPr>
          <p:cNvPr id="5122" name="Picture 2" descr="introduzca la descripción de la imagen aquí">
            <a:extLst>
              <a:ext uri="{FF2B5EF4-FFF2-40B4-BE49-F238E27FC236}">
                <a16:creationId xmlns:a16="http://schemas.microsoft.com/office/drawing/2014/main" id="{4051CEE4-827E-4CB6-953D-A2586E518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448" y="4146106"/>
            <a:ext cx="29337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2723433-B768-4A9E-AA56-43F1CF853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2882" y="4430049"/>
            <a:ext cx="62579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6175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450</Words>
  <Application>Microsoft Office PowerPoint</Application>
  <PresentationFormat>Panorámica</PresentationFormat>
  <Paragraphs>53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Gill Sans MT</vt:lpstr>
      <vt:lpstr>Wingdings 2</vt:lpstr>
      <vt:lpstr>Dividendo</vt:lpstr>
      <vt:lpstr>Presentación de PowerPoint</vt:lpstr>
      <vt:lpstr>Unidad 1</vt:lpstr>
      <vt:lpstr>temas</vt:lpstr>
      <vt:lpstr>Controles de usuario </vt:lpstr>
      <vt:lpstr>Controles de usuario </vt:lpstr>
      <vt:lpstr>Controles de usuario - propiedades </vt:lpstr>
      <vt:lpstr>Controles de usuario - eventos </vt:lpstr>
      <vt:lpstr>Button </vt:lpstr>
      <vt:lpstr>Controles de usuario</vt:lpstr>
      <vt:lpstr>textbox </vt:lpstr>
      <vt:lpstr>Numeric updown </vt:lpstr>
      <vt:lpstr>checkbox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 – PROGRAMACIÓN ESTRUCTURADA</dc:title>
  <dc:creator>Battaglia, Nicolas</dc:creator>
  <cp:lastModifiedBy>Rodriguez Escobedo, Julian</cp:lastModifiedBy>
  <cp:revision>51</cp:revision>
  <dcterms:created xsi:type="dcterms:W3CDTF">2020-06-09T18:56:19Z</dcterms:created>
  <dcterms:modified xsi:type="dcterms:W3CDTF">2023-03-06T19:14:56Z</dcterms:modified>
</cp:coreProperties>
</file>