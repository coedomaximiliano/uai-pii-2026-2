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9.jpg" ContentType="image/jpeg"/>
  <Override PartName="/ppt/media/image16.jpg" ContentType="image/jpeg"/>
  <Override PartName="/ppt/media/image17.jpg" ContentType="image/jpeg"/>
  <Override PartName="/ppt/media/image18.jpg" ContentType="image/jpeg"/>
  <Override PartName="/ppt/media/image19.jpg" ContentType="image/jpeg"/>
  <Override PartName="/ppt/media/image20.jpg" ContentType="image/jpeg"/>
  <Override PartName="/ppt/media/image21.jpg" ContentType="image/jpeg"/>
  <Override PartName="/ppt/media/image22.jpg" ContentType="image/jpeg"/>
  <Override PartName="/ppt/media/image24.jpg" ContentType="image/jpeg"/>
  <Override PartName="/ppt/media/image25.jpg" ContentType="image/jpeg"/>
  <Override PartName="/ppt/media/image26.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74" r:id="rId2"/>
    <p:sldId id="275" r:id="rId3"/>
    <p:sldId id="276"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 id="269" r:id="rId36"/>
  </p:sldIdLst>
  <p:sldSz cx="12192000" cy="6858000"/>
  <p:notesSz cx="12192000" cy="6858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59003B-2340-4899-903E-673FBCFBBBFB}" v="79" dt="2023-04-10T17:12:33.347"/>
    <p1510:client id="{DD593837-0009-4906-A4A0-22ADBABB9BD8}" v="37" dt="2023-04-11T12:04:57.392"/>
    <p1510:client id="{FF24E7CE-9290-43E6-9707-5C7AE54C2836}" v="24" dt="2023-04-10T17:24:06.62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6" autoAdjust="0"/>
    <p:restoredTop sz="94660"/>
  </p:normalViewPr>
  <p:slideViewPr>
    <p:cSldViewPr>
      <p:cViewPr varScale="1">
        <p:scale>
          <a:sx n="97" d="100"/>
          <a:sy n="97" d="100"/>
        </p:scale>
        <p:origin x="78" y="2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ali, Jorge" userId="1185e97b-6c7a-4bfd-b070-64c464bdfe27" providerId="ADAL" clId="{FF24E7CE-9290-43E6-9707-5C7AE54C2836}"/>
    <pc:docChg chg="modSld">
      <pc:chgData name="Scali, Jorge" userId="1185e97b-6c7a-4bfd-b070-64c464bdfe27" providerId="ADAL" clId="{FF24E7CE-9290-43E6-9707-5C7AE54C2836}" dt="2023-04-10T17:29:19.810" v="28" actId="20577"/>
      <pc:docMkLst>
        <pc:docMk/>
      </pc:docMkLst>
      <pc:sldChg chg="addSp modSp mod modAnim">
        <pc:chgData name="Scali, Jorge" userId="1185e97b-6c7a-4bfd-b070-64c464bdfe27" providerId="ADAL" clId="{FF24E7CE-9290-43E6-9707-5C7AE54C2836}" dt="2023-04-10T17:24:06.628" v="27"/>
        <pc:sldMkLst>
          <pc:docMk/>
          <pc:sldMk cId="0" sldId="261"/>
        </pc:sldMkLst>
        <pc:spChg chg="mod">
          <ac:chgData name="Scali, Jorge" userId="1185e97b-6c7a-4bfd-b070-64c464bdfe27" providerId="ADAL" clId="{FF24E7CE-9290-43E6-9707-5C7AE54C2836}" dt="2023-04-10T17:24:00.644" v="26" actId="1076"/>
          <ac:spMkLst>
            <pc:docMk/>
            <pc:sldMk cId="0" sldId="261"/>
            <ac:spMk id="5" creationId="{32F42E33-767C-5D1C-BE38-40EA9F6B8780}"/>
          </ac:spMkLst>
        </pc:spChg>
        <pc:picChg chg="add mod">
          <ac:chgData name="Scali, Jorge" userId="1185e97b-6c7a-4bfd-b070-64c464bdfe27" providerId="ADAL" clId="{FF24E7CE-9290-43E6-9707-5C7AE54C2836}" dt="2023-04-10T17:23:50.507" v="24" actId="14100"/>
          <ac:picMkLst>
            <pc:docMk/>
            <pc:sldMk cId="0" sldId="261"/>
            <ac:picMk id="3074" creationId="{671092EE-8791-95CA-EFCC-7125ED8B4CA8}"/>
          </ac:picMkLst>
        </pc:picChg>
      </pc:sldChg>
      <pc:sldChg chg="addSp modSp modAnim">
        <pc:chgData name="Scali, Jorge" userId="1185e97b-6c7a-4bfd-b070-64c464bdfe27" providerId="ADAL" clId="{FF24E7CE-9290-43E6-9707-5C7AE54C2836}" dt="2023-04-10T17:18:24.309" v="5"/>
        <pc:sldMkLst>
          <pc:docMk/>
          <pc:sldMk cId="0" sldId="267"/>
        </pc:sldMkLst>
        <pc:picChg chg="add mod">
          <ac:chgData name="Scali, Jorge" userId="1185e97b-6c7a-4bfd-b070-64c464bdfe27" providerId="ADAL" clId="{FF24E7CE-9290-43E6-9707-5C7AE54C2836}" dt="2023-04-10T17:18:07.435" v="4" actId="1076"/>
          <ac:picMkLst>
            <pc:docMk/>
            <pc:sldMk cId="0" sldId="267"/>
            <ac:picMk id="1026" creationId="{E76ABF19-47DB-D71D-A0B7-2B0A88D5A4C6}"/>
          </ac:picMkLst>
        </pc:picChg>
      </pc:sldChg>
      <pc:sldChg chg="addSp modSp mod modAnim">
        <pc:chgData name="Scali, Jorge" userId="1185e97b-6c7a-4bfd-b070-64c464bdfe27" providerId="ADAL" clId="{FF24E7CE-9290-43E6-9707-5C7AE54C2836}" dt="2023-04-10T17:20:34.170" v="15"/>
        <pc:sldMkLst>
          <pc:docMk/>
          <pc:sldMk cId="0" sldId="270"/>
        </pc:sldMkLst>
        <pc:spChg chg="mod">
          <ac:chgData name="Scali, Jorge" userId="1185e97b-6c7a-4bfd-b070-64c464bdfe27" providerId="ADAL" clId="{FF24E7CE-9290-43E6-9707-5C7AE54C2836}" dt="2023-04-10T17:20:06.708" v="8" actId="14100"/>
          <ac:spMkLst>
            <pc:docMk/>
            <pc:sldMk cId="0" sldId="270"/>
            <ac:spMk id="3" creationId="{00000000-0000-0000-0000-000000000000}"/>
          </ac:spMkLst>
        </pc:spChg>
        <pc:picChg chg="add mod">
          <ac:chgData name="Scali, Jorge" userId="1185e97b-6c7a-4bfd-b070-64c464bdfe27" providerId="ADAL" clId="{FF24E7CE-9290-43E6-9707-5C7AE54C2836}" dt="2023-04-10T17:20:24.507" v="14" actId="14100"/>
          <ac:picMkLst>
            <pc:docMk/>
            <pc:sldMk cId="0" sldId="270"/>
            <ac:picMk id="2050" creationId="{2781B141-D232-126A-3952-EB38FF4A92EC}"/>
          </ac:picMkLst>
        </pc:picChg>
      </pc:sldChg>
      <pc:sldChg chg="modSp mod">
        <pc:chgData name="Scali, Jorge" userId="1185e97b-6c7a-4bfd-b070-64c464bdfe27" providerId="ADAL" clId="{FF24E7CE-9290-43E6-9707-5C7AE54C2836}" dt="2023-04-10T17:29:19.810" v="28" actId="20577"/>
        <pc:sldMkLst>
          <pc:docMk/>
          <pc:sldMk cId="0" sldId="274"/>
        </pc:sldMkLst>
        <pc:spChg chg="mod">
          <ac:chgData name="Scali, Jorge" userId="1185e97b-6c7a-4bfd-b070-64c464bdfe27" providerId="ADAL" clId="{FF24E7CE-9290-43E6-9707-5C7AE54C2836}" dt="2023-04-10T17:29:19.810" v="28" actId="20577"/>
          <ac:spMkLst>
            <pc:docMk/>
            <pc:sldMk cId="0" sldId="274"/>
            <ac:spMk id="3" creationId="{00000000-0000-0000-0000-000000000000}"/>
          </ac:spMkLst>
        </pc:spChg>
      </pc:sldChg>
    </pc:docChg>
  </pc:docChgLst>
  <pc:docChgLst>
    <pc:chgData name="Scali, Jorge" userId="1185e97b-6c7a-4bfd-b070-64c464bdfe27" providerId="ADAL" clId="{DD593837-0009-4906-A4A0-22ADBABB9BD8}"/>
    <pc:docChg chg="custSel addSld modSld">
      <pc:chgData name="Scali, Jorge" userId="1185e97b-6c7a-4bfd-b070-64c464bdfe27" providerId="ADAL" clId="{DD593837-0009-4906-A4A0-22ADBABB9BD8}" dt="2023-04-11T12:04:57.392" v="164"/>
      <pc:docMkLst>
        <pc:docMk/>
      </pc:docMkLst>
      <pc:sldChg chg="add">
        <pc:chgData name="Scali, Jorge" userId="1185e97b-6c7a-4bfd-b070-64c464bdfe27" providerId="ADAL" clId="{DD593837-0009-4906-A4A0-22ADBABB9BD8}" dt="2023-04-10T20:51:03.984" v="0"/>
        <pc:sldMkLst>
          <pc:docMk/>
          <pc:sldMk cId="0" sldId="257"/>
        </pc:sldMkLst>
      </pc:sldChg>
      <pc:sldChg chg="modSp mod modAnim">
        <pc:chgData name="Scali, Jorge" userId="1185e97b-6c7a-4bfd-b070-64c464bdfe27" providerId="ADAL" clId="{DD593837-0009-4906-A4A0-22ADBABB9BD8}" dt="2023-04-10T21:18:16.733" v="138" actId="1076"/>
        <pc:sldMkLst>
          <pc:docMk/>
          <pc:sldMk cId="0" sldId="258"/>
        </pc:sldMkLst>
        <pc:spChg chg="mod">
          <ac:chgData name="Scali, Jorge" userId="1185e97b-6c7a-4bfd-b070-64c464bdfe27" providerId="ADAL" clId="{DD593837-0009-4906-A4A0-22ADBABB9BD8}" dt="2023-04-10T21:18:16.733" v="138" actId="1076"/>
          <ac:spMkLst>
            <pc:docMk/>
            <pc:sldMk cId="0" sldId="258"/>
            <ac:spMk id="4" creationId="{B98A5D83-18BB-C402-1F8C-8F12E631F171}"/>
          </ac:spMkLst>
        </pc:spChg>
      </pc:sldChg>
      <pc:sldChg chg="add modAnim">
        <pc:chgData name="Scali, Jorge" userId="1185e97b-6c7a-4bfd-b070-64c464bdfe27" providerId="ADAL" clId="{DD593837-0009-4906-A4A0-22ADBABB9BD8}" dt="2023-04-10T21:27:18.938" v="139"/>
        <pc:sldMkLst>
          <pc:docMk/>
          <pc:sldMk cId="0" sldId="263"/>
        </pc:sldMkLst>
      </pc:sldChg>
      <pc:sldChg chg="add">
        <pc:chgData name="Scali, Jorge" userId="1185e97b-6c7a-4bfd-b070-64c464bdfe27" providerId="ADAL" clId="{DD593837-0009-4906-A4A0-22ADBABB9BD8}" dt="2023-04-10T20:51:03.984" v="0"/>
        <pc:sldMkLst>
          <pc:docMk/>
          <pc:sldMk cId="0" sldId="264"/>
        </pc:sldMkLst>
      </pc:sldChg>
      <pc:sldChg chg="add">
        <pc:chgData name="Scali, Jorge" userId="1185e97b-6c7a-4bfd-b070-64c464bdfe27" providerId="ADAL" clId="{DD593837-0009-4906-A4A0-22ADBABB9BD8}" dt="2023-04-10T20:51:03.984" v="0"/>
        <pc:sldMkLst>
          <pc:docMk/>
          <pc:sldMk cId="0" sldId="265"/>
        </pc:sldMkLst>
      </pc:sldChg>
      <pc:sldChg chg="add">
        <pc:chgData name="Scali, Jorge" userId="1185e97b-6c7a-4bfd-b070-64c464bdfe27" providerId="ADAL" clId="{DD593837-0009-4906-A4A0-22ADBABB9BD8}" dt="2023-04-10T20:51:03.984" v="0"/>
        <pc:sldMkLst>
          <pc:docMk/>
          <pc:sldMk cId="0" sldId="266"/>
        </pc:sldMkLst>
      </pc:sldChg>
      <pc:sldChg chg="add">
        <pc:chgData name="Scali, Jorge" userId="1185e97b-6c7a-4bfd-b070-64c464bdfe27" providerId="ADAL" clId="{DD593837-0009-4906-A4A0-22ADBABB9BD8}" dt="2023-04-10T20:51:03.984" v="0"/>
        <pc:sldMkLst>
          <pc:docMk/>
          <pc:sldMk cId="0" sldId="268"/>
        </pc:sldMkLst>
      </pc:sldChg>
      <pc:sldChg chg="add">
        <pc:chgData name="Scali, Jorge" userId="1185e97b-6c7a-4bfd-b070-64c464bdfe27" providerId="ADAL" clId="{DD593837-0009-4906-A4A0-22ADBABB9BD8}" dt="2023-04-10T20:51:03.984" v="0"/>
        <pc:sldMkLst>
          <pc:docMk/>
          <pc:sldMk cId="0" sldId="273"/>
        </pc:sldMkLst>
      </pc:sldChg>
      <pc:sldChg chg="addSp modSp mod">
        <pc:chgData name="Scali, Jorge" userId="1185e97b-6c7a-4bfd-b070-64c464bdfe27" providerId="ADAL" clId="{DD593837-0009-4906-A4A0-22ADBABB9BD8}" dt="2023-04-11T12:04:43.646" v="163" actId="1076"/>
        <pc:sldMkLst>
          <pc:docMk/>
          <pc:sldMk cId="0" sldId="274"/>
        </pc:sldMkLst>
        <pc:spChg chg="add mod">
          <ac:chgData name="Scali, Jorge" userId="1185e97b-6c7a-4bfd-b070-64c464bdfe27" providerId="ADAL" clId="{DD593837-0009-4906-A4A0-22ADBABB9BD8}" dt="2023-04-11T12:04:43.646" v="163" actId="1076"/>
          <ac:spMkLst>
            <pc:docMk/>
            <pc:sldMk cId="0" sldId="274"/>
            <ac:spMk id="6" creationId="{7ECB98BF-F9F5-DFDB-F1EF-93F7E9B2E70D}"/>
          </ac:spMkLst>
        </pc:spChg>
        <pc:picChg chg="mod">
          <ac:chgData name="Scali, Jorge" userId="1185e97b-6c7a-4bfd-b070-64c464bdfe27" providerId="ADAL" clId="{DD593837-0009-4906-A4A0-22ADBABB9BD8}" dt="2023-04-11T12:04:36.423" v="162" actId="1076"/>
          <ac:picMkLst>
            <pc:docMk/>
            <pc:sldMk cId="0" sldId="274"/>
            <ac:picMk id="2" creationId="{00000000-0000-0000-0000-000000000000}"/>
          </ac:picMkLst>
        </pc:picChg>
      </pc:sldChg>
      <pc:sldChg chg="addSp modSp add">
        <pc:chgData name="Scali, Jorge" userId="1185e97b-6c7a-4bfd-b070-64c464bdfe27" providerId="ADAL" clId="{DD593837-0009-4906-A4A0-22ADBABB9BD8}" dt="2023-04-11T12:04:57.392" v="164"/>
        <pc:sldMkLst>
          <pc:docMk/>
          <pc:sldMk cId="0" sldId="278"/>
        </pc:sldMkLst>
        <pc:spChg chg="add mod">
          <ac:chgData name="Scali, Jorge" userId="1185e97b-6c7a-4bfd-b070-64c464bdfe27" providerId="ADAL" clId="{DD593837-0009-4906-A4A0-22ADBABB9BD8}" dt="2023-04-11T12:04:57.392" v="164"/>
          <ac:spMkLst>
            <pc:docMk/>
            <pc:sldMk cId="0" sldId="278"/>
            <ac:spMk id="6" creationId="{166C2547-297F-105A-1F6C-AD28E6E5FA35}"/>
          </ac:spMkLst>
        </pc:spChg>
      </pc:sldChg>
      <pc:sldChg chg="add">
        <pc:chgData name="Scali, Jorge" userId="1185e97b-6c7a-4bfd-b070-64c464bdfe27" providerId="ADAL" clId="{DD593837-0009-4906-A4A0-22ADBABB9BD8}" dt="2023-04-10T20:51:03.984" v="0"/>
        <pc:sldMkLst>
          <pc:docMk/>
          <pc:sldMk cId="0" sldId="279"/>
        </pc:sldMkLst>
      </pc:sldChg>
      <pc:sldChg chg="add">
        <pc:chgData name="Scali, Jorge" userId="1185e97b-6c7a-4bfd-b070-64c464bdfe27" providerId="ADAL" clId="{DD593837-0009-4906-A4A0-22ADBABB9BD8}" dt="2023-04-10T20:51:03.984" v="0"/>
        <pc:sldMkLst>
          <pc:docMk/>
          <pc:sldMk cId="0" sldId="280"/>
        </pc:sldMkLst>
      </pc:sldChg>
      <pc:sldChg chg="add">
        <pc:chgData name="Scali, Jorge" userId="1185e97b-6c7a-4bfd-b070-64c464bdfe27" providerId="ADAL" clId="{DD593837-0009-4906-A4A0-22ADBABB9BD8}" dt="2023-04-10T20:51:03.984" v="0"/>
        <pc:sldMkLst>
          <pc:docMk/>
          <pc:sldMk cId="0" sldId="281"/>
        </pc:sldMkLst>
      </pc:sldChg>
      <pc:sldChg chg="add">
        <pc:chgData name="Scali, Jorge" userId="1185e97b-6c7a-4bfd-b070-64c464bdfe27" providerId="ADAL" clId="{DD593837-0009-4906-A4A0-22ADBABB9BD8}" dt="2023-04-10T20:51:03.984" v="0"/>
        <pc:sldMkLst>
          <pc:docMk/>
          <pc:sldMk cId="0" sldId="282"/>
        </pc:sldMkLst>
      </pc:sldChg>
      <pc:sldChg chg="add">
        <pc:chgData name="Scali, Jorge" userId="1185e97b-6c7a-4bfd-b070-64c464bdfe27" providerId="ADAL" clId="{DD593837-0009-4906-A4A0-22ADBABB9BD8}" dt="2023-04-10T20:51:03.984" v="0"/>
        <pc:sldMkLst>
          <pc:docMk/>
          <pc:sldMk cId="0" sldId="283"/>
        </pc:sldMkLst>
      </pc:sldChg>
      <pc:sldChg chg="add">
        <pc:chgData name="Scali, Jorge" userId="1185e97b-6c7a-4bfd-b070-64c464bdfe27" providerId="ADAL" clId="{DD593837-0009-4906-A4A0-22ADBABB9BD8}" dt="2023-04-10T20:51:03.984" v="0"/>
        <pc:sldMkLst>
          <pc:docMk/>
          <pc:sldMk cId="0" sldId="284"/>
        </pc:sldMkLst>
      </pc:sldChg>
      <pc:sldChg chg="add">
        <pc:chgData name="Scali, Jorge" userId="1185e97b-6c7a-4bfd-b070-64c464bdfe27" providerId="ADAL" clId="{DD593837-0009-4906-A4A0-22ADBABB9BD8}" dt="2023-04-10T20:51:03.984" v="0"/>
        <pc:sldMkLst>
          <pc:docMk/>
          <pc:sldMk cId="0" sldId="285"/>
        </pc:sldMkLst>
      </pc:sldChg>
      <pc:sldChg chg="add">
        <pc:chgData name="Scali, Jorge" userId="1185e97b-6c7a-4bfd-b070-64c464bdfe27" providerId="ADAL" clId="{DD593837-0009-4906-A4A0-22ADBABB9BD8}" dt="2023-04-10T20:51:03.984" v="0"/>
        <pc:sldMkLst>
          <pc:docMk/>
          <pc:sldMk cId="0" sldId="286"/>
        </pc:sldMkLst>
      </pc:sldChg>
      <pc:sldChg chg="add">
        <pc:chgData name="Scali, Jorge" userId="1185e97b-6c7a-4bfd-b070-64c464bdfe27" providerId="ADAL" clId="{DD593837-0009-4906-A4A0-22ADBABB9BD8}" dt="2023-04-10T20:51:03.984" v="0"/>
        <pc:sldMkLst>
          <pc:docMk/>
          <pc:sldMk cId="0" sldId="287"/>
        </pc:sldMkLst>
      </pc:sldChg>
      <pc:sldChg chg="add">
        <pc:chgData name="Scali, Jorge" userId="1185e97b-6c7a-4bfd-b070-64c464bdfe27" providerId="ADAL" clId="{DD593837-0009-4906-A4A0-22ADBABB9BD8}" dt="2023-04-10T20:51:03.984" v="0"/>
        <pc:sldMkLst>
          <pc:docMk/>
          <pc:sldMk cId="0" sldId="288"/>
        </pc:sldMkLst>
      </pc:sldChg>
      <pc:sldChg chg="add">
        <pc:chgData name="Scali, Jorge" userId="1185e97b-6c7a-4bfd-b070-64c464bdfe27" providerId="ADAL" clId="{DD593837-0009-4906-A4A0-22ADBABB9BD8}" dt="2023-04-10T20:51:03.984" v="0"/>
        <pc:sldMkLst>
          <pc:docMk/>
          <pc:sldMk cId="0" sldId="289"/>
        </pc:sldMkLst>
      </pc:sldChg>
      <pc:sldChg chg="add">
        <pc:chgData name="Scali, Jorge" userId="1185e97b-6c7a-4bfd-b070-64c464bdfe27" providerId="ADAL" clId="{DD593837-0009-4906-A4A0-22ADBABB9BD8}" dt="2023-04-10T20:51:03.984" v="0"/>
        <pc:sldMkLst>
          <pc:docMk/>
          <pc:sldMk cId="0" sldId="290"/>
        </pc:sldMkLst>
      </pc:sldChg>
      <pc:sldChg chg="add">
        <pc:chgData name="Scali, Jorge" userId="1185e97b-6c7a-4bfd-b070-64c464bdfe27" providerId="ADAL" clId="{DD593837-0009-4906-A4A0-22ADBABB9BD8}" dt="2023-04-10T20:51:03.984" v="0"/>
        <pc:sldMkLst>
          <pc:docMk/>
          <pc:sldMk cId="0" sldId="291"/>
        </pc:sldMkLst>
      </pc:sldChg>
      <pc:sldChg chg="add">
        <pc:chgData name="Scali, Jorge" userId="1185e97b-6c7a-4bfd-b070-64c464bdfe27" providerId="ADAL" clId="{DD593837-0009-4906-A4A0-22ADBABB9BD8}" dt="2023-04-10T20:51:03.984" v="0"/>
        <pc:sldMkLst>
          <pc:docMk/>
          <pc:sldMk cId="2855269721" sldId="293"/>
        </pc:sldMkLst>
      </pc:sldChg>
      <pc:sldChg chg="add">
        <pc:chgData name="Scali, Jorge" userId="1185e97b-6c7a-4bfd-b070-64c464bdfe27" providerId="ADAL" clId="{DD593837-0009-4906-A4A0-22ADBABB9BD8}" dt="2023-04-10T20:51:34.029" v="1"/>
        <pc:sldMkLst>
          <pc:docMk/>
          <pc:sldMk cId="662722689" sldId="294"/>
        </pc:sldMkLst>
      </pc:sldChg>
      <pc:sldChg chg="addSp delSp modSp new mod modAnim">
        <pc:chgData name="Scali, Jorge" userId="1185e97b-6c7a-4bfd-b070-64c464bdfe27" providerId="ADAL" clId="{DD593837-0009-4906-A4A0-22ADBABB9BD8}" dt="2023-04-10T21:09:10.158" v="125"/>
        <pc:sldMkLst>
          <pc:docMk/>
          <pc:sldMk cId="94298196" sldId="295"/>
        </pc:sldMkLst>
        <pc:spChg chg="del">
          <ac:chgData name="Scali, Jorge" userId="1185e97b-6c7a-4bfd-b070-64c464bdfe27" providerId="ADAL" clId="{DD593837-0009-4906-A4A0-22ADBABB9BD8}" dt="2023-04-10T20:54:33.894" v="12" actId="478"/>
          <ac:spMkLst>
            <pc:docMk/>
            <pc:sldMk cId="94298196" sldId="295"/>
            <ac:spMk id="2" creationId="{06D72C26-07B0-185F-6935-5CA1C439FCA5}"/>
          </ac:spMkLst>
        </pc:spChg>
        <pc:spChg chg="add del">
          <ac:chgData name="Scali, Jorge" userId="1185e97b-6c7a-4bfd-b070-64c464bdfe27" providerId="ADAL" clId="{DD593837-0009-4906-A4A0-22ADBABB9BD8}" dt="2023-04-10T20:53:14.538" v="4"/>
          <ac:spMkLst>
            <pc:docMk/>
            <pc:sldMk cId="94298196" sldId="295"/>
            <ac:spMk id="3" creationId="{EC9FD6BE-12C4-669A-BA7F-B8E80504A0DD}"/>
          </ac:spMkLst>
        </pc:spChg>
        <pc:spChg chg="add del">
          <ac:chgData name="Scali, Jorge" userId="1185e97b-6c7a-4bfd-b070-64c464bdfe27" providerId="ADAL" clId="{DD593837-0009-4906-A4A0-22ADBABB9BD8}" dt="2023-04-10T20:53:14.538" v="4"/>
          <ac:spMkLst>
            <pc:docMk/>
            <pc:sldMk cId="94298196" sldId="295"/>
            <ac:spMk id="4" creationId="{008C822D-A8BB-C806-B9F7-BD3A39E86CCA}"/>
          </ac:spMkLst>
        </pc:spChg>
        <pc:spChg chg="add del">
          <ac:chgData name="Scali, Jorge" userId="1185e97b-6c7a-4bfd-b070-64c464bdfe27" providerId="ADAL" clId="{DD593837-0009-4906-A4A0-22ADBABB9BD8}" dt="2023-04-10T20:53:14.538" v="4"/>
          <ac:spMkLst>
            <pc:docMk/>
            <pc:sldMk cId="94298196" sldId="295"/>
            <ac:spMk id="5" creationId="{32416991-D3C0-A33B-F124-E61F79BF3FF9}"/>
          </ac:spMkLst>
        </pc:spChg>
        <pc:spChg chg="add del">
          <ac:chgData name="Scali, Jorge" userId="1185e97b-6c7a-4bfd-b070-64c464bdfe27" providerId="ADAL" clId="{DD593837-0009-4906-A4A0-22ADBABB9BD8}" dt="2023-04-10T20:53:14.538" v="4"/>
          <ac:spMkLst>
            <pc:docMk/>
            <pc:sldMk cId="94298196" sldId="295"/>
            <ac:spMk id="6" creationId="{0C78CB8F-501B-DC6A-288F-01F86126C8E7}"/>
          </ac:spMkLst>
        </pc:spChg>
        <pc:spChg chg="add del">
          <ac:chgData name="Scali, Jorge" userId="1185e97b-6c7a-4bfd-b070-64c464bdfe27" providerId="ADAL" clId="{DD593837-0009-4906-A4A0-22ADBABB9BD8}" dt="2023-04-10T20:53:14.538" v="4"/>
          <ac:spMkLst>
            <pc:docMk/>
            <pc:sldMk cId="94298196" sldId="295"/>
            <ac:spMk id="7" creationId="{0E9A73DC-D35A-DBB3-821B-D645ADD3C7E5}"/>
          </ac:spMkLst>
        </pc:spChg>
        <pc:spChg chg="add del">
          <ac:chgData name="Scali, Jorge" userId="1185e97b-6c7a-4bfd-b070-64c464bdfe27" providerId="ADAL" clId="{DD593837-0009-4906-A4A0-22ADBABB9BD8}" dt="2023-04-10T20:53:14.538" v="4"/>
          <ac:spMkLst>
            <pc:docMk/>
            <pc:sldMk cId="94298196" sldId="295"/>
            <ac:spMk id="8" creationId="{A6EA62CE-6379-1914-9216-4B5FA9D32CCA}"/>
          </ac:spMkLst>
        </pc:spChg>
        <pc:spChg chg="add del">
          <ac:chgData name="Scali, Jorge" userId="1185e97b-6c7a-4bfd-b070-64c464bdfe27" providerId="ADAL" clId="{DD593837-0009-4906-A4A0-22ADBABB9BD8}" dt="2023-04-10T20:53:14.538" v="4"/>
          <ac:spMkLst>
            <pc:docMk/>
            <pc:sldMk cId="94298196" sldId="295"/>
            <ac:spMk id="9" creationId="{2E61B19E-DD07-31C1-E708-B3BB926A1FA8}"/>
          </ac:spMkLst>
        </pc:spChg>
        <pc:spChg chg="add del">
          <ac:chgData name="Scali, Jorge" userId="1185e97b-6c7a-4bfd-b070-64c464bdfe27" providerId="ADAL" clId="{DD593837-0009-4906-A4A0-22ADBABB9BD8}" dt="2023-04-10T20:53:14.538" v="4"/>
          <ac:spMkLst>
            <pc:docMk/>
            <pc:sldMk cId="94298196" sldId="295"/>
            <ac:spMk id="10" creationId="{6D954897-D2C5-487F-3D5C-EF04681C4FA0}"/>
          </ac:spMkLst>
        </pc:spChg>
        <pc:spChg chg="add del">
          <ac:chgData name="Scali, Jorge" userId="1185e97b-6c7a-4bfd-b070-64c464bdfe27" providerId="ADAL" clId="{DD593837-0009-4906-A4A0-22ADBABB9BD8}" dt="2023-04-10T20:53:14.538" v="4"/>
          <ac:spMkLst>
            <pc:docMk/>
            <pc:sldMk cId="94298196" sldId="295"/>
            <ac:spMk id="11" creationId="{7C0AEF9D-E24C-E7AC-4437-014C2C08DBAD}"/>
          </ac:spMkLst>
        </pc:spChg>
        <pc:spChg chg="add del mod">
          <ac:chgData name="Scali, Jorge" userId="1185e97b-6c7a-4bfd-b070-64c464bdfe27" providerId="ADAL" clId="{DD593837-0009-4906-A4A0-22ADBABB9BD8}" dt="2023-04-10T20:53:36.068" v="9"/>
          <ac:spMkLst>
            <pc:docMk/>
            <pc:sldMk cId="94298196" sldId="295"/>
            <ac:spMk id="12" creationId="{100FF4CA-6AA8-16AA-8785-40FE46AB7223}"/>
          </ac:spMkLst>
        </pc:spChg>
        <pc:spChg chg="add mod">
          <ac:chgData name="Scali, Jorge" userId="1185e97b-6c7a-4bfd-b070-64c464bdfe27" providerId="ADAL" clId="{DD593837-0009-4906-A4A0-22ADBABB9BD8}" dt="2023-04-10T21:05:44.179" v="89" actId="1076"/>
          <ac:spMkLst>
            <pc:docMk/>
            <pc:sldMk cId="94298196" sldId="295"/>
            <ac:spMk id="13" creationId="{200E0084-A3BA-259E-B136-0BBD051DF75F}"/>
          </ac:spMkLst>
        </pc:spChg>
        <pc:spChg chg="add">
          <ac:chgData name="Scali, Jorge" userId="1185e97b-6c7a-4bfd-b070-64c464bdfe27" providerId="ADAL" clId="{DD593837-0009-4906-A4A0-22ADBABB9BD8}" dt="2023-04-10T20:53:30.509" v="7"/>
          <ac:spMkLst>
            <pc:docMk/>
            <pc:sldMk cId="94298196" sldId="295"/>
            <ac:spMk id="14" creationId="{A66E5F8F-893D-E154-E5AA-6A183BB6456A}"/>
          </ac:spMkLst>
        </pc:spChg>
        <pc:spChg chg="add">
          <ac:chgData name="Scali, Jorge" userId="1185e97b-6c7a-4bfd-b070-64c464bdfe27" providerId="ADAL" clId="{DD593837-0009-4906-A4A0-22ADBABB9BD8}" dt="2023-04-10T20:53:30.509" v="7"/>
          <ac:spMkLst>
            <pc:docMk/>
            <pc:sldMk cId="94298196" sldId="295"/>
            <ac:spMk id="15" creationId="{3CB78EA1-265B-563C-9470-723EA9AEA154}"/>
          </ac:spMkLst>
        </pc:spChg>
        <pc:spChg chg="add">
          <ac:chgData name="Scali, Jorge" userId="1185e97b-6c7a-4bfd-b070-64c464bdfe27" providerId="ADAL" clId="{DD593837-0009-4906-A4A0-22ADBABB9BD8}" dt="2023-04-10T20:53:30.509" v="7"/>
          <ac:spMkLst>
            <pc:docMk/>
            <pc:sldMk cId="94298196" sldId="295"/>
            <ac:spMk id="16" creationId="{1E0F7DB2-EA8C-A74A-14D6-AB651A2EA4C7}"/>
          </ac:spMkLst>
        </pc:spChg>
        <pc:spChg chg="add">
          <ac:chgData name="Scali, Jorge" userId="1185e97b-6c7a-4bfd-b070-64c464bdfe27" providerId="ADAL" clId="{DD593837-0009-4906-A4A0-22ADBABB9BD8}" dt="2023-04-10T20:53:30.509" v="7"/>
          <ac:spMkLst>
            <pc:docMk/>
            <pc:sldMk cId="94298196" sldId="295"/>
            <ac:spMk id="17" creationId="{350C0EDA-895D-952F-E71E-D776E3ECB4ED}"/>
          </ac:spMkLst>
        </pc:spChg>
        <pc:spChg chg="add">
          <ac:chgData name="Scali, Jorge" userId="1185e97b-6c7a-4bfd-b070-64c464bdfe27" providerId="ADAL" clId="{DD593837-0009-4906-A4A0-22ADBABB9BD8}" dt="2023-04-10T20:53:30.509" v="7"/>
          <ac:spMkLst>
            <pc:docMk/>
            <pc:sldMk cId="94298196" sldId="295"/>
            <ac:spMk id="18" creationId="{765A3FAE-0D0C-B312-D9F0-2934B9987E2A}"/>
          </ac:spMkLst>
        </pc:spChg>
        <pc:spChg chg="add">
          <ac:chgData name="Scali, Jorge" userId="1185e97b-6c7a-4bfd-b070-64c464bdfe27" providerId="ADAL" clId="{DD593837-0009-4906-A4A0-22ADBABB9BD8}" dt="2023-04-10T20:53:30.509" v="7"/>
          <ac:spMkLst>
            <pc:docMk/>
            <pc:sldMk cId="94298196" sldId="295"/>
            <ac:spMk id="19" creationId="{DC8C6C34-C66B-4F1A-1863-804D217EB5C3}"/>
          </ac:spMkLst>
        </pc:spChg>
        <pc:spChg chg="add">
          <ac:chgData name="Scali, Jorge" userId="1185e97b-6c7a-4bfd-b070-64c464bdfe27" providerId="ADAL" clId="{DD593837-0009-4906-A4A0-22ADBABB9BD8}" dt="2023-04-10T20:53:30.509" v="7"/>
          <ac:spMkLst>
            <pc:docMk/>
            <pc:sldMk cId="94298196" sldId="295"/>
            <ac:spMk id="20" creationId="{240C0BEA-EECE-E736-FFA4-4412CD5E5D19}"/>
          </ac:spMkLst>
        </pc:spChg>
        <pc:spChg chg="add">
          <ac:chgData name="Scali, Jorge" userId="1185e97b-6c7a-4bfd-b070-64c464bdfe27" providerId="ADAL" clId="{DD593837-0009-4906-A4A0-22ADBABB9BD8}" dt="2023-04-10T20:53:30.509" v="7"/>
          <ac:spMkLst>
            <pc:docMk/>
            <pc:sldMk cId="94298196" sldId="295"/>
            <ac:spMk id="21" creationId="{71EE122C-0685-465F-DBED-EFA36D425496}"/>
          </ac:spMkLst>
        </pc:spChg>
        <pc:spChg chg="add mod">
          <ac:chgData name="Scali, Jorge" userId="1185e97b-6c7a-4bfd-b070-64c464bdfe27" providerId="ADAL" clId="{DD593837-0009-4906-A4A0-22ADBABB9BD8}" dt="2023-04-10T20:56:40.997" v="38" actId="20577"/>
          <ac:spMkLst>
            <pc:docMk/>
            <pc:sldMk cId="94298196" sldId="295"/>
            <ac:spMk id="22" creationId="{41B4B2D9-AD04-E594-1B8D-BBD1C4C2192C}"/>
          </ac:spMkLst>
        </pc:spChg>
        <pc:spChg chg="add del mod">
          <ac:chgData name="Scali, Jorge" userId="1185e97b-6c7a-4bfd-b070-64c464bdfe27" providerId="ADAL" clId="{DD593837-0009-4906-A4A0-22ADBABB9BD8}" dt="2023-04-10T20:58:37.012" v="58" actId="478"/>
          <ac:spMkLst>
            <pc:docMk/>
            <pc:sldMk cId="94298196" sldId="295"/>
            <ac:spMk id="23" creationId="{E35DA2C2-1345-502B-ACFC-6F7778E2E885}"/>
          </ac:spMkLst>
        </pc:spChg>
      </pc:sldChg>
      <pc:sldChg chg="modSp add mod modAnim">
        <pc:chgData name="Scali, Jorge" userId="1185e97b-6c7a-4bfd-b070-64c464bdfe27" providerId="ADAL" clId="{DD593837-0009-4906-A4A0-22ADBABB9BD8}" dt="2023-04-10T21:10:20.070" v="136"/>
        <pc:sldMkLst>
          <pc:docMk/>
          <pc:sldMk cId="287061516" sldId="296"/>
        </pc:sldMkLst>
        <pc:spChg chg="mod">
          <ac:chgData name="Scali, Jorge" userId="1185e97b-6c7a-4bfd-b070-64c464bdfe27" providerId="ADAL" clId="{DD593837-0009-4906-A4A0-22ADBABB9BD8}" dt="2023-04-10T21:10:14.318" v="135" actId="20577"/>
          <ac:spMkLst>
            <pc:docMk/>
            <pc:sldMk cId="287061516" sldId="296"/>
            <ac:spMk id="13" creationId="{200E0084-A3BA-259E-B136-0BBD051DF75F}"/>
          </ac:spMkLst>
        </pc:spChg>
      </pc:sldChg>
      <pc:sldChg chg="modSp add mod modAnim">
        <pc:chgData name="Scali, Jorge" userId="1185e97b-6c7a-4bfd-b070-64c464bdfe27" providerId="ADAL" clId="{DD593837-0009-4906-A4A0-22ADBABB9BD8}" dt="2023-04-10T21:09:33.079" v="128"/>
        <pc:sldMkLst>
          <pc:docMk/>
          <pc:sldMk cId="2087862630" sldId="297"/>
        </pc:sldMkLst>
        <pc:spChg chg="mod">
          <ac:chgData name="Scali, Jorge" userId="1185e97b-6c7a-4bfd-b070-64c464bdfe27" providerId="ADAL" clId="{DD593837-0009-4906-A4A0-22ADBABB9BD8}" dt="2023-04-10T21:06:39.150" v="97" actId="114"/>
          <ac:spMkLst>
            <pc:docMk/>
            <pc:sldMk cId="2087862630" sldId="297"/>
            <ac:spMk id="13" creationId="{200E0084-A3BA-259E-B136-0BBD051DF7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AR" dirty="0"/>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201A597-DC91-40F9-8D10-3F9F40F51A34}" type="datetimeFigureOut">
              <a:rPr lang="es-AR" smtClean="0"/>
              <a:t>27/8/2026</a:t>
            </a:fld>
            <a:endParaRPr lang="es-AR" dirty="0"/>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AR" dirty="0"/>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AR" dirty="0"/>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5234F8C-6F27-4042-9A2E-00EF595E1BDF}" type="slidenum">
              <a:rPr lang="es-AR" smtClean="0"/>
              <a:t>‹Nº›</a:t>
            </a:fld>
            <a:endParaRPr lang="es-AR" dirty="0"/>
          </a:p>
        </p:txBody>
      </p:sp>
    </p:spTree>
    <p:extLst>
      <p:ext uri="{BB962C8B-B14F-4D97-AF65-F5344CB8AC3E}">
        <p14:creationId xmlns:p14="http://schemas.microsoft.com/office/powerpoint/2010/main" val="3448016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bg1"/>
                </a:solidFill>
                <a:latin typeface="Arial MT"/>
                <a:cs typeface="Arial M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6531" y="457201"/>
            <a:ext cx="3703320" cy="94615"/>
          </a:xfrm>
          <a:custGeom>
            <a:avLst/>
            <a:gdLst/>
            <a:ahLst/>
            <a:cxnLst/>
            <a:rect l="l" t="t" r="r" b="b"/>
            <a:pathLst>
              <a:path w="3703320" h="94615">
                <a:moveTo>
                  <a:pt x="3703320" y="0"/>
                </a:moveTo>
                <a:lnTo>
                  <a:pt x="0" y="0"/>
                </a:lnTo>
                <a:lnTo>
                  <a:pt x="0" y="94359"/>
                </a:lnTo>
                <a:lnTo>
                  <a:pt x="3703320" y="94359"/>
                </a:lnTo>
                <a:lnTo>
                  <a:pt x="3703320" y="0"/>
                </a:lnTo>
                <a:close/>
              </a:path>
            </a:pathLst>
          </a:custGeom>
          <a:solidFill>
            <a:srgbClr val="4D1234"/>
          </a:solidFill>
        </p:spPr>
        <p:txBody>
          <a:bodyPr wrap="square" lIns="0" tIns="0" rIns="0" bIns="0" rtlCol="0"/>
          <a:lstStyle/>
          <a:p>
            <a:endParaRPr dirty="0"/>
          </a:p>
        </p:txBody>
      </p:sp>
      <p:sp>
        <p:nvSpPr>
          <p:cNvPr id="17" name="bg object 17"/>
          <p:cNvSpPr/>
          <p:nvPr/>
        </p:nvSpPr>
        <p:spPr>
          <a:xfrm>
            <a:off x="8042147" y="454151"/>
            <a:ext cx="3703320" cy="97790"/>
          </a:xfrm>
          <a:custGeom>
            <a:avLst/>
            <a:gdLst/>
            <a:ahLst/>
            <a:cxnLst/>
            <a:rect l="l" t="t" r="r" b="b"/>
            <a:pathLst>
              <a:path w="3703320" h="97790">
                <a:moveTo>
                  <a:pt x="3703320" y="0"/>
                </a:moveTo>
                <a:lnTo>
                  <a:pt x="0" y="0"/>
                </a:lnTo>
                <a:lnTo>
                  <a:pt x="0" y="97282"/>
                </a:lnTo>
                <a:lnTo>
                  <a:pt x="3703320" y="97282"/>
                </a:lnTo>
                <a:lnTo>
                  <a:pt x="3703320" y="0"/>
                </a:lnTo>
                <a:close/>
              </a:path>
            </a:pathLst>
          </a:custGeom>
          <a:solidFill>
            <a:srgbClr val="949FA7"/>
          </a:solidFill>
        </p:spPr>
        <p:txBody>
          <a:bodyPr wrap="square" lIns="0" tIns="0" rIns="0" bIns="0" rtlCol="0"/>
          <a:lstStyle/>
          <a:p>
            <a:endParaRPr dirty="0"/>
          </a:p>
        </p:txBody>
      </p:sp>
      <p:sp>
        <p:nvSpPr>
          <p:cNvPr id="18" name="bg object 18"/>
          <p:cNvSpPr/>
          <p:nvPr/>
        </p:nvSpPr>
        <p:spPr>
          <a:xfrm>
            <a:off x="4241292" y="457201"/>
            <a:ext cx="3703320" cy="91440"/>
          </a:xfrm>
          <a:custGeom>
            <a:avLst/>
            <a:gdLst/>
            <a:ahLst/>
            <a:cxnLst/>
            <a:rect l="l" t="t" r="r" b="b"/>
            <a:pathLst>
              <a:path w="3703320" h="91440">
                <a:moveTo>
                  <a:pt x="3703319" y="0"/>
                </a:moveTo>
                <a:lnTo>
                  <a:pt x="0" y="0"/>
                </a:lnTo>
                <a:lnTo>
                  <a:pt x="0" y="91438"/>
                </a:lnTo>
                <a:lnTo>
                  <a:pt x="3703319" y="91438"/>
                </a:lnTo>
                <a:lnTo>
                  <a:pt x="3703319" y="0"/>
                </a:lnTo>
                <a:close/>
              </a:path>
            </a:pathLst>
          </a:custGeom>
          <a:solidFill>
            <a:srgbClr val="902F61"/>
          </a:solidFill>
        </p:spPr>
        <p:txBody>
          <a:bodyPr wrap="square" lIns="0" tIns="0" rIns="0" bIns="0" rtlCol="0"/>
          <a:lstStyle/>
          <a:p>
            <a:endParaRPr dirty="0"/>
          </a:p>
        </p:txBody>
      </p:sp>
      <p:sp>
        <p:nvSpPr>
          <p:cNvPr id="2" name="Holder 2"/>
          <p:cNvSpPr>
            <a:spLocks noGrp="1"/>
          </p:cNvSpPr>
          <p:nvPr>
            <p:ph type="title"/>
          </p:nvPr>
        </p:nvSpPr>
        <p:spPr>
          <a:xfrm>
            <a:off x="5193919" y="3269107"/>
            <a:ext cx="1804161" cy="406400"/>
          </a:xfrm>
          <a:prstGeom prst="rect">
            <a:avLst/>
          </a:prstGeom>
        </p:spPr>
        <p:txBody>
          <a:bodyPr wrap="square" lIns="0" tIns="0" rIns="0" bIns="0">
            <a:spAutoFit/>
          </a:bodyPr>
          <a:lstStyle>
            <a:lvl1pPr>
              <a:defRPr sz="2500" b="0" i="0">
                <a:solidFill>
                  <a:schemeClr val="bg1"/>
                </a:solidFill>
                <a:latin typeface="Arial MT"/>
                <a:cs typeface="Arial MT"/>
              </a:defRPr>
            </a:lvl1pPr>
          </a:lstStyle>
          <a:p>
            <a:endParaRPr/>
          </a:p>
        </p:txBody>
      </p:sp>
      <p:sp>
        <p:nvSpPr>
          <p:cNvPr id="3" name="Holder 3"/>
          <p:cNvSpPr>
            <a:spLocks noGrp="1"/>
          </p:cNvSpPr>
          <p:nvPr>
            <p:ph type="body" idx="1"/>
          </p:nvPr>
        </p:nvSpPr>
        <p:spPr>
          <a:xfrm>
            <a:off x="633171" y="2973070"/>
            <a:ext cx="10925657" cy="14890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8/27/2026</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 y="0"/>
            <a:ext cx="12191999" cy="6857998"/>
          </a:xfrm>
          <a:prstGeom prst="rect">
            <a:avLst/>
          </a:prstGeom>
        </p:spPr>
      </p:pic>
      <p:sp>
        <p:nvSpPr>
          <p:cNvPr id="3" name="object 3"/>
          <p:cNvSpPr txBox="1">
            <a:spLocks noGrp="1"/>
          </p:cNvSpPr>
          <p:nvPr>
            <p:ph type="title"/>
          </p:nvPr>
        </p:nvSpPr>
        <p:spPr>
          <a:xfrm>
            <a:off x="609600" y="1036701"/>
            <a:ext cx="11277600" cy="1420453"/>
          </a:xfrm>
          <a:prstGeom prst="rect">
            <a:avLst/>
          </a:prstGeom>
        </p:spPr>
        <p:txBody>
          <a:bodyPr vert="horz" wrap="square" lIns="0" tIns="12700" rIns="0" bIns="0" rtlCol="0">
            <a:spAutoFit/>
          </a:bodyPr>
          <a:lstStyle/>
          <a:p>
            <a:pPr marL="12700" marR="5080">
              <a:lnSpc>
                <a:spcPts val="5700"/>
              </a:lnSpc>
              <a:spcBef>
                <a:spcPts val="95"/>
              </a:spcBef>
            </a:pPr>
            <a:r>
              <a:rPr lang="es-AR" sz="4400" b="1" spc="-15" noProof="0" dirty="0">
                <a:solidFill>
                  <a:schemeClr val="bg1"/>
                </a:solidFill>
                <a:latin typeface="Arial"/>
                <a:cs typeface="Arial"/>
              </a:rPr>
              <a:t>Clase 3: Introducción a la programación visual - Parte 2</a:t>
            </a:r>
            <a:endParaRPr lang="es-AR" sz="4400" noProof="0" dirty="0">
              <a:solidFill>
                <a:schemeClr val="bg1"/>
              </a:solidFill>
              <a:latin typeface="Arial"/>
              <a:cs typeface="Arial"/>
            </a:endParaRPr>
          </a:p>
        </p:txBody>
      </p:sp>
      <p:sp>
        <p:nvSpPr>
          <p:cNvPr id="4" name="object 4"/>
          <p:cNvSpPr txBox="1"/>
          <p:nvPr/>
        </p:nvSpPr>
        <p:spPr>
          <a:xfrm>
            <a:off x="5257800" y="122436"/>
            <a:ext cx="6781799" cy="289823"/>
          </a:xfrm>
          <a:prstGeom prst="rect">
            <a:avLst/>
          </a:prstGeom>
        </p:spPr>
        <p:txBody>
          <a:bodyPr vert="horz" wrap="square" lIns="0" tIns="12700" rIns="0" bIns="0" rtlCol="0">
            <a:spAutoFit/>
          </a:bodyPr>
          <a:lstStyle/>
          <a:p>
            <a:pPr marL="12700">
              <a:lnSpc>
                <a:spcPct val="100000"/>
              </a:lnSpc>
              <a:spcBef>
                <a:spcPts val="100"/>
              </a:spcBef>
            </a:pPr>
            <a:r>
              <a:rPr lang="es-AR" spc="-5" noProof="0" dirty="0">
                <a:solidFill>
                  <a:srgbClr val="FFFFFF"/>
                </a:solidFill>
                <a:latin typeface="Arial MT"/>
                <a:cs typeface="Arial MT"/>
              </a:rPr>
              <a:t>PROGRAMACIÓN Y ESTRUCTURAS DE DATOS</a:t>
            </a:r>
            <a:endParaRPr lang="es-AR" sz="1800" noProof="0" dirty="0">
              <a:latin typeface="Arial MT"/>
              <a:cs typeface="Arial MT"/>
            </a:endParaRPr>
          </a:p>
        </p:txBody>
      </p:sp>
      <p:pic>
        <p:nvPicPr>
          <p:cNvPr id="5" name="object 5"/>
          <p:cNvPicPr/>
          <p:nvPr/>
        </p:nvPicPr>
        <p:blipFill>
          <a:blip r:embed="rId3" cstate="print"/>
          <a:stretch>
            <a:fillRect/>
          </a:stretch>
        </p:blipFill>
        <p:spPr>
          <a:xfrm>
            <a:off x="9444863" y="5854903"/>
            <a:ext cx="231648" cy="256031"/>
          </a:xfrm>
          <a:prstGeom prst="rect">
            <a:avLst/>
          </a:prstGeom>
        </p:spPr>
      </p:pic>
      <p:sp>
        <p:nvSpPr>
          <p:cNvPr id="6" name="CuadroTexto 5">
            <a:extLst>
              <a:ext uri="{FF2B5EF4-FFF2-40B4-BE49-F238E27FC236}">
                <a16:creationId xmlns:a16="http://schemas.microsoft.com/office/drawing/2014/main" id="{7ECB98BF-F9F5-DFDB-F1EF-93F7E9B2E70D}"/>
              </a:ext>
            </a:extLst>
          </p:cNvPr>
          <p:cNvSpPr txBox="1"/>
          <p:nvPr/>
        </p:nvSpPr>
        <p:spPr>
          <a:xfrm>
            <a:off x="381000" y="56685"/>
            <a:ext cx="3505200" cy="461665"/>
          </a:xfrm>
          <a:prstGeom prst="rect">
            <a:avLst/>
          </a:prstGeom>
          <a:noFill/>
        </p:spPr>
        <p:txBody>
          <a:bodyPr wrap="square" rtlCol="0">
            <a:spAutoFit/>
          </a:bodyPr>
          <a:lstStyle/>
          <a:p>
            <a:r>
              <a:rPr lang="es-AR" sz="2400" b="1" noProof="0" dirty="0">
                <a:solidFill>
                  <a:schemeClr val="bg1"/>
                </a:solidFill>
              </a:rPr>
              <a:t>Prof. Coedo, Maximiliano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Repaso de la clase anterior</a:t>
            </a:r>
          </a:p>
        </p:txBody>
      </p:sp>
      <p:sp>
        <p:nvSpPr>
          <p:cNvPr id="3" name="TextBox 2"/>
          <p:cNvSpPr txBox="1"/>
          <p:nvPr/>
        </p:nvSpPr>
        <p:spPr>
          <a:xfrm>
            <a:off x="437978" y="1219200"/>
            <a:ext cx="11309985" cy="2440092"/>
          </a:xfrm>
          <a:prstGeom prst="rect">
            <a:avLst/>
          </a:prstGeom>
          <a:noFill/>
        </p:spPr>
        <p:txBody>
          <a:bodyPr wrap="square">
            <a:spAutoFit/>
          </a:bodyPr>
          <a:lstStyle/>
          <a:p>
            <a:pPr algn="l">
              <a:lnSpc>
                <a:spcPct val="105000"/>
              </a:lnSpc>
              <a:spcBef>
                <a:spcPts val="800"/>
              </a:spcBef>
            </a:pPr>
            <a:r>
              <a:rPr lang="es-AR" sz="1700" b="0" i="0" noProof="0" dirty="0">
                <a:solidFill>
                  <a:srgbClr val="333333"/>
                </a:solidFill>
                <a:latin typeface="Calibri"/>
              </a:rPr>
              <a:t>•  La clase pasada trabajamos el Sistema Común de Tipos (CTS), tipos por valor y por referencia, y boxing/unboxing.</a:t>
            </a:r>
          </a:p>
          <a:p>
            <a:pPr algn="l">
              <a:lnSpc>
                <a:spcPct val="105000"/>
              </a:lnSpc>
              <a:spcBef>
                <a:spcPts val="800"/>
              </a:spcBef>
            </a:pPr>
            <a:r>
              <a:rPr lang="es-AR" sz="1700" b="0" i="0" noProof="0" dirty="0">
                <a:solidFill>
                  <a:srgbClr val="333333"/>
                </a:solidFill>
                <a:latin typeface="Calibri"/>
              </a:rPr>
              <a:t>•  Repasamos el tipo Object, el tipo String y el tipo Date, la conversión de tipos (Convert y Parse) y la generación de números aleatorios con Random.</a:t>
            </a:r>
          </a:p>
          <a:p>
            <a:pPr algn="l">
              <a:lnSpc>
                <a:spcPct val="105000"/>
              </a:lnSpc>
              <a:spcBef>
                <a:spcPts val="800"/>
              </a:spcBef>
            </a:pPr>
            <a:r>
              <a:rPr lang="es-AR" sz="1700" b="0" i="0" noProof="0" dirty="0">
                <a:solidFill>
                  <a:srgbClr val="333333"/>
                </a:solidFill>
                <a:latin typeface="Calibri"/>
              </a:rPr>
              <a:t>•  Dimos los primeros pasos en Windows Forms: que es un formulario, formularios MDI y menús (MenuStrip y ContextMenuStrip).</a:t>
            </a:r>
          </a:p>
          <a:p>
            <a:pPr algn="l">
              <a:lnSpc>
                <a:spcPct val="105000"/>
              </a:lnSpc>
              <a:spcBef>
                <a:spcPts val="1800"/>
              </a:spcBef>
            </a:pPr>
            <a:r>
              <a:rPr lang="es-AR" sz="1700" b="1" i="0" noProof="0" dirty="0">
                <a:solidFill>
                  <a:srgbClr val="4D1234"/>
                </a:solidFill>
                <a:latin typeface="Calibri"/>
              </a:rPr>
              <a:t>•  Hoy avanzamos con la Parte 2: profundizamos en los controles de usuario que se colocan dentro de un formulario, sus propiedades, sus métodos y sus eventos.</a:t>
            </a:r>
          </a:p>
        </p:txBody>
      </p:sp>
      <p:pic>
        <p:nvPicPr>
          <p:cNvPr id="5" name="Picture 2" descr="http://4.bp.blogspot.com/_d2n6u9eMSpE/TEzp8_kCO9I/AAAAAAAAAB0/OnDTsBx-88U/s400/fig01-11.png">
            <a:extLst>
              <a:ext uri="{FF2B5EF4-FFF2-40B4-BE49-F238E27FC236}">
                <a16:creationId xmlns:a16="http://schemas.microsoft.com/office/drawing/2014/main" id="{4F1AD290-C157-02F6-8569-1B579AD12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817" y="3765972"/>
            <a:ext cx="5693451" cy="29321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3200" b="1" noProof="0" dirty="0">
                <a:solidFill>
                  <a:srgbClr val="FFFFFF"/>
                </a:solidFill>
                <a:latin typeface="Calibri"/>
              </a:rPr>
              <a:t>Temas de hoy</a:t>
            </a:r>
          </a:p>
        </p:txBody>
      </p:sp>
      <p:sp>
        <p:nvSpPr>
          <p:cNvPr id="3" name="TextBox 2"/>
          <p:cNvSpPr txBox="1"/>
          <p:nvPr/>
        </p:nvSpPr>
        <p:spPr>
          <a:xfrm>
            <a:off x="440436" y="1240536"/>
            <a:ext cx="11309985" cy="532759"/>
          </a:xfrm>
          <a:prstGeom prst="rect">
            <a:avLst/>
          </a:prstGeom>
          <a:solidFill>
            <a:srgbClr val="F5F0F2"/>
          </a:solidFill>
          <a:ln>
            <a:noFill/>
          </a:ln>
        </p:spPr>
        <p:txBody>
          <a:bodyPr wrap="square" lIns="140000" tIns="60000" rIns="140000" bIns="60000">
            <a:spAutoFit/>
          </a:bodyPr>
          <a:lstStyle/>
          <a:p>
            <a:pPr algn="l">
              <a:lnSpc>
                <a:spcPct val="105000"/>
              </a:lnSpc>
              <a:spcBef>
                <a:spcPts val="0"/>
              </a:spcBef>
            </a:pPr>
            <a:r>
              <a:rPr lang="es-AR" sz="1300" b="0" i="1" noProof="0" dirty="0">
                <a:solidFill>
                  <a:srgbClr val="4D1234"/>
                </a:solidFill>
                <a:latin typeface="Calibri"/>
              </a:rPr>
              <a:t>Resultado de aprendizaje (RA3): Emplea la programación grafica para crear aplicaciones de escritorio utilizando componentes gráficos del lenguaje de programación y eventos para manipular el flujo del programa.</a:t>
            </a:r>
          </a:p>
        </p:txBody>
      </p:sp>
      <p:sp>
        <p:nvSpPr>
          <p:cNvPr id="4" name="TextBox 3"/>
          <p:cNvSpPr txBox="1"/>
          <p:nvPr/>
        </p:nvSpPr>
        <p:spPr>
          <a:xfrm>
            <a:off x="440436" y="1900536"/>
            <a:ext cx="11309985" cy="2171813"/>
          </a:xfrm>
          <a:prstGeom prst="rect">
            <a:avLst/>
          </a:prstGeom>
          <a:noFill/>
        </p:spPr>
        <p:txBody>
          <a:bodyPr wrap="square">
            <a:spAutoFit/>
          </a:bodyPr>
          <a:lstStyle/>
          <a:p>
            <a:pPr algn="l">
              <a:lnSpc>
                <a:spcPct val="105000"/>
              </a:lnSpc>
              <a:spcBef>
                <a:spcPts val="700"/>
              </a:spcBef>
            </a:pPr>
            <a:r>
              <a:rPr lang="es-AR" sz="1450" b="0" i="0" noProof="0" dirty="0">
                <a:solidFill>
                  <a:srgbClr val="333333"/>
                </a:solidFill>
                <a:latin typeface="Calibri"/>
              </a:rPr>
              <a:t>•  </a:t>
            </a:r>
            <a:r>
              <a:rPr lang="es-AR" sz="1450" b="1" i="0" noProof="0" dirty="0">
                <a:solidFill>
                  <a:srgbClr val="333333"/>
                </a:solidFill>
                <a:latin typeface="Calibri"/>
              </a:rPr>
              <a:t>El entorno de Visual Studio: </a:t>
            </a:r>
            <a:r>
              <a:rPr lang="es-AR" sz="1450" b="0" i="0" noProof="0" dirty="0">
                <a:solidFill>
                  <a:srgbClr val="333333"/>
                </a:solidFill>
                <a:latin typeface="Calibri"/>
              </a:rPr>
              <a:t>Solution Explorer, Properties y Toolbox.</a:t>
            </a:r>
          </a:p>
          <a:p>
            <a:pPr algn="l">
              <a:lnSpc>
                <a:spcPct val="105000"/>
              </a:lnSpc>
              <a:spcBef>
                <a:spcPts val="700"/>
              </a:spcBef>
            </a:pPr>
            <a:r>
              <a:rPr lang="es-AR" sz="1450" b="0" i="0" noProof="0" dirty="0">
                <a:solidFill>
                  <a:srgbClr val="333333"/>
                </a:solidFill>
                <a:latin typeface="Calibri"/>
              </a:rPr>
              <a:t>•  </a:t>
            </a:r>
            <a:r>
              <a:rPr lang="es-AR" sz="1450" b="1" i="0" noProof="0" dirty="0">
                <a:solidFill>
                  <a:srgbClr val="333333"/>
                </a:solidFill>
                <a:latin typeface="Calibri"/>
              </a:rPr>
              <a:t>Solución y Proyecto</a:t>
            </a:r>
            <a:r>
              <a:rPr lang="es-AR" sz="1450" b="0" i="0" noProof="0" dirty="0">
                <a:solidFill>
                  <a:srgbClr val="333333"/>
                </a:solidFill>
                <a:latin typeface="Calibri"/>
              </a:rPr>
              <a:t>: que contiene cada uno. </a:t>
            </a:r>
          </a:p>
          <a:p>
            <a:pPr algn="l">
              <a:lnSpc>
                <a:spcPct val="105000"/>
              </a:lnSpc>
              <a:spcBef>
                <a:spcPts val="700"/>
              </a:spcBef>
            </a:pPr>
            <a:r>
              <a:rPr lang="es-AR" sz="1450" b="0" i="0" noProof="0" dirty="0">
                <a:solidFill>
                  <a:srgbClr val="333333"/>
                </a:solidFill>
                <a:latin typeface="Calibri"/>
              </a:rPr>
              <a:t>•  El formulario (</a:t>
            </a:r>
            <a:r>
              <a:rPr lang="es-AR" sz="1450" b="1" i="0" noProof="0" dirty="0">
                <a:solidFill>
                  <a:srgbClr val="333333"/>
                </a:solidFill>
                <a:latin typeface="Calibri"/>
              </a:rPr>
              <a:t>Form</a:t>
            </a:r>
            <a:r>
              <a:rPr lang="es-AR" sz="1450" b="0" i="0" noProof="0" dirty="0">
                <a:solidFill>
                  <a:srgbClr val="333333"/>
                </a:solidFill>
                <a:latin typeface="Calibri"/>
              </a:rPr>
              <a:t>) y sus propiedades.</a:t>
            </a:r>
          </a:p>
          <a:p>
            <a:pPr algn="l">
              <a:lnSpc>
                <a:spcPct val="105000"/>
              </a:lnSpc>
              <a:spcBef>
                <a:spcPts val="700"/>
              </a:spcBef>
            </a:pPr>
            <a:r>
              <a:rPr lang="es-AR" sz="1450" b="0" i="0" noProof="0" dirty="0">
                <a:solidFill>
                  <a:srgbClr val="333333"/>
                </a:solidFill>
                <a:latin typeface="Calibri"/>
              </a:rPr>
              <a:t>•  </a:t>
            </a:r>
            <a:r>
              <a:rPr lang="es-AR" sz="1450" b="1" i="0" noProof="0" dirty="0">
                <a:solidFill>
                  <a:srgbClr val="333333"/>
                </a:solidFill>
                <a:latin typeface="Calibri"/>
              </a:rPr>
              <a:t>Controles Windows Forms: </a:t>
            </a:r>
            <a:r>
              <a:rPr lang="es-AR" sz="1450" b="0" i="0" noProof="0" dirty="0">
                <a:solidFill>
                  <a:srgbClr val="333333"/>
                </a:solidFill>
                <a:latin typeface="Calibri"/>
              </a:rPr>
              <a:t>TextBox, Label, LinkLabel, CheckBox, RadioButton, ListBox, CheckedListBox, ComboBox.</a:t>
            </a:r>
          </a:p>
          <a:p>
            <a:pPr algn="l">
              <a:lnSpc>
                <a:spcPct val="105000"/>
              </a:lnSpc>
              <a:spcBef>
                <a:spcPts val="700"/>
              </a:spcBef>
            </a:pPr>
            <a:r>
              <a:rPr lang="es-AR" sz="1450" b="0" i="0" noProof="0" dirty="0">
                <a:solidFill>
                  <a:srgbClr val="333333"/>
                </a:solidFill>
                <a:latin typeface="Calibri"/>
              </a:rPr>
              <a:t>•  DateTimePicker, ListView, MonthCalendar, NotifyIcon, NumericUpDown, PictureBox, ProgressBar, RichTextBox, ToolTip, TreeView, WebBrowser, GroupBox, MenuStrip, DataGridView.</a:t>
            </a:r>
          </a:p>
          <a:p>
            <a:pPr algn="l">
              <a:lnSpc>
                <a:spcPct val="105000"/>
              </a:lnSpc>
              <a:spcBef>
                <a:spcPts val="700"/>
              </a:spcBef>
            </a:pPr>
            <a:r>
              <a:rPr lang="es-AR" sz="1450" b="0" i="0" noProof="0" dirty="0">
                <a:solidFill>
                  <a:srgbClr val="333333"/>
                </a:solidFill>
                <a:latin typeface="Calibri"/>
              </a:rPr>
              <a:t>•  </a:t>
            </a:r>
            <a:r>
              <a:rPr lang="es-AR" sz="1450" b="1" i="0" noProof="0" dirty="0">
                <a:solidFill>
                  <a:srgbClr val="333333"/>
                </a:solidFill>
                <a:latin typeface="Calibri"/>
              </a:rPr>
              <a:t>Cuadros de dialogo</a:t>
            </a:r>
            <a:r>
              <a:rPr lang="es-AR" sz="1450" b="0" i="0" noProof="0" dirty="0">
                <a:solidFill>
                  <a:srgbClr val="333333"/>
                </a:solidFill>
                <a:latin typeface="Calibri"/>
              </a:rPr>
              <a:t>: ColorDialog, FontDialog, FolderBrowserDialog, OpenFileDialog, SaveFileDialog, PrintDialog e impresion.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Que característica posee la programación visual</a:t>
            </a:r>
          </a:p>
        </p:txBody>
      </p:sp>
      <p:sp>
        <p:nvSpPr>
          <p:cNvPr id="3" name="TextBox 2"/>
          <p:cNvSpPr txBox="1"/>
          <p:nvPr/>
        </p:nvSpPr>
        <p:spPr>
          <a:xfrm>
            <a:off x="440436" y="1240536"/>
            <a:ext cx="11309984" cy="1899046"/>
          </a:xfrm>
          <a:prstGeom prst="rect">
            <a:avLst/>
          </a:prstGeom>
          <a:noFill/>
        </p:spPr>
        <p:txBody>
          <a:bodyPr wrap="square">
            <a:spAutoFit/>
          </a:bodyPr>
          <a:lstStyle/>
          <a:p>
            <a:pPr algn="l">
              <a:lnSpc>
                <a:spcPct val="105000"/>
              </a:lnSpc>
              <a:spcBef>
                <a:spcPts val="800"/>
              </a:spcBef>
            </a:pPr>
            <a:r>
              <a:rPr lang="es-AR" sz="1450" b="0" i="0" noProof="0" dirty="0">
                <a:solidFill>
                  <a:srgbClr val="333333"/>
                </a:solidFill>
                <a:latin typeface="Calibri"/>
              </a:rPr>
              <a:t>•  Es un </a:t>
            </a:r>
            <a:r>
              <a:rPr lang="es-AR" sz="1450" b="1" i="0" noProof="0" dirty="0">
                <a:solidFill>
                  <a:srgbClr val="333333"/>
                </a:solidFill>
                <a:latin typeface="Calibri"/>
              </a:rPr>
              <a:t>paradigma dirigido por eventos</a:t>
            </a:r>
            <a:r>
              <a:rPr lang="es-AR" sz="1450" b="0" i="0" noProof="0" dirty="0">
                <a:solidFill>
                  <a:srgbClr val="333333"/>
                </a:solidFill>
                <a:latin typeface="Calibri"/>
              </a:rPr>
              <a:t>: el programa reacciona a las acciones del usuario (clics, teclas, cambios de valor) en lugar de ejecutarse en un único flujo lineal.</a:t>
            </a:r>
          </a:p>
          <a:p>
            <a:pPr algn="l">
              <a:lnSpc>
                <a:spcPct val="105000"/>
              </a:lnSpc>
              <a:spcBef>
                <a:spcPts val="800"/>
              </a:spcBef>
            </a:pPr>
            <a:r>
              <a:rPr lang="es-AR" sz="1450" b="0" i="0" noProof="0" dirty="0">
                <a:solidFill>
                  <a:srgbClr val="333333"/>
                </a:solidFill>
                <a:latin typeface="Calibri"/>
              </a:rPr>
              <a:t>•  Permite diseñar la interfaz arrastrando y soltando controles desde el Toolbox sobre el formulario, sin escribir manualmente el posicionamiento.</a:t>
            </a:r>
          </a:p>
          <a:p>
            <a:pPr algn="l">
              <a:lnSpc>
                <a:spcPct val="105000"/>
              </a:lnSpc>
              <a:spcBef>
                <a:spcPts val="800"/>
              </a:spcBef>
            </a:pPr>
            <a:r>
              <a:rPr lang="es-AR" sz="1450" b="0" i="0" noProof="0" dirty="0">
                <a:solidFill>
                  <a:srgbClr val="333333"/>
                </a:solidFill>
                <a:latin typeface="Calibri"/>
              </a:rPr>
              <a:t>•  Cada control combina apariencia (propiedades), comportamiento (métodos) y reacciones (eventos).</a:t>
            </a:r>
          </a:p>
          <a:p>
            <a:pPr algn="l">
              <a:lnSpc>
                <a:spcPct val="105000"/>
              </a:lnSpc>
              <a:spcBef>
                <a:spcPts val="800"/>
              </a:spcBef>
            </a:pPr>
            <a:r>
              <a:rPr lang="es-AR" sz="1450" b="0" i="0" noProof="0" dirty="0">
                <a:solidFill>
                  <a:srgbClr val="333333"/>
                </a:solidFill>
                <a:latin typeface="Calibri"/>
              </a:rPr>
              <a:t>•  El entorno separa el diseño (archivo .Designer.cs, generado automáticamente) del código que escribe el programador.</a:t>
            </a:r>
          </a:p>
          <a:p>
            <a:pPr algn="l">
              <a:lnSpc>
                <a:spcPct val="105000"/>
              </a:lnSpc>
              <a:spcBef>
                <a:spcPts val="800"/>
              </a:spcBef>
            </a:pPr>
            <a:r>
              <a:rPr lang="es-AR" sz="1450" b="0" i="0" noProof="0" dirty="0">
                <a:solidFill>
                  <a:srgbClr val="333333"/>
                </a:solidFill>
                <a:latin typeface="Calibri"/>
              </a:rPr>
              <a:t>•  Favorece el desarrollo rápido de aplicaciones (RAD) y la reutilización de componentes ya probados.</a:t>
            </a:r>
          </a:p>
        </p:txBody>
      </p:sp>
      <p:pic>
        <p:nvPicPr>
          <p:cNvPr id="6" name="Imagen 5">
            <a:extLst>
              <a:ext uri="{FF2B5EF4-FFF2-40B4-BE49-F238E27FC236}">
                <a16:creationId xmlns:a16="http://schemas.microsoft.com/office/drawing/2014/main" id="{2B2C8548-9806-7758-0F7B-CCEC443E82EC}"/>
              </a:ext>
            </a:extLst>
          </p:cNvPr>
          <p:cNvPicPr>
            <a:picLocks noChangeAspect="1"/>
          </p:cNvPicPr>
          <p:nvPr/>
        </p:nvPicPr>
        <p:blipFill>
          <a:blip r:embed="rId2"/>
          <a:stretch>
            <a:fillRect/>
          </a:stretch>
        </p:blipFill>
        <p:spPr>
          <a:xfrm>
            <a:off x="440435" y="4343400"/>
            <a:ext cx="11309985" cy="22997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Que es un control de usuario y sus 3 elementos</a:t>
            </a:r>
          </a:p>
        </p:txBody>
      </p:sp>
      <p:sp>
        <p:nvSpPr>
          <p:cNvPr id="3" name="TextBox 2"/>
          <p:cNvSpPr txBox="1"/>
          <p:nvPr/>
        </p:nvSpPr>
        <p:spPr>
          <a:xfrm>
            <a:off x="440436" y="1240536"/>
            <a:ext cx="11309985" cy="1982274"/>
          </a:xfrm>
          <a:prstGeom prst="rect">
            <a:avLst/>
          </a:prstGeom>
          <a:noFill/>
        </p:spPr>
        <p:txBody>
          <a:bodyPr wrap="square">
            <a:spAutoFit/>
          </a:bodyPr>
          <a:lstStyle/>
          <a:p>
            <a:pPr algn="l">
              <a:lnSpc>
                <a:spcPct val="105000"/>
              </a:lnSpc>
              <a:spcBef>
                <a:spcPts val="800"/>
              </a:spcBef>
            </a:pPr>
            <a:r>
              <a:rPr lang="es-AR" sz="1350" b="0" i="0" noProof="0" dirty="0">
                <a:solidFill>
                  <a:srgbClr val="333333"/>
                </a:solidFill>
                <a:latin typeface="Calibri"/>
              </a:rPr>
              <a:t>•  Un control de usuario es un elemento visual reutilizable (botón, caja de texto, etiqueta, etc.) con el que el usuario interactúa dentro de un formulario.</a:t>
            </a:r>
          </a:p>
          <a:p>
            <a:pPr algn="l">
              <a:lnSpc>
                <a:spcPct val="105000"/>
              </a:lnSpc>
              <a:spcBef>
                <a:spcPts val="800"/>
              </a:spcBef>
            </a:pPr>
            <a:r>
              <a:rPr lang="es-AR" sz="1350" b="0" i="0" noProof="0" dirty="0">
                <a:solidFill>
                  <a:srgbClr val="333333"/>
                </a:solidFill>
                <a:latin typeface="Calibri"/>
              </a:rPr>
              <a:t>•  En WinForms todos los controles, incluido el propio formulario, comparten una estructura común basada en la abstracción “Control”.</a:t>
            </a:r>
          </a:p>
          <a:p>
            <a:pPr algn="l">
              <a:lnSpc>
                <a:spcPct val="105000"/>
              </a:lnSpc>
              <a:spcBef>
                <a:spcPts val="1400"/>
              </a:spcBef>
            </a:pPr>
            <a:r>
              <a:rPr lang="es-AR" sz="1350" b="1" i="0" noProof="0" dirty="0">
                <a:solidFill>
                  <a:srgbClr val="333333"/>
                </a:solidFill>
                <a:latin typeface="Calibri"/>
              </a:rPr>
              <a:t>•  Los 3 elementos constitutivos de todo control de usuario:</a:t>
            </a:r>
          </a:p>
          <a:p>
            <a:pPr algn="l">
              <a:lnSpc>
                <a:spcPct val="105000"/>
              </a:lnSpc>
              <a:spcBef>
                <a:spcPts val="800"/>
              </a:spcBef>
            </a:pPr>
            <a:r>
              <a:rPr lang="es-AR" sz="1350" b="0" i="0" noProof="0" dirty="0">
                <a:solidFill>
                  <a:srgbClr val="333333"/>
                </a:solidFill>
                <a:latin typeface="Calibri"/>
              </a:rPr>
              <a:t>•  </a:t>
            </a:r>
            <a:r>
              <a:rPr lang="es-AR" sz="1350" b="1" i="0" noProof="0" dirty="0">
                <a:solidFill>
                  <a:srgbClr val="333333"/>
                </a:solidFill>
                <a:latin typeface="Calibri"/>
              </a:rPr>
              <a:t>Propiedades</a:t>
            </a:r>
            <a:r>
              <a:rPr lang="es-AR" sz="1350" b="0" i="0" noProof="0" dirty="0">
                <a:solidFill>
                  <a:srgbClr val="333333"/>
                </a:solidFill>
                <a:latin typeface="Calibri"/>
              </a:rPr>
              <a:t>: variables que definen su estado (color, tamaño, valor, nombre, texto visible, etc.).</a:t>
            </a:r>
          </a:p>
          <a:p>
            <a:pPr algn="l">
              <a:lnSpc>
                <a:spcPct val="105000"/>
              </a:lnSpc>
              <a:spcBef>
                <a:spcPts val="800"/>
              </a:spcBef>
            </a:pPr>
            <a:r>
              <a:rPr lang="es-AR" sz="1350" b="0" i="0" noProof="0" dirty="0">
                <a:solidFill>
                  <a:srgbClr val="333333"/>
                </a:solidFill>
                <a:latin typeface="Calibri"/>
              </a:rPr>
              <a:t>•  </a:t>
            </a:r>
            <a:r>
              <a:rPr lang="es-AR" sz="1350" b="1" i="0" noProof="0" dirty="0">
                <a:solidFill>
                  <a:srgbClr val="333333"/>
                </a:solidFill>
                <a:latin typeface="Calibri"/>
              </a:rPr>
              <a:t>Métodos</a:t>
            </a:r>
            <a:r>
              <a:rPr lang="es-AR" sz="1350" b="0" i="0" noProof="0" dirty="0">
                <a:solidFill>
                  <a:srgbClr val="333333"/>
                </a:solidFill>
                <a:latin typeface="Calibri"/>
              </a:rPr>
              <a:t>: comportamiento del control (funciones generales de “Control” + especificas de cada tipo).</a:t>
            </a:r>
          </a:p>
          <a:p>
            <a:pPr algn="l">
              <a:lnSpc>
                <a:spcPct val="105000"/>
              </a:lnSpc>
              <a:spcBef>
                <a:spcPts val="800"/>
              </a:spcBef>
            </a:pPr>
            <a:r>
              <a:rPr lang="es-AR" sz="1350" b="0" i="0" noProof="0" dirty="0">
                <a:solidFill>
                  <a:srgbClr val="333333"/>
                </a:solidFill>
                <a:latin typeface="Calibri"/>
              </a:rPr>
              <a:t>•  </a:t>
            </a:r>
            <a:r>
              <a:rPr lang="es-AR" sz="1350" b="1" i="0" noProof="0" dirty="0">
                <a:solidFill>
                  <a:srgbClr val="333333"/>
                </a:solidFill>
                <a:latin typeface="Calibri"/>
              </a:rPr>
              <a:t>Eventos</a:t>
            </a:r>
            <a:r>
              <a:rPr lang="es-AR" sz="1350" b="0" i="0" noProof="0" dirty="0">
                <a:solidFill>
                  <a:srgbClr val="333333"/>
                </a:solidFill>
                <a:latin typeface="Calibri"/>
              </a:rPr>
              <a:t>: reacciones ante un contexto (clic del usuario, carga de pantalla, cierre, cambio de valor o de estado, etc.).</a:t>
            </a:r>
          </a:p>
        </p:txBody>
      </p:sp>
      <p:pic>
        <p:nvPicPr>
          <p:cNvPr id="6" name="Imagen 5">
            <a:extLst>
              <a:ext uri="{FF2B5EF4-FFF2-40B4-BE49-F238E27FC236}">
                <a16:creationId xmlns:a16="http://schemas.microsoft.com/office/drawing/2014/main" id="{78E2483B-52A7-9735-8907-0177FCB7B9DF}"/>
              </a:ext>
            </a:extLst>
          </p:cNvPr>
          <p:cNvPicPr>
            <a:picLocks noChangeAspect="1"/>
          </p:cNvPicPr>
          <p:nvPr/>
        </p:nvPicPr>
        <p:blipFill>
          <a:blip r:embed="rId2"/>
          <a:stretch>
            <a:fillRect/>
          </a:stretch>
        </p:blipFill>
        <p:spPr>
          <a:xfrm>
            <a:off x="744673" y="3222810"/>
            <a:ext cx="10702654" cy="31779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El entorno de Visual Studio (I): Solution Explorer</a:t>
            </a:r>
          </a:p>
        </p:txBody>
      </p:sp>
      <p:sp>
        <p:nvSpPr>
          <p:cNvPr id="3" name="TextBox 2"/>
          <p:cNvSpPr txBox="1"/>
          <p:nvPr/>
        </p:nvSpPr>
        <p:spPr>
          <a:xfrm>
            <a:off x="6248399" y="1645674"/>
            <a:ext cx="5502021" cy="4970463"/>
          </a:xfrm>
          <a:prstGeom prst="rect">
            <a:avLst/>
          </a:prstGeom>
          <a:noFill/>
        </p:spPr>
        <p:txBody>
          <a:bodyPr wrap="square">
            <a:spAutoFit/>
          </a:bodyPr>
          <a:lstStyle/>
          <a:p>
            <a:pPr algn="l">
              <a:lnSpc>
                <a:spcPct val="105000"/>
              </a:lnSpc>
              <a:spcBef>
                <a:spcPts val="800"/>
              </a:spcBef>
            </a:pPr>
            <a:r>
              <a:rPr lang="es-AR" sz="1400" b="1" dirty="0"/>
              <a:t>1)El Solution Explorer </a:t>
            </a:r>
            <a:r>
              <a:rPr lang="es-AR" sz="1400" dirty="0"/>
              <a:t>(Explorador de soluciones) muestra la estructura de archivos de la solución y sus proyectos: formularios, clases, referencias y recursos.</a:t>
            </a:r>
          </a:p>
          <a:p>
            <a:pPr algn="l">
              <a:lnSpc>
                <a:spcPct val="105000"/>
              </a:lnSpc>
              <a:spcBef>
                <a:spcPts val="800"/>
              </a:spcBef>
            </a:pPr>
            <a:r>
              <a:rPr lang="es-AR" sz="1400" dirty="0"/>
              <a:t>Permite agregar, eliminar, renombrar y organizar archivos y carpetas del proyecto. </a:t>
            </a:r>
          </a:p>
          <a:p>
            <a:pPr algn="l">
              <a:lnSpc>
                <a:spcPct val="105000"/>
              </a:lnSpc>
              <a:spcBef>
                <a:spcPts val="800"/>
              </a:spcBef>
            </a:pPr>
            <a:r>
              <a:rPr lang="es-AR" sz="1400" dirty="0"/>
              <a:t>Con Doble clic sobre un formulario (.cs) abre su vista de diseño; clic derecho &gt; “Ver código” abre el código fuente. </a:t>
            </a:r>
          </a:p>
          <a:p>
            <a:pPr lvl="0"/>
            <a:r>
              <a:rPr lang="es-AR" sz="1400" b="1" dirty="0"/>
              <a:t>2)Propiedades:</a:t>
            </a:r>
            <a:r>
              <a:rPr lang="es-AR" sz="1400" dirty="0"/>
              <a:t> en este panel se muestran los valores de propiedades que puede configurar en función del elemento seleccionado. Por ejemplo, si selecciona un elemento en el Explorador de soluciones, verá los valores de las propiedades relacionadas con el archivo. Si selecciona un objeto en el Diseñador, verá los valores del control o formulario.</a:t>
            </a:r>
          </a:p>
          <a:p>
            <a:pPr lvl="0"/>
            <a:r>
              <a:rPr lang="es-AR" sz="1400" b="1" dirty="0"/>
              <a:t>Diseñador de formularios:</a:t>
            </a:r>
            <a:r>
              <a:rPr lang="es-AR" sz="1400" dirty="0"/>
              <a:t> este es el diseñador para el formulario. Es interactivo y puede arrastrar y colocar objetos desde el Cuadro de herramientas. Al seleccionar y mover elementos en el diseñador, puede crear visualmente la interfaz de usuario (IU) de la aplicación.</a:t>
            </a:r>
          </a:p>
          <a:p>
            <a:pPr lvl="0"/>
            <a:r>
              <a:rPr lang="es-AR" sz="1400" b="1" dirty="0"/>
              <a:t>Cuadro de herramientas:</a:t>
            </a:r>
            <a:r>
              <a:rPr lang="es-AR" sz="1400" dirty="0"/>
              <a:t> el Cuadro de herramientas contiene todos los controles que se pueden agregar a un formulario. Para agregar un control al formulario actual, haga doble clic en un control, o bien arrástrelo y colóquelo.</a:t>
            </a:r>
          </a:p>
          <a:p>
            <a:pPr algn="l">
              <a:lnSpc>
                <a:spcPct val="105000"/>
              </a:lnSpc>
              <a:spcBef>
                <a:spcPts val="800"/>
              </a:spcBef>
            </a:pPr>
            <a:endParaRPr lang="es-AR" sz="1200" b="0" i="0" noProof="0" dirty="0">
              <a:solidFill>
                <a:srgbClr val="333333"/>
              </a:solidFill>
              <a:latin typeface="Calibri"/>
            </a:endParaRPr>
          </a:p>
        </p:txBody>
      </p:sp>
      <p:pic>
        <p:nvPicPr>
          <p:cNvPr id="7" name="Imagen 6">
            <a:extLst>
              <a:ext uri="{FF2B5EF4-FFF2-40B4-BE49-F238E27FC236}">
                <a16:creationId xmlns:a16="http://schemas.microsoft.com/office/drawing/2014/main" id="{0BBCB392-857E-F0B8-4189-06884771F677}"/>
              </a:ext>
            </a:extLst>
          </p:cNvPr>
          <p:cNvPicPr>
            <a:picLocks noChangeAspect="1"/>
          </p:cNvPicPr>
          <p:nvPr/>
        </p:nvPicPr>
        <p:blipFill>
          <a:blip r:embed="rId2"/>
          <a:stretch>
            <a:fillRect/>
          </a:stretch>
        </p:blipFill>
        <p:spPr>
          <a:xfrm>
            <a:off x="440436" y="1645674"/>
            <a:ext cx="5690082" cy="35666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El entorno de Visual Studio (II): Properties</a:t>
            </a:r>
          </a:p>
        </p:txBody>
      </p:sp>
      <p:sp>
        <p:nvSpPr>
          <p:cNvPr id="3" name="TextBox 2"/>
          <p:cNvSpPr txBox="1"/>
          <p:nvPr/>
        </p:nvSpPr>
        <p:spPr>
          <a:xfrm>
            <a:off x="440436" y="1240536"/>
            <a:ext cx="11309985" cy="1602170"/>
          </a:xfrm>
          <a:prstGeom prst="rect">
            <a:avLst/>
          </a:prstGeom>
          <a:noFill/>
        </p:spPr>
        <p:txBody>
          <a:bodyPr wrap="square">
            <a:spAutoFit/>
          </a:bodyPr>
          <a:lstStyle/>
          <a:p>
            <a:pPr algn="l">
              <a:lnSpc>
                <a:spcPct val="105000"/>
              </a:lnSpc>
              <a:spcBef>
                <a:spcPts val="800"/>
              </a:spcBef>
            </a:pPr>
            <a:r>
              <a:rPr lang="es-AR" sz="1500" b="0" i="0" noProof="0" dirty="0">
                <a:solidFill>
                  <a:srgbClr val="333333"/>
                </a:solidFill>
                <a:latin typeface="Calibri"/>
              </a:rPr>
              <a:t>•  La ventana Properties (Propiedades) muestra y permite modificar las propiedades del control seleccionado en el diseño (Name, Text, Size, Color, etc.).</a:t>
            </a:r>
          </a:p>
          <a:p>
            <a:pPr algn="l">
              <a:lnSpc>
                <a:spcPct val="105000"/>
              </a:lnSpc>
              <a:spcBef>
                <a:spcPts val="800"/>
              </a:spcBef>
            </a:pPr>
            <a:r>
              <a:rPr lang="es-AR" sz="1500" b="0" i="0" noProof="0" dirty="0">
                <a:solidFill>
                  <a:srgbClr val="333333"/>
                </a:solidFill>
                <a:latin typeface="Calibri"/>
              </a:rPr>
              <a:t>•  El icono del rayo, en la parte superior de la ventana, cambia la vista de propiedades a eventos del mismo control.</a:t>
            </a:r>
          </a:p>
          <a:p>
            <a:pPr algn="l">
              <a:lnSpc>
                <a:spcPct val="105000"/>
              </a:lnSpc>
              <a:spcBef>
                <a:spcPts val="800"/>
              </a:spcBef>
            </a:pPr>
            <a:r>
              <a:rPr lang="es-AR" sz="1500" b="0" i="0" noProof="0" dirty="0">
                <a:solidFill>
                  <a:srgbClr val="333333"/>
                </a:solidFill>
                <a:latin typeface="Calibri"/>
              </a:rPr>
              <a:t>•  Al hacer doble clic sobre un evento, Visual Studio genera automáticamente el método manejador (handler) en el código.</a:t>
            </a:r>
          </a:p>
          <a:p>
            <a:pPr algn="l">
              <a:lnSpc>
                <a:spcPct val="105000"/>
              </a:lnSpc>
              <a:spcBef>
                <a:spcPts val="800"/>
              </a:spcBef>
            </a:pPr>
            <a:r>
              <a:rPr lang="es-AR" sz="1500" b="0" i="0" noProof="0" dirty="0">
                <a:solidFill>
                  <a:srgbClr val="333333"/>
                </a:solidFill>
                <a:latin typeface="Calibri"/>
              </a:rPr>
              <a:t>•  Es la via mas rápida para configurar el estado inicial de un control sin escribir código.</a:t>
            </a:r>
          </a:p>
        </p:txBody>
      </p:sp>
      <p:pic>
        <p:nvPicPr>
          <p:cNvPr id="5" name="Marcador de contenido 5">
            <a:extLst>
              <a:ext uri="{FF2B5EF4-FFF2-40B4-BE49-F238E27FC236}">
                <a16:creationId xmlns:a16="http://schemas.microsoft.com/office/drawing/2014/main" id="{E5AA830F-7D65-A974-F052-7AB7C4783C22}"/>
              </a:ext>
            </a:extLst>
          </p:cNvPr>
          <p:cNvPicPr>
            <a:picLocks noChangeAspect="1"/>
          </p:cNvPicPr>
          <p:nvPr/>
        </p:nvPicPr>
        <p:blipFill>
          <a:blip r:embed="rId2"/>
          <a:stretch>
            <a:fillRect/>
          </a:stretch>
        </p:blipFill>
        <p:spPr>
          <a:xfrm>
            <a:off x="788122" y="3137981"/>
            <a:ext cx="4924425" cy="3333750"/>
          </a:xfrm>
          <a:prstGeom prst="rect">
            <a:avLst/>
          </a:prstGeom>
        </p:spPr>
      </p:pic>
      <p:pic>
        <p:nvPicPr>
          <p:cNvPr id="6" name="Imagen 5">
            <a:extLst>
              <a:ext uri="{FF2B5EF4-FFF2-40B4-BE49-F238E27FC236}">
                <a16:creationId xmlns:a16="http://schemas.microsoft.com/office/drawing/2014/main" id="{3D38EF74-4381-D48D-7110-EC5BC117509C}"/>
              </a:ext>
            </a:extLst>
          </p:cNvPr>
          <p:cNvPicPr>
            <a:picLocks noChangeAspect="1"/>
          </p:cNvPicPr>
          <p:nvPr/>
        </p:nvPicPr>
        <p:blipFill>
          <a:blip r:embed="rId3"/>
          <a:stretch>
            <a:fillRect/>
          </a:stretch>
        </p:blipFill>
        <p:spPr>
          <a:xfrm>
            <a:off x="6934200" y="2842706"/>
            <a:ext cx="4152900" cy="3629025"/>
          </a:xfrm>
          <a:prstGeom prst="rect">
            <a:avLst/>
          </a:prstGeom>
        </p:spPr>
      </p:pic>
      <p:cxnSp>
        <p:nvCxnSpPr>
          <p:cNvPr id="7" name="Conector recto de flecha 6">
            <a:extLst>
              <a:ext uri="{FF2B5EF4-FFF2-40B4-BE49-F238E27FC236}">
                <a16:creationId xmlns:a16="http://schemas.microsoft.com/office/drawing/2014/main" id="{2CE91421-A474-DA5B-6F6C-1CD2B89EFF8B}"/>
              </a:ext>
            </a:extLst>
          </p:cNvPr>
          <p:cNvCxnSpPr>
            <a:cxnSpLocks/>
          </p:cNvCxnSpPr>
          <p:nvPr/>
        </p:nvCxnSpPr>
        <p:spPr>
          <a:xfrm>
            <a:off x="3338318" y="4734343"/>
            <a:ext cx="5721769" cy="1117076"/>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El entorno de Visual Studio (III): Toolbox</a:t>
            </a:r>
          </a:p>
        </p:txBody>
      </p:sp>
      <p:sp>
        <p:nvSpPr>
          <p:cNvPr id="3" name="TextBox 2"/>
          <p:cNvSpPr txBox="1"/>
          <p:nvPr/>
        </p:nvSpPr>
        <p:spPr>
          <a:xfrm>
            <a:off x="440436" y="2264354"/>
            <a:ext cx="6107391" cy="2329292"/>
          </a:xfrm>
          <a:prstGeom prst="rect">
            <a:avLst/>
          </a:prstGeom>
          <a:noFill/>
        </p:spPr>
        <p:txBody>
          <a:bodyPr wrap="square">
            <a:spAutoFit/>
          </a:bodyPr>
          <a:lstStyle/>
          <a:p>
            <a:pPr algn="l">
              <a:lnSpc>
                <a:spcPct val="105000"/>
              </a:lnSpc>
              <a:spcBef>
                <a:spcPts val="800"/>
              </a:spcBef>
            </a:pPr>
            <a:r>
              <a:rPr lang="es-AR" sz="1500" b="0" i="0" noProof="0" dirty="0">
                <a:solidFill>
                  <a:srgbClr val="333333"/>
                </a:solidFill>
                <a:latin typeface="Calibri"/>
              </a:rPr>
              <a:t>•  El Toolbox (Cuadro de herramientas) contiene la paleta de controles disponibles para diseñar el formulario.</a:t>
            </a:r>
          </a:p>
          <a:p>
            <a:pPr algn="l">
              <a:lnSpc>
                <a:spcPct val="105000"/>
              </a:lnSpc>
              <a:spcBef>
                <a:spcPts val="800"/>
              </a:spcBef>
            </a:pPr>
            <a:r>
              <a:rPr lang="es-AR" sz="1500" b="0" i="0" noProof="0" dirty="0">
                <a:solidFill>
                  <a:srgbClr val="333333"/>
                </a:solidFill>
                <a:latin typeface="Calibri"/>
              </a:rPr>
              <a:t>•  Para usar un control se lo arrastra desde el Toolbox y se lo suelta sobre la superficie de diseño del formulario.</a:t>
            </a:r>
          </a:p>
          <a:p>
            <a:pPr algn="l">
              <a:lnSpc>
                <a:spcPct val="105000"/>
              </a:lnSpc>
              <a:spcBef>
                <a:spcPts val="800"/>
              </a:spcBef>
            </a:pPr>
            <a:r>
              <a:rPr lang="es-AR" sz="1500" b="0" i="0" noProof="0" dirty="0">
                <a:solidFill>
                  <a:srgbClr val="333333"/>
                </a:solidFill>
                <a:latin typeface="Calibri"/>
              </a:rPr>
              <a:t>•  Los controles están agrupados por categorías (Common Controls, Containers, Menus &amp; Toolbars, Dialogs, etc.).</a:t>
            </a:r>
          </a:p>
          <a:p>
            <a:pPr algn="l">
              <a:lnSpc>
                <a:spcPct val="105000"/>
              </a:lnSpc>
              <a:spcBef>
                <a:spcPts val="800"/>
              </a:spcBef>
            </a:pPr>
            <a:r>
              <a:rPr lang="es-AR" sz="1500" b="0" i="0" noProof="0" dirty="0">
                <a:solidFill>
                  <a:srgbClr val="333333"/>
                </a:solidFill>
                <a:latin typeface="Calibri"/>
              </a:rPr>
              <a:t>•  Se puede buscar un control por nombre y tambien agregar controles personalizados o de terceros.</a:t>
            </a:r>
          </a:p>
        </p:txBody>
      </p:sp>
      <p:pic>
        <p:nvPicPr>
          <p:cNvPr id="5" name="Imagen 4" descr="Creating a Simple User Control and Adding it to the Toolbox">
            <a:extLst>
              <a:ext uri="{FF2B5EF4-FFF2-40B4-BE49-F238E27FC236}">
                <a16:creationId xmlns:a16="http://schemas.microsoft.com/office/drawing/2014/main" id="{941317B2-FD70-B07E-E332-918C47DFFD26}"/>
              </a:ext>
            </a:extLst>
          </p:cNvPr>
          <p:cNvPicPr>
            <a:picLocks noChangeAspect="1"/>
          </p:cNvPicPr>
          <p:nvPr/>
        </p:nvPicPr>
        <p:blipFill>
          <a:blip r:embed="rId2"/>
          <a:stretch>
            <a:fillRect/>
          </a:stretch>
        </p:blipFill>
        <p:spPr>
          <a:xfrm>
            <a:off x="6797421" y="1840230"/>
            <a:ext cx="4953000" cy="31775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37586"/>
            <a:ext cx="11309985" cy="511668"/>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Solución y Proyecto en Visual Studio</a:t>
            </a:r>
          </a:p>
        </p:txBody>
      </p:sp>
      <p:sp>
        <p:nvSpPr>
          <p:cNvPr id="3" name="TextBox 2"/>
          <p:cNvSpPr txBox="1"/>
          <p:nvPr/>
        </p:nvSpPr>
        <p:spPr>
          <a:xfrm>
            <a:off x="440436" y="1240536"/>
            <a:ext cx="11309985" cy="1741952"/>
          </a:xfrm>
          <a:prstGeom prst="rect">
            <a:avLst/>
          </a:prstGeom>
          <a:noFill/>
        </p:spPr>
        <p:txBody>
          <a:bodyPr wrap="square">
            <a:spAutoFit/>
          </a:bodyPr>
          <a:lstStyle/>
          <a:p>
            <a:pPr algn="l">
              <a:lnSpc>
                <a:spcPct val="105000"/>
              </a:lnSpc>
              <a:spcBef>
                <a:spcPts val="800"/>
              </a:spcBef>
            </a:pPr>
            <a:r>
              <a:rPr lang="es-AR" sz="1500" b="0" i="0" noProof="0" dirty="0">
                <a:solidFill>
                  <a:srgbClr val="333333"/>
                </a:solidFill>
                <a:latin typeface="Calibri"/>
              </a:rPr>
              <a:t>•  </a:t>
            </a:r>
            <a:r>
              <a:rPr lang="es-AR" sz="1500" b="1" i="0" noProof="0" dirty="0">
                <a:solidFill>
                  <a:srgbClr val="333333"/>
                </a:solidFill>
                <a:latin typeface="Calibri"/>
              </a:rPr>
              <a:t>Una Solución (.sln) </a:t>
            </a:r>
            <a:r>
              <a:rPr lang="es-AR" sz="1500" b="0" i="0" noProof="0" dirty="0">
                <a:solidFill>
                  <a:srgbClr val="333333"/>
                </a:solidFill>
                <a:latin typeface="Calibri"/>
              </a:rPr>
              <a:t>es el contenedor de mas alto nivel: agrupa uno o varios Proyectos relacionados entre si (por ejemplo, la aplicación y sus pruebas).</a:t>
            </a:r>
          </a:p>
          <a:p>
            <a:pPr algn="l">
              <a:lnSpc>
                <a:spcPct val="105000"/>
              </a:lnSpc>
              <a:spcBef>
                <a:spcPts val="800"/>
              </a:spcBef>
            </a:pPr>
            <a:r>
              <a:rPr lang="es-AR" sz="1500" b="0" i="0" noProof="0" dirty="0">
                <a:solidFill>
                  <a:srgbClr val="333333"/>
                </a:solidFill>
                <a:latin typeface="Calibri"/>
              </a:rPr>
              <a:t>•  </a:t>
            </a:r>
            <a:r>
              <a:rPr lang="es-AR" sz="1500" b="1" i="0" noProof="0" dirty="0">
                <a:solidFill>
                  <a:srgbClr val="333333"/>
                </a:solidFill>
                <a:latin typeface="Calibri"/>
              </a:rPr>
              <a:t>Un Proyecto (.csproj) </a:t>
            </a:r>
            <a:r>
              <a:rPr lang="es-AR" sz="1500" b="0" i="0" noProof="0" dirty="0">
                <a:solidFill>
                  <a:srgbClr val="333333"/>
                </a:solidFill>
                <a:latin typeface="Calibri"/>
              </a:rPr>
              <a:t>es la unidad que se compila: contiene los formularios, clases, recursos, referencias a bibliotecas y la configuración para generar un ejecutable o una biblioteca.</a:t>
            </a:r>
          </a:p>
          <a:p>
            <a:pPr algn="l">
              <a:lnSpc>
                <a:spcPct val="105000"/>
              </a:lnSpc>
              <a:spcBef>
                <a:spcPts val="800"/>
              </a:spcBef>
            </a:pPr>
            <a:r>
              <a:rPr lang="es-AR" sz="1500" b="0" i="0" noProof="0" dirty="0">
                <a:solidFill>
                  <a:srgbClr val="333333"/>
                </a:solidFill>
                <a:latin typeface="Calibri"/>
              </a:rPr>
              <a:t>•  </a:t>
            </a:r>
            <a:r>
              <a:rPr lang="es-AR" sz="1500" b="1" i="0" noProof="0" dirty="0">
                <a:solidFill>
                  <a:srgbClr val="333333"/>
                </a:solidFill>
                <a:latin typeface="Calibri"/>
              </a:rPr>
              <a:t>Jerarquía</a:t>
            </a:r>
            <a:r>
              <a:rPr lang="es-AR" sz="1500" b="0" i="0" noProof="0" dirty="0">
                <a:solidFill>
                  <a:srgbClr val="333333"/>
                </a:solidFill>
                <a:latin typeface="Calibri"/>
              </a:rPr>
              <a:t>: una Solución puede contener varios Proyectos; cada Proyecto contiene sus propios archivos de código (.cs), diseño (.Designer.cs, .resx) y referencias.</a:t>
            </a:r>
          </a:p>
        </p:txBody>
      </p:sp>
      <p:pic>
        <p:nvPicPr>
          <p:cNvPr id="6" name="Imagen 5">
            <a:extLst>
              <a:ext uri="{FF2B5EF4-FFF2-40B4-BE49-F238E27FC236}">
                <a16:creationId xmlns:a16="http://schemas.microsoft.com/office/drawing/2014/main" id="{0CDB7A0B-1F21-049E-4889-55F3537E76AD}"/>
              </a:ext>
            </a:extLst>
          </p:cNvPr>
          <p:cNvPicPr>
            <a:picLocks noChangeAspect="1"/>
          </p:cNvPicPr>
          <p:nvPr/>
        </p:nvPicPr>
        <p:blipFill>
          <a:blip r:embed="rId2"/>
          <a:stretch>
            <a:fillRect/>
          </a:stretch>
        </p:blipFill>
        <p:spPr>
          <a:xfrm>
            <a:off x="2459545" y="3419168"/>
            <a:ext cx="7271765" cy="33460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Que es un formulario</a:t>
            </a:r>
          </a:p>
        </p:txBody>
      </p:sp>
      <p:sp>
        <p:nvSpPr>
          <p:cNvPr id="3" name="TextBox 2"/>
          <p:cNvSpPr txBox="1"/>
          <p:nvPr/>
        </p:nvSpPr>
        <p:spPr>
          <a:xfrm>
            <a:off x="440436" y="1240536"/>
            <a:ext cx="4588765" cy="2832635"/>
          </a:xfrm>
          <a:prstGeom prst="rect">
            <a:avLst/>
          </a:prstGeom>
          <a:noFill/>
        </p:spPr>
        <p:txBody>
          <a:bodyPr wrap="square">
            <a:spAutoFit/>
          </a:bodyPr>
          <a:lstStyle/>
          <a:p>
            <a:pPr algn="l">
              <a:lnSpc>
                <a:spcPct val="105000"/>
              </a:lnSpc>
              <a:spcBef>
                <a:spcPts val="800"/>
              </a:spcBef>
            </a:pPr>
            <a:r>
              <a:rPr lang="es-AR" sz="1400" b="0" i="0" noProof="0" dirty="0">
                <a:solidFill>
                  <a:srgbClr val="333333"/>
                </a:solidFill>
                <a:latin typeface="Calibri"/>
              </a:rPr>
              <a:t>•  Un formulario (Form) es la ventana sobre la que se diseña la interfaz grafica de una aplicación de escritorio: es en si mismo un control contenedor de otros controles.</a:t>
            </a:r>
          </a:p>
          <a:p>
            <a:pPr algn="l">
              <a:lnSpc>
                <a:spcPct val="105000"/>
              </a:lnSpc>
              <a:spcBef>
                <a:spcPts val="1400"/>
              </a:spcBef>
            </a:pPr>
            <a:r>
              <a:rPr lang="es-AR" sz="1400" b="1" i="0" noProof="0" dirty="0">
                <a:solidFill>
                  <a:srgbClr val="333333"/>
                </a:solidFill>
                <a:latin typeface="Calibri"/>
              </a:rPr>
              <a:t>•  Propiedades comunes:</a:t>
            </a:r>
          </a:p>
          <a:p>
            <a:pPr algn="l">
              <a:lnSpc>
                <a:spcPct val="105000"/>
              </a:lnSpc>
              <a:spcBef>
                <a:spcPts val="800"/>
              </a:spcBef>
            </a:pPr>
            <a:r>
              <a:rPr lang="es-AR" sz="1400" b="0" i="0" noProof="0" dirty="0">
                <a:solidFill>
                  <a:srgbClr val="333333"/>
                </a:solidFill>
                <a:latin typeface="Calibri"/>
              </a:rPr>
              <a:t>•  Text: titulo que se muestra en la barra del formulario.</a:t>
            </a:r>
          </a:p>
          <a:p>
            <a:pPr algn="l">
              <a:lnSpc>
                <a:spcPct val="105000"/>
              </a:lnSpc>
              <a:spcBef>
                <a:spcPts val="800"/>
              </a:spcBef>
            </a:pPr>
            <a:r>
              <a:rPr lang="es-AR" sz="1400" b="0" i="0" noProof="0" dirty="0">
                <a:solidFill>
                  <a:srgbClr val="333333"/>
                </a:solidFill>
                <a:latin typeface="Calibri"/>
              </a:rPr>
              <a:t>•  StartPosition, Size / Width / Height, FormBorderStyle, WindowState, IsMdiContainer, BackColor.</a:t>
            </a:r>
          </a:p>
          <a:p>
            <a:pPr algn="l">
              <a:lnSpc>
                <a:spcPct val="105000"/>
              </a:lnSpc>
              <a:spcBef>
                <a:spcPts val="800"/>
              </a:spcBef>
            </a:pPr>
            <a:r>
              <a:rPr lang="es-AR" sz="1400" b="0" i="0" noProof="0" dirty="0">
                <a:solidFill>
                  <a:srgbClr val="333333"/>
                </a:solidFill>
                <a:latin typeface="Calibri"/>
              </a:rPr>
              <a:t>•  Toda aplicación WinForms tiene al menos un formulario principal, instanciado y mostrado desde Main() en Program.cs.</a:t>
            </a:r>
          </a:p>
        </p:txBody>
      </p:sp>
      <p:pic>
        <p:nvPicPr>
          <p:cNvPr id="6" name="Imagen 5">
            <a:extLst>
              <a:ext uri="{FF2B5EF4-FFF2-40B4-BE49-F238E27FC236}">
                <a16:creationId xmlns:a16="http://schemas.microsoft.com/office/drawing/2014/main" id="{160B7A50-C075-87F6-22CB-2EA1519D24EE}"/>
              </a:ext>
            </a:extLst>
          </p:cNvPr>
          <p:cNvPicPr>
            <a:picLocks noChangeAspect="1"/>
          </p:cNvPicPr>
          <p:nvPr/>
        </p:nvPicPr>
        <p:blipFill>
          <a:blip r:embed="rId2"/>
          <a:stretch>
            <a:fillRect/>
          </a:stretch>
        </p:blipFill>
        <p:spPr>
          <a:xfrm>
            <a:off x="5029200" y="2209800"/>
            <a:ext cx="6990595" cy="3733800"/>
          </a:xfrm>
          <a:prstGeom prst="rect">
            <a:avLst/>
          </a:prstGeom>
        </p:spPr>
      </p:pic>
      <p:pic>
        <p:nvPicPr>
          <p:cNvPr id="8" name="Imagen 7">
            <a:extLst>
              <a:ext uri="{FF2B5EF4-FFF2-40B4-BE49-F238E27FC236}">
                <a16:creationId xmlns:a16="http://schemas.microsoft.com/office/drawing/2014/main" id="{7E6BEB23-03FA-E183-E2E6-99E2D27B2A90}"/>
              </a:ext>
            </a:extLst>
          </p:cNvPr>
          <p:cNvPicPr>
            <a:picLocks noChangeAspect="1"/>
          </p:cNvPicPr>
          <p:nvPr/>
        </p:nvPicPr>
        <p:blipFill>
          <a:blip r:embed="rId3"/>
          <a:stretch>
            <a:fillRect/>
          </a:stretch>
        </p:blipFill>
        <p:spPr>
          <a:xfrm>
            <a:off x="442894" y="4382790"/>
            <a:ext cx="4276725" cy="21812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Ejercicio 1 (C#)</a:t>
            </a:r>
          </a:p>
        </p:txBody>
      </p:sp>
      <p:sp>
        <p:nvSpPr>
          <p:cNvPr id="3" name="TextBox 2"/>
          <p:cNvSpPr txBox="1"/>
          <p:nvPr/>
        </p:nvSpPr>
        <p:spPr>
          <a:xfrm>
            <a:off x="440436" y="1240536"/>
            <a:ext cx="5654992" cy="2495876"/>
          </a:xfrm>
          <a:prstGeom prst="rect">
            <a:avLst/>
          </a:prstGeom>
          <a:noFill/>
        </p:spPr>
        <p:txBody>
          <a:bodyPr wrap="square">
            <a:spAutoFit/>
          </a:bodyPr>
          <a:lstStyle/>
          <a:p>
            <a:pPr algn="l">
              <a:lnSpc>
                <a:spcPct val="105000"/>
              </a:lnSpc>
              <a:spcBef>
                <a:spcPts val="700"/>
              </a:spcBef>
            </a:pPr>
            <a:r>
              <a:rPr lang="es-AR" sz="1450" b="0" i="0" noProof="0" dirty="0">
                <a:solidFill>
                  <a:srgbClr val="333333"/>
                </a:solidFill>
                <a:latin typeface="Calibri"/>
              </a:rPr>
              <a:t>•  Crear un formulario frmSaludo con un Label, un TextBox y un Button.</a:t>
            </a:r>
          </a:p>
          <a:p>
            <a:pPr algn="l">
              <a:lnSpc>
                <a:spcPct val="105000"/>
              </a:lnSpc>
              <a:spcBef>
                <a:spcPts val="1400"/>
              </a:spcBef>
            </a:pPr>
            <a:r>
              <a:rPr lang="es-AR" sz="1450" b="1" i="0" noProof="0" dirty="0">
                <a:solidFill>
                  <a:srgbClr val="333333"/>
                </a:solidFill>
                <a:latin typeface="Calibri"/>
              </a:rPr>
              <a:t>•  Al hacer clic en el botón:</a:t>
            </a:r>
          </a:p>
          <a:p>
            <a:pPr algn="l">
              <a:lnSpc>
                <a:spcPct val="105000"/>
              </a:lnSpc>
              <a:spcBef>
                <a:spcPts val="700"/>
              </a:spcBef>
            </a:pPr>
            <a:r>
              <a:rPr lang="es-AR" sz="1450" b="0" i="0" noProof="0" dirty="0">
                <a:solidFill>
                  <a:srgbClr val="333333"/>
                </a:solidFill>
                <a:latin typeface="Calibri"/>
              </a:rPr>
              <a:t>•  Si el TextBox esta vacío, mostrar un MessageBox pidiendo que se ingrese un nombre.</a:t>
            </a:r>
          </a:p>
          <a:p>
            <a:pPr algn="l">
              <a:lnSpc>
                <a:spcPct val="105000"/>
              </a:lnSpc>
              <a:spcBef>
                <a:spcPts val="700"/>
              </a:spcBef>
            </a:pPr>
            <a:r>
              <a:rPr lang="es-AR" sz="1450" b="0" i="0" noProof="0" dirty="0">
                <a:solidFill>
                  <a:srgbClr val="333333"/>
                </a:solidFill>
                <a:latin typeface="Calibri"/>
              </a:rPr>
              <a:t>•  Caso contrario, mostrar en el Label el saludo “Bienvenido/a &lt;nombre&gt;”.</a:t>
            </a:r>
          </a:p>
          <a:p>
            <a:pPr algn="l">
              <a:lnSpc>
                <a:spcPct val="105000"/>
              </a:lnSpc>
              <a:spcBef>
                <a:spcPts val="1400"/>
              </a:spcBef>
            </a:pPr>
            <a:r>
              <a:rPr lang="es-AR" sz="1450" b="0" i="0" noProof="0" dirty="0">
                <a:solidFill>
                  <a:srgbClr val="333333"/>
                </a:solidFill>
                <a:latin typeface="Calibri"/>
              </a:rPr>
              <a:t>•  Utilizar la ventana Toolbox para incorporar los controles y la ventana Properties para configurar el Name y el Text de cada uno.</a:t>
            </a:r>
          </a:p>
        </p:txBody>
      </p:sp>
      <p:pic>
        <p:nvPicPr>
          <p:cNvPr id="6" name="Imagen 5">
            <a:extLst>
              <a:ext uri="{FF2B5EF4-FFF2-40B4-BE49-F238E27FC236}">
                <a16:creationId xmlns:a16="http://schemas.microsoft.com/office/drawing/2014/main" id="{36BD4767-C345-2C3C-F1F5-867C3C1457D2}"/>
              </a:ext>
            </a:extLst>
          </p:cNvPr>
          <p:cNvPicPr>
            <a:picLocks noChangeAspect="1"/>
          </p:cNvPicPr>
          <p:nvPr/>
        </p:nvPicPr>
        <p:blipFill>
          <a:blip r:embed="rId2"/>
          <a:stretch>
            <a:fillRect/>
          </a:stretch>
        </p:blipFill>
        <p:spPr>
          <a:xfrm>
            <a:off x="5935408" y="1137920"/>
            <a:ext cx="5815013" cy="50135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37586"/>
            <a:ext cx="11309985" cy="511668"/>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Solución ejercicio 1</a:t>
            </a:r>
          </a:p>
        </p:txBody>
      </p:sp>
      <p:sp>
        <p:nvSpPr>
          <p:cNvPr id="3" name="TextBox 2"/>
          <p:cNvSpPr txBox="1"/>
          <p:nvPr/>
        </p:nvSpPr>
        <p:spPr>
          <a:xfrm>
            <a:off x="440436" y="1240536"/>
            <a:ext cx="11309985" cy="340350"/>
          </a:xfrm>
          <a:prstGeom prst="rect">
            <a:avLst/>
          </a:prstGeom>
          <a:noFill/>
        </p:spPr>
        <p:txBody>
          <a:bodyPr wrap="square">
            <a:spAutoFit/>
          </a:bodyPr>
          <a:lstStyle/>
          <a:p>
            <a:pPr algn="l">
              <a:lnSpc>
                <a:spcPct val="105000"/>
              </a:lnSpc>
              <a:spcBef>
                <a:spcPts val="0"/>
              </a:spcBef>
            </a:pPr>
            <a:r>
              <a:rPr lang="es-AR" sz="1600" b="0" i="0" noProof="0" dirty="0">
                <a:solidFill>
                  <a:srgbClr val="333333"/>
                </a:solidFill>
                <a:latin typeface="Calibri"/>
              </a:rPr>
              <a:t>El código completo, comentado, con la resolución paso a paso y una captura del formulario en ejecución, esta en el archivo adjunto:</a:t>
            </a:r>
          </a:p>
        </p:txBody>
      </p:sp>
      <p:sp>
        <p:nvSpPr>
          <p:cNvPr id="4" name="TextBox 3"/>
          <p:cNvSpPr txBox="1"/>
          <p:nvPr/>
        </p:nvSpPr>
        <p:spPr>
          <a:xfrm>
            <a:off x="440436" y="1800536"/>
            <a:ext cx="11309985" cy="420000"/>
          </a:xfrm>
          <a:prstGeom prst="rect">
            <a:avLst/>
          </a:prstGeom>
          <a:solidFill>
            <a:srgbClr val="F5F0F2"/>
          </a:solidFill>
          <a:ln>
            <a:noFill/>
          </a:ln>
        </p:spPr>
        <p:txBody>
          <a:bodyPr wrap="square" anchor="ctr">
            <a:spAutoFit/>
          </a:bodyPr>
          <a:lstStyle/>
          <a:p>
            <a:pPr algn="ctr"/>
            <a:r>
              <a:rPr lang="es-AR" sz="1800" b="1" noProof="0" dirty="0">
                <a:solidFill>
                  <a:srgbClr val="4D1234"/>
                </a:solidFill>
                <a:latin typeface="Courier New"/>
              </a:rPr>
              <a:t>Ejercicio1_FormularioSaludo.docx</a:t>
            </a:r>
          </a:p>
        </p:txBody>
      </p:sp>
      <p:sp>
        <p:nvSpPr>
          <p:cNvPr id="5" name="TextBox 4"/>
          <p:cNvSpPr txBox="1"/>
          <p:nvPr/>
        </p:nvSpPr>
        <p:spPr>
          <a:xfrm>
            <a:off x="440436" y="2360536"/>
            <a:ext cx="11309985" cy="519822"/>
          </a:xfrm>
          <a:prstGeom prst="rect">
            <a:avLst/>
          </a:prstGeom>
          <a:noFill/>
        </p:spPr>
        <p:txBody>
          <a:bodyPr wrap="square">
            <a:spAutoFit/>
          </a:bodyPr>
          <a:lstStyle/>
          <a:p>
            <a:pPr algn="l">
              <a:lnSpc>
                <a:spcPct val="105000"/>
              </a:lnSpc>
              <a:spcBef>
                <a:spcPts val="600"/>
              </a:spcBef>
            </a:pPr>
            <a:r>
              <a:rPr lang="es-AR" sz="1350" b="0" i="0" noProof="0" dirty="0">
                <a:solidFill>
                  <a:srgbClr val="333333"/>
                </a:solidFill>
                <a:latin typeface="Calibri"/>
              </a:rPr>
              <a:t>•  Incluye: el código del formulario (frmSaludo) con el evento Click del botón comentado línea por línea, la validación del TextBox vacío y una explicación del resultado esperado al ejecutarlo.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Control Button - propiedades, métodos y eventos</a:t>
            </a:r>
          </a:p>
        </p:txBody>
      </p:sp>
      <p:sp>
        <p:nvSpPr>
          <p:cNvPr id="3" name="TextBox 2"/>
          <p:cNvSpPr txBox="1"/>
          <p:nvPr/>
        </p:nvSpPr>
        <p:spPr>
          <a:xfrm>
            <a:off x="440436" y="1240536"/>
            <a:ext cx="11309985" cy="301686"/>
          </a:xfrm>
          <a:prstGeom prst="rect">
            <a:avLst/>
          </a:prstGeom>
          <a:noFill/>
        </p:spPr>
        <p:txBody>
          <a:bodyPr wrap="square">
            <a:spAutoFit/>
          </a:bodyPr>
          <a:lstStyle/>
          <a:p>
            <a:pPr algn="l">
              <a:lnSpc>
                <a:spcPct val="105000"/>
              </a:lnSpc>
              <a:spcBef>
                <a:spcPts val="0"/>
              </a:spcBef>
            </a:pPr>
            <a:r>
              <a:rPr lang="es-AR" sz="1350" b="0" i="0" noProof="0" dirty="0">
                <a:solidFill>
                  <a:srgbClr val="333333"/>
                </a:solidFill>
                <a:latin typeface="Calibri"/>
              </a:rPr>
              <a:t>•  Los botones son de los controles mas simples: ejecutan una acción de código (evento Click) cuando el usuario los presiona.</a:t>
            </a:r>
          </a:p>
        </p:txBody>
      </p:sp>
      <p:graphicFrame>
        <p:nvGraphicFramePr>
          <p:cNvPr id="5" name="Table 4"/>
          <p:cNvGraphicFramePr>
            <a:graphicFrameLocks noGrp="1"/>
          </p:cNvGraphicFramePr>
          <p:nvPr>
            <p:extLst>
              <p:ext uri="{D42A27DB-BD31-4B8C-83A1-F6EECF244321}">
                <p14:modId xmlns:p14="http://schemas.microsoft.com/office/powerpoint/2010/main" val="1698260333"/>
              </p:ext>
            </p:extLst>
          </p:nvPr>
        </p:nvGraphicFramePr>
        <p:xfrm>
          <a:off x="440436" y="1700536"/>
          <a:ext cx="7599983" cy="4947464"/>
        </p:xfrm>
        <a:graphic>
          <a:graphicData uri="http://schemas.openxmlformats.org/drawingml/2006/table">
            <a:tbl>
              <a:tblPr firstRow="1" bandRow="1">
                <a:tableStyleId>{5C22544A-7EE6-4342-B048-85BDC9FD1C3A}</a:tableStyleId>
              </a:tblPr>
              <a:tblGrid>
                <a:gridCol w="2583994">
                  <a:extLst>
                    <a:ext uri="{9D8B030D-6E8A-4147-A177-3AD203B41FA5}">
                      <a16:colId xmlns:a16="http://schemas.microsoft.com/office/drawing/2014/main" val="20000"/>
                    </a:ext>
                  </a:extLst>
                </a:gridCol>
                <a:gridCol w="2583994">
                  <a:extLst>
                    <a:ext uri="{9D8B030D-6E8A-4147-A177-3AD203B41FA5}">
                      <a16:colId xmlns:a16="http://schemas.microsoft.com/office/drawing/2014/main" val="20001"/>
                    </a:ext>
                  </a:extLst>
                </a:gridCol>
                <a:gridCol w="2431995">
                  <a:extLst>
                    <a:ext uri="{9D8B030D-6E8A-4147-A177-3AD203B41FA5}">
                      <a16:colId xmlns:a16="http://schemas.microsoft.com/office/drawing/2014/main" val="20002"/>
                    </a:ext>
                  </a:extLst>
                </a:gridCol>
              </a:tblGrid>
              <a:tr h="360000">
                <a:tc>
                  <a:txBody>
                    <a:bodyPr/>
                    <a:lstStyle/>
                    <a:p>
                      <a:pPr algn="ctr"/>
                      <a:r>
                        <a:rPr lang="es-AR" sz="1300" b="1" noProof="0" dirty="0">
                          <a:solidFill>
                            <a:srgbClr val="FFFFFF"/>
                          </a:solidFill>
                          <a:latin typeface="Calibri"/>
                        </a:rPr>
                        <a:t>Propiedades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Métodos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Eventos</a:t>
                      </a:r>
                    </a:p>
                  </a:txBody>
                  <a:tcPr marL="60000" marR="60000" marT="30000" marB="30000" anchor="ctr">
                    <a:solidFill>
                      <a:srgbClr val="4D1234"/>
                    </a:solidFill>
                  </a:tcPr>
                </a:tc>
                <a:extLst>
                  <a:ext uri="{0D108BD9-81ED-4DB2-BD59-A6C34878D82A}">
                    <a16:rowId xmlns:a16="http://schemas.microsoft.com/office/drawing/2014/main" val="10000"/>
                  </a:ext>
                </a:extLst>
              </a:tr>
              <a:tr h="4587464">
                <a:tc>
                  <a:txBody>
                    <a:bodyPr/>
                    <a:lstStyle/>
                    <a:p>
                      <a:pPr algn="l"/>
                      <a:r>
                        <a:rPr lang="es-AR" sz="2000" b="0" noProof="0" dirty="0">
                          <a:solidFill>
                            <a:srgbClr val="333333"/>
                          </a:solidFill>
                          <a:latin typeface="Calibri"/>
                        </a:rPr>
                        <a:t>Name, Text, Enabled, Visible, BackColor, </a:t>
                      </a:r>
                      <a:r>
                        <a:rPr lang="es-AR" sz="2000" b="0" noProof="0" dirty="0" err="1">
                          <a:solidFill>
                            <a:srgbClr val="333333"/>
                          </a:solidFill>
                          <a:latin typeface="Calibri"/>
                        </a:rPr>
                        <a:t>ForeColor</a:t>
                      </a:r>
                      <a:r>
                        <a:rPr lang="es-AR" sz="2000" b="0" noProof="0" dirty="0">
                          <a:solidFill>
                            <a:srgbClr val="333333"/>
                          </a:solidFill>
                          <a:latin typeface="Calibri"/>
                        </a:rPr>
                        <a:t>, Font, Size, </a:t>
                      </a:r>
                      <a:r>
                        <a:rPr lang="es-AR" sz="2000" b="0" noProof="0" dirty="0" err="1">
                          <a:solidFill>
                            <a:srgbClr val="333333"/>
                          </a:solidFill>
                          <a:latin typeface="Calibri"/>
                        </a:rPr>
                        <a:t>Location</a:t>
                      </a:r>
                      <a:r>
                        <a:rPr lang="es-AR" sz="2000" b="0" noProof="0" dirty="0">
                          <a:solidFill>
                            <a:srgbClr val="333333"/>
                          </a:solidFill>
                          <a:latin typeface="Calibri"/>
                        </a:rPr>
                        <a:t>, </a:t>
                      </a:r>
                      <a:r>
                        <a:rPr lang="es-AR" sz="2000" b="0" noProof="0" dirty="0" err="1">
                          <a:solidFill>
                            <a:srgbClr val="333333"/>
                          </a:solidFill>
                          <a:latin typeface="Calibri"/>
                        </a:rPr>
                        <a:t>TabIndex</a:t>
                      </a:r>
                      <a:endParaRPr lang="es-AR" sz="2000" b="0" noProof="0" dirty="0">
                        <a:solidFill>
                          <a:srgbClr val="333333"/>
                        </a:solidFill>
                        <a:latin typeface="Calibri"/>
                      </a:endParaRPr>
                    </a:p>
                  </a:txBody>
                  <a:tcPr marL="60000" marR="60000" marT="30000" marB="30000" anchor="ctr">
                    <a:solidFill>
                      <a:srgbClr val="FFFFFF"/>
                    </a:solidFill>
                  </a:tcPr>
                </a:tc>
                <a:tc>
                  <a:txBody>
                    <a:bodyPr/>
                    <a:lstStyle/>
                    <a:p>
                      <a:pPr algn="l"/>
                      <a:r>
                        <a:rPr lang="es-AR" sz="2000" b="0" noProof="0" dirty="0">
                          <a:solidFill>
                            <a:srgbClr val="333333"/>
                          </a:solidFill>
                          <a:latin typeface="Calibri"/>
                        </a:rPr>
                        <a:t>Focus(), Show(), Hide(), </a:t>
                      </a:r>
                      <a:r>
                        <a:rPr lang="es-AR" sz="2000" b="0" noProof="0" dirty="0" err="1">
                          <a:solidFill>
                            <a:srgbClr val="333333"/>
                          </a:solidFill>
                          <a:latin typeface="Calibri"/>
                        </a:rPr>
                        <a:t>PerformClick</a:t>
                      </a:r>
                      <a:r>
                        <a:rPr lang="es-AR" sz="2000" b="0" noProof="0" dirty="0">
                          <a:solidFill>
                            <a:srgbClr val="333333"/>
                          </a:solidFill>
                          <a:latin typeface="Calibri"/>
                        </a:rPr>
                        <a:t>(), </a:t>
                      </a:r>
                      <a:r>
                        <a:rPr lang="es-AR" sz="2000" b="0" noProof="0" dirty="0" err="1">
                          <a:solidFill>
                            <a:srgbClr val="333333"/>
                          </a:solidFill>
                          <a:latin typeface="Calibri"/>
                        </a:rPr>
                        <a:t>Refresh</a:t>
                      </a:r>
                      <a:r>
                        <a:rPr lang="es-AR" sz="2000" b="0" noProof="0" dirty="0">
                          <a:solidFill>
                            <a:srgbClr val="333333"/>
                          </a:solidFill>
                          <a:latin typeface="Calibri"/>
                        </a:rPr>
                        <a:t>(), </a:t>
                      </a:r>
                      <a:r>
                        <a:rPr lang="es-AR" sz="2000" b="0" noProof="0" dirty="0" err="1">
                          <a:solidFill>
                            <a:srgbClr val="333333"/>
                          </a:solidFill>
                          <a:latin typeface="Calibri"/>
                        </a:rPr>
                        <a:t>Select</a:t>
                      </a:r>
                      <a:r>
                        <a:rPr lang="es-AR" sz="2000" b="0" noProof="0" dirty="0">
                          <a:solidFill>
                            <a:srgbClr val="333333"/>
                          </a:solidFill>
                          <a:latin typeface="Calibri"/>
                        </a:rPr>
                        <a:t>(), </a:t>
                      </a:r>
                      <a:r>
                        <a:rPr lang="es-AR" sz="2000" b="0" noProof="0" dirty="0" err="1">
                          <a:solidFill>
                            <a:srgbClr val="333333"/>
                          </a:solidFill>
                          <a:latin typeface="Calibri"/>
                        </a:rPr>
                        <a:t>BringToFront</a:t>
                      </a:r>
                      <a:r>
                        <a:rPr lang="es-AR" sz="2000" b="0" noProof="0" dirty="0">
                          <a:solidFill>
                            <a:srgbClr val="333333"/>
                          </a:solidFill>
                          <a:latin typeface="Calibri"/>
                        </a:rPr>
                        <a:t>(), </a:t>
                      </a:r>
                      <a:r>
                        <a:rPr lang="es-AR" sz="2000" b="0" noProof="0" dirty="0" err="1">
                          <a:solidFill>
                            <a:srgbClr val="333333"/>
                          </a:solidFill>
                          <a:latin typeface="Calibri"/>
                        </a:rPr>
                        <a:t>SendToBack</a:t>
                      </a:r>
                      <a:r>
                        <a:rPr lang="es-AR" sz="2000" b="0" noProof="0" dirty="0">
                          <a:solidFill>
                            <a:srgbClr val="333333"/>
                          </a:solidFill>
                          <a:latin typeface="Calibri"/>
                        </a:rPr>
                        <a:t>(), </a:t>
                      </a:r>
                      <a:r>
                        <a:rPr lang="es-AR" sz="2000" b="0" noProof="0" dirty="0" err="1">
                          <a:solidFill>
                            <a:srgbClr val="333333"/>
                          </a:solidFill>
                          <a:latin typeface="Calibri"/>
                        </a:rPr>
                        <a:t>ResetText</a:t>
                      </a:r>
                      <a:r>
                        <a:rPr lang="es-AR" sz="2000" b="0" noProof="0" dirty="0">
                          <a:solidFill>
                            <a:srgbClr val="333333"/>
                          </a:solidFill>
                          <a:latin typeface="Calibri"/>
                        </a:rPr>
                        <a:t>(), </a:t>
                      </a:r>
                      <a:r>
                        <a:rPr lang="es-AR" sz="2000" b="0" noProof="0" dirty="0" err="1">
                          <a:solidFill>
                            <a:srgbClr val="333333"/>
                          </a:solidFill>
                          <a:latin typeface="Calibri"/>
                        </a:rPr>
                        <a:t>Invalidate</a:t>
                      </a:r>
                      <a:r>
                        <a:rPr lang="es-AR" sz="2000" b="0" noProof="0" dirty="0">
                          <a:solidFill>
                            <a:srgbClr val="333333"/>
                          </a:solidFill>
                          <a:latin typeface="Calibri"/>
                        </a:rPr>
                        <a:t>()</a:t>
                      </a:r>
                    </a:p>
                  </a:txBody>
                  <a:tcPr marL="60000" marR="60000" marT="30000" marB="30000" anchor="ctr">
                    <a:solidFill>
                      <a:srgbClr val="FFFFFF"/>
                    </a:solidFill>
                  </a:tcPr>
                </a:tc>
                <a:tc>
                  <a:txBody>
                    <a:bodyPr/>
                    <a:lstStyle/>
                    <a:p>
                      <a:pPr algn="l"/>
                      <a:r>
                        <a:rPr lang="es-AR" sz="2000" b="0" noProof="0" dirty="0">
                          <a:solidFill>
                            <a:srgbClr val="333333"/>
                          </a:solidFill>
                          <a:latin typeface="Calibri"/>
                        </a:rPr>
                        <a:t>Click, </a:t>
                      </a:r>
                      <a:r>
                        <a:rPr lang="es-AR" sz="2000" b="0" noProof="0" dirty="0" err="1">
                          <a:solidFill>
                            <a:srgbClr val="333333"/>
                          </a:solidFill>
                          <a:latin typeface="Calibri"/>
                        </a:rPr>
                        <a:t>DoubleClick</a:t>
                      </a:r>
                      <a:r>
                        <a:rPr lang="es-AR" sz="2000" b="0" noProof="0" dirty="0">
                          <a:solidFill>
                            <a:srgbClr val="333333"/>
                          </a:solidFill>
                          <a:latin typeface="Calibri"/>
                        </a:rPr>
                        <a:t>, </a:t>
                      </a:r>
                      <a:r>
                        <a:rPr lang="es-AR" sz="2000" b="0" noProof="0" dirty="0" err="1">
                          <a:solidFill>
                            <a:srgbClr val="333333"/>
                          </a:solidFill>
                          <a:latin typeface="Calibri"/>
                        </a:rPr>
                        <a:t>MouseEnter</a:t>
                      </a:r>
                      <a:r>
                        <a:rPr lang="es-AR" sz="2000" b="0" noProof="0" dirty="0">
                          <a:solidFill>
                            <a:srgbClr val="333333"/>
                          </a:solidFill>
                          <a:latin typeface="Calibri"/>
                        </a:rPr>
                        <a:t>, </a:t>
                      </a:r>
                      <a:r>
                        <a:rPr lang="es-AR" sz="2000" b="0" noProof="0" dirty="0" err="1">
                          <a:solidFill>
                            <a:srgbClr val="333333"/>
                          </a:solidFill>
                          <a:latin typeface="Calibri"/>
                        </a:rPr>
                        <a:t>MouseLeave</a:t>
                      </a:r>
                      <a:r>
                        <a:rPr lang="es-AR" sz="2000" b="0" noProof="0" dirty="0">
                          <a:solidFill>
                            <a:srgbClr val="333333"/>
                          </a:solidFill>
                          <a:latin typeface="Calibri"/>
                        </a:rPr>
                        <a:t>, </a:t>
                      </a:r>
                      <a:r>
                        <a:rPr lang="es-AR" sz="2000" b="0" noProof="0" dirty="0" err="1">
                          <a:solidFill>
                            <a:srgbClr val="333333"/>
                          </a:solidFill>
                          <a:latin typeface="Calibri"/>
                        </a:rPr>
                        <a:t>MouseDown</a:t>
                      </a:r>
                      <a:r>
                        <a:rPr lang="es-AR" sz="2000" b="0" noProof="0" dirty="0">
                          <a:solidFill>
                            <a:srgbClr val="333333"/>
                          </a:solidFill>
                          <a:latin typeface="Calibri"/>
                        </a:rPr>
                        <a:t>, </a:t>
                      </a:r>
                      <a:r>
                        <a:rPr lang="es-AR" sz="2000" b="0" noProof="0" dirty="0" err="1">
                          <a:solidFill>
                            <a:srgbClr val="333333"/>
                          </a:solidFill>
                          <a:latin typeface="Calibri"/>
                        </a:rPr>
                        <a:t>MouseUp</a:t>
                      </a:r>
                      <a:r>
                        <a:rPr lang="es-AR" sz="2000" b="0" noProof="0" dirty="0">
                          <a:solidFill>
                            <a:srgbClr val="333333"/>
                          </a:solidFill>
                          <a:latin typeface="Calibri"/>
                        </a:rPr>
                        <a:t>, </a:t>
                      </a:r>
                      <a:r>
                        <a:rPr lang="es-AR" sz="2000" b="0" noProof="0" dirty="0" err="1">
                          <a:solidFill>
                            <a:srgbClr val="333333"/>
                          </a:solidFill>
                          <a:latin typeface="Calibri"/>
                        </a:rPr>
                        <a:t>KeyDown</a:t>
                      </a:r>
                      <a:r>
                        <a:rPr lang="es-AR" sz="2000" b="0" noProof="0" dirty="0">
                          <a:solidFill>
                            <a:srgbClr val="333333"/>
                          </a:solidFill>
                          <a:latin typeface="Calibri"/>
                        </a:rPr>
                        <a:t>, </a:t>
                      </a:r>
                      <a:r>
                        <a:rPr lang="es-AR" sz="2000" b="0" noProof="0" dirty="0" err="1">
                          <a:solidFill>
                            <a:srgbClr val="333333"/>
                          </a:solidFill>
                          <a:latin typeface="Calibri"/>
                        </a:rPr>
                        <a:t>KeyPress</a:t>
                      </a:r>
                      <a:r>
                        <a:rPr lang="es-AR" sz="2000" b="0" noProof="0" dirty="0">
                          <a:solidFill>
                            <a:srgbClr val="333333"/>
                          </a:solidFill>
                          <a:latin typeface="Calibri"/>
                        </a:rPr>
                        <a:t>, </a:t>
                      </a:r>
                      <a:r>
                        <a:rPr lang="es-AR" sz="2000" b="0" noProof="0" dirty="0" err="1">
                          <a:solidFill>
                            <a:srgbClr val="333333"/>
                          </a:solidFill>
                          <a:latin typeface="Calibri"/>
                        </a:rPr>
                        <a:t>GotFocus</a:t>
                      </a:r>
                      <a:r>
                        <a:rPr lang="es-AR" sz="2000" b="0" noProof="0" dirty="0">
                          <a:solidFill>
                            <a:srgbClr val="333333"/>
                          </a:solidFill>
                          <a:latin typeface="Calibri"/>
                        </a:rPr>
                        <a:t>, </a:t>
                      </a:r>
                      <a:r>
                        <a:rPr lang="es-AR" sz="2000" b="0" noProof="0" dirty="0" err="1">
                          <a:solidFill>
                            <a:srgbClr val="333333"/>
                          </a:solidFill>
                          <a:latin typeface="Calibri"/>
                        </a:rPr>
                        <a:t>LostFocus</a:t>
                      </a:r>
                      <a:endParaRPr lang="es-AR" sz="2000" b="0" noProof="0" dirty="0">
                        <a:solidFill>
                          <a:srgbClr val="333333"/>
                        </a:solidFill>
                        <a:latin typeface="Calibri"/>
                      </a:endParaRPr>
                    </a:p>
                  </a:txBody>
                  <a:tcPr marL="60000" marR="60000" marT="30000" marB="30000" anchor="ctr">
                    <a:solidFill>
                      <a:srgbClr val="FFFFFF"/>
                    </a:solidFill>
                  </a:tcPr>
                </a:tc>
                <a:extLst>
                  <a:ext uri="{0D108BD9-81ED-4DB2-BD59-A6C34878D82A}">
                    <a16:rowId xmlns:a16="http://schemas.microsoft.com/office/drawing/2014/main" val="10001"/>
                  </a:ext>
                </a:extLst>
              </a:tr>
            </a:tbl>
          </a:graphicData>
        </a:graphic>
      </p:graphicFrame>
      <p:pic>
        <p:nvPicPr>
          <p:cNvPr id="9" name="Marcador de contenido 5">
            <a:extLst>
              <a:ext uri="{FF2B5EF4-FFF2-40B4-BE49-F238E27FC236}">
                <a16:creationId xmlns:a16="http://schemas.microsoft.com/office/drawing/2014/main" id="{39285BC3-4A90-FA61-98BB-6C944F1910BE}"/>
              </a:ext>
            </a:extLst>
          </p:cNvPr>
          <p:cNvPicPr>
            <a:picLocks noChangeAspect="1"/>
          </p:cNvPicPr>
          <p:nvPr/>
        </p:nvPicPr>
        <p:blipFill>
          <a:blip r:embed="rId2"/>
          <a:stretch>
            <a:fillRect/>
          </a:stretch>
        </p:blipFill>
        <p:spPr>
          <a:xfrm>
            <a:off x="8132733" y="2514600"/>
            <a:ext cx="3617688" cy="24491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Control CheckBox - propiedades, métodos y eventos</a:t>
            </a:r>
          </a:p>
        </p:txBody>
      </p:sp>
      <p:sp>
        <p:nvSpPr>
          <p:cNvPr id="3" name="TextBox 2"/>
          <p:cNvSpPr txBox="1"/>
          <p:nvPr/>
        </p:nvSpPr>
        <p:spPr>
          <a:xfrm>
            <a:off x="440436" y="1240536"/>
            <a:ext cx="11309985" cy="420000"/>
          </a:xfrm>
          <a:prstGeom prst="rect">
            <a:avLst/>
          </a:prstGeom>
          <a:noFill/>
        </p:spPr>
        <p:txBody>
          <a:bodyPr wrap="square">
            <a:spAutoFit/>
          </a:bodyPr>
          <a:lstStyle/>
          <a:p>
            <a:pPr algn="l">
              <a:lnSpc>
                <a:spcPct val="105000"/>
              </a:lnSpc>
              <a:spcBef>
                <a:spcPts val="0"/>
              </a:spcBef>
            </a:pPr>
            <a:r>
              <a:rPr lang="es-AR" sz="1350" b="0" i="0" noProof="0" dirty="0">
                <a:solidFill>
                  <a:srgbClr val="333333"/>
                </a:solidFill>
                <a:latin typeface="Calibri"/>
              </a:rPr>
              <a:t>•  Permite obtener un valor booleano del usuario para una pregunta especifica (por ejemplo, “¿Esta bien?”).</a:t>
            </a:r>
          </a:p>
        </p:txBody>
      </p:sp>
      <p:graphicFrame>
        <p:nvGraphicFramePr>
          <p:cNvPr id="5" name="Table 4"/>
          <p:cNvGraphicFramePr>
            <a:graphicFrameLocks noGrp="1"/>
          </p:cNvGraphicFramePr>
          <p:nvPr>
            <p:extLst>
              <p:ext uri="{D42A27DB-BD31-4B8C-83A1-F6EECF244321}">
                <p14:modId xmlns:p14="http://schemas.microsoft.com/office/powerpoint/2010/main" val="1206591502"/>
              </p:ext>
            </p:extLst>
          </p:nvPr>
        </p:nvGraphicFramePr>
        <p:xfrm>
          <a:off x="440436" y="1700536"/>
          <a:ext cx="7599983" cy="4947464"/>
        </p:xfrm>
        <a:graphic>
          <a:graphicData uri="http://schemas.openxmlformats.org/drawingml/2006/table">
            <a:tbl>
              <a:tblPr firstRow="1" bandRow="1">
                <a:tableStyleId>{5C22544A-7EE6-4342-B048-85BDC9FD1C3A}</a:tableStyleId>
              </a:tblPr>
              <a:tblGrid>
                <a:gridCol w="2583994">
                  <a:extLst>
                    <a:ext uri="{9D8B030D-6E8A-4147-A177-3AD203B41FA5}">
                      <a16:colId xmlns:a16="http://schemas.microsoft.com/office/drawing/2014/main" val="20000"/>
                    </a:ext>
                  </a:extLst>
                </a:gridCol>
                <a:gridCol w="2583994">
                  <a:extLst>
                    <a:ext uri="{9D8B030D-6E8A-4147-A177-3AD203B41FA5}">
                      <a16:colId xmlns:a16="http://schemas.microsoft.com/office/drawing/2014/main" val="20001"/>
                    </a:ext>
                  </a:extLst>
                </a:gridCol>
                <a:gridCol w="2431995">
                  <a:extLst>
                    <a:ext uri="{9D8B030D-6E8A-4147-A177-3AD203B41FA5}">
                      <a16:colId xmlns:a16="http://schemas.microsoft.com/office/drawing/2014/main" val="20002"/>
                    </a:ext>
                  </a:extLst>
                </a:gridCol>
              </a:tblGrid>
              <a:tr h="360000">
                <a:tc>
                  <a:txBody>
                    <a:bodyPr/>
                    <a:lstStyle/>
                    <a:p>
                      <a:pPr algn="ctr"/>
                      <a:r>
                        <a:rPr lang="es-AR" sz="1300" b="1" noProof="0" dirty="0">
                          <a:solidFill>
                            <a:srgbClr val="FFFFFF"/>
                          </a:solidFill>
                          <a:latin typeface="Calibri"/>
                        </a:rPr>
                        <a:t>Propiedades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Métodos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Eventos</a:t>
                      </a:r>
                    </a:p>
                  </a:txBody>
                  <a:tcPr marL="60000" marR="60000" marT="30000" marB="30000" anchor="ctr">
                    <a:solidFill>
                      <a:srgbClr val="4D1234"/>
                    </a:solidFill>
                  </a:tcPr>
                </a:tc>
                <a:extLst>
                  <a:ext uri="{0D108BD9-81ED-4DB2-BD59-A6C34878D82A}">
                    <a16:rowId xmlns:a16="http://schemas.microsoft.com/office/drawing/2014/main" val="10000"/>
                  </a:ext>
                </a:extLst>
              </a:tr>
              <a:tr h="4587464">
                <a:tc>
                  <a:txBody>
                    <a:bodyPr/>
                    <a:lstStyle/>
                    <a:p>
                      <a:pPr algn="l"/>
                      <a:r>
                        <a:rPr lang="es-AR" sz="2000" b="0" noProof="0" dirty="0">
                          <a:solidFill>
                            <a:srgbClr val="333333"/>
                          </a:solidFill>
                          <a:latin typeface="Calibri"/>
                        </a:rPr>
                        <a:t>Name, </a:t>
                      </a:r>
                      <a:r>
                        <a:rPr lang="es-AR" sz="2000" b="0" noProof="0" dirty="0" err="1">
                          <a:solidFill>
                            <a:srgbClr val="333333"/>
                          </a:solidFill>
                          <a:latin typeface="Calibri"/>
                        </a:rPr>
                        <a:t>Checked</a:t>
                      </a:r>
                      <a:r>
                        <a:rPr lang="es-AR" sz="2000" b="0" noProof="0" dirty="0">
                          <a:solidFill>
                            <a:srgbClr val="333333"/>
                          </a:solidFill>
                          <a:latin typeface="Calibri"/>
                        </a:rPr>
                        <a:t>, </a:t>
                      </a:r>
                      <a:r>
                        <a:rPr lang="es-AR" sz="2000" b="0" noProof="0" dirty="0" err="1">
                          <a:solidFill>
                            <a:srgbClr val="333333"/>
                          </a:solidFill>
                          <a:latin typeface="Calibri"/>
                        </a:rPr>
                        <a:t>CheckState</a:t>
                      </a:r>
                      <a:r>
                        <a:rPr lang="es-AR" sz="2000" b="0" noProof="0" dirty="0">
                          <a:solidFill>
                            <a:srgbClr val="333333"/>
                          </a:solidFill>
                          <a:latin typeface="Calibri"/>
                        </a:rPr>
                        <a:t>, Text, </a:t>
                      </a:r>
                      <a:r>
                        <a:rPr lang="es-AR" sz="2000" b="0" noProof="0" dirty="0" err="1">
                          <a:solidFill>
                            <a:srgbClr val="333333"/>
                          </a:solidFill>
                          <a:latin typeface="Calibri"/>
                        </a:rPr>
                        <a:t>ThreeState</a:t>
                      </a:r>
                      <a:r>
                        <a:rPr lang="es-AR" sz="2000" b="0" noProof="0" dirty="0">
                          <a:solidFill>
                            <a:srgbClr val="333333"/>
                          </a:solidFill>
                          <a:latin typeface="Calibri"/>
                        </a:rPr>
                        <a:t>, Enabled, Visible, BackColor, Font, </a:t>
                      </a:r>
                      <a:r>
                        <a:rPr lang="es-AR" sz="2000" b="0" noProof="0" dirty="0" err="1">
                          <a:solidFill>
                            <a:srgbClr val="333333"/>
                          </a:solidFill>
                          <a:latin typeface="Calibri"/>
                        </a:rPr>
                        <a:t>TabIndex</a:t>
                      </a:r>
                      <a:endParaRPr lang="es-AR" sz="2000" b="0" noProof="0" dirty="0">
                        <a:solidFill>
                          <a:srgbClr val="333333"/>
                        </a:solidFill>
                        <a:latin typeface="Calibri"/>
                      </a:endParaRPr>
                    </a:p>
                  </a:txBody>
                  <a:tcPr marL="60000" marR="60000" marT="30000" marB="30000" anchor="ctr">
                    <a:solidFill>
                      <a:srgbClr val="FFFFFF"/>
                    </a:solidFill>
                  </a:tcPr>
                </a:tc>
                <a:tc>
                  <a:txBody>
                    <a:bodyPr/>
                    <a:lstStyle/>
                    <a:p>
                      <a:pPr algn="l"/>
                      <a:r>
                        <a:rPr lang="es-AR" sz="2000" b="0" noProof="0" dirty="0">
                          <a:solidFill>
                            <a:srgbClr val="333333"/>
                          </a:solidFill>
                          <a:latin typeface="Calibri"/>
                        </a:rPr>
                        <a:t>Focus(), Show(), Hide(), </a:t>
                      </a:r>
                      <a:r>
                        <a:rPr lang="es-AR" sz="2000" b="0" noProof="0" dirty="0" err="1">
                          <a:solidFill>
                            <a:srgbClr val="333333"/>
                          </a:solidFill>
                          <a:latin typeface="Calibri"/>
                        </a:rPr>
                        <a:t>Refresh</a:t>
                      </a:r>
                      <a:r>
                        <a:rPr lang="es-AR" sz="2000" b="0" noProof="0" dirty="0">
                          <a:solidFill>
                            <a:srgbClr val="333333"/>
                          </a:solidFill>
                          <a:latin typeface="Calibri"/>
                        </a:rPr>
                        <a:t>(), </a:t>
                      </a:r>
                      <a:r>
                        <a:rPr lang="es-AR" sz="2000" b="0" noProof="0" dirty="0" err="1">
                          <a:solidFill>
                            <a:srgbClr val="333333"/>
                          </a:solidFill>
                          <a:latin typeface="Calibri"/>
                        </a:rPr>
                        <a:t>Select</a:t>
                      </a:r>
                      <a:r>
                        <a:rPr lang="es-AR" sz="2000" b="0" noProof="0" dirty="0">
                          <a:solidFill>
                            <a:srgbClr val="333333"/>
                          </a:solidFill>
                          <a:latin typeface="Calibri"/>
                        </a:rPr>
                        <a:t>(), </a:t>
                      </a:r>
                      <a:r>
                        <a:rPr lang="es-AR" sz="2000" b="0" noProof="0" dirty="0" err="1">
                          <a:solidFill>
                            <a:srgbClr val="333333"/>
                          </a:solidFill>
                          <a:latin typeface="Calibri"/>
                        </a:rPr>
                        <a:t>PerformClick</a:t>
                      </a:r>
                      <a:r>
                        <a:rPr lang="es-AR" sz="2000" b="0" noProof="0" dirty="0">
                          <a:solidFill>
                            <a:srgbClr val="333333"/>
                          </a:solidFill>
                          <a:latin typeface="Calibri"/>
                        </a:rPr>
                        <a:t>(), </a:t>
                      </a:r>
                      <a:r>
                        <a:rPr lang="es-AR" sz="2000" b="0" noProof="0" dirty="0" err="1">
                          <a:solidFill>
                            <a:srgbClr val="333333"/>
                          </a:solidFill>
                          <a:latin typeface="Calibri"/>
                        </a:rPr>
                        <a:t>ResetText</a:t>
                      </a:r>
                      <a:r>
                        <a:rPr lang="es-AR" sz="2000" b="0" noProof="0" dirty="0">
                          <a:solidFill>
                            <a:srgbClr val="333333"/>
                          </a:solidFill>
                          <a:latin typeface="Calibri"/>
                        </a:rPr>
                        <a:t>(), </a:t>
                      </a:r>
                      <a:r>
                        <a:rPr lang="es-AR" sz="2000" b="0" noProof="0" dirty="0" err="1">
                          <a:solidFill>
                            <a:srgbClr val="333333"/>
                          </a:solidFill>
                          <a:latin typeface="Calibri"/>
                        </a:rPr>
                        <a:t>BringToFront</a:t>
                      </a:r>
                      <a:r>
                        <a:rPr lang="es-AR" sz="2000" b="0" noProof="0" dirty="0">
                          <a:solidFill>
                            <a:srgbClr val="333333"/>
                          </a:solidFill>
                          <a:latin typeface="Calibri"/>
                        </a:rPr>
                        <a:t>(), </a:t>
                      </a:r>
                      <a:r>
                        <a:rPr lang="es-AR" sz="2000" b="0" noProof="0" dirty="0" err="1">
                          <a:solidFill>
                            <a:srgbClr val="333333"/>
                          </a:solidFill>
                          <a:latin typeface="Calibri"/>
                        </a:rPr>
                        <a:t>SendToBack</a:t>
                      </a:r>
                      <a:r>
                        <a:rPr lang="es-AR" sz="2000" b="0" noProof="0" dirty="0">
                          <a:solidFill>
                            <a:srgbClr val="333333"/>
                          </a:solidFill>
                          <a:latin typeface="Calibri"/>
                        </a:rPr>
                        <a:t>(), </a:t>
                      </a:r>
                      <a:r>
                        <a:rPr lang="es-AR" sz="2000" b="0" noProof="0" dirty="0" err="1">
                          <a:solidFill>
                            <a:srgbClr val="333333"/>
                          </a:solidFill>
                          <a:latin typeface="Calibri"/>
                        </a:rPr>
                        <a:t>Invalidate</a:t>
                      </a:r>
                      <a:r>
                        <a:rPr lang="es-AR" sz="2000" b="0" noProof="0" dirty="0">
                          <a:solidFill>
                            <a:srgbClr val="333333"/>
                          </a:solidFill>
                          <a:latin typeface="Calibri"/>
                        </a:rPr>
                        <a:t>()</a:t>
                      </a:r>
                    </a:p>
                  </a:txBody>
                  <a:tcPr marL="60000" marR="60000" marT="30000" marB="30000" anchor="ctr">
                    <a:solidFill>
                      <a:srgbClr val="FFFFFF"/>
                    </a:solidFill>
                  </a:tcPr>
                </a:tc>
                <a:tc>
                  <a:txBody>
                    <a:bodyPr/>
                    <a:lstStyle/>
                    <a:p>
                      <a:pPr algn="l"/>
                      <a:r>
                        <a:rPr lang="es-AR" sz="2000" b="0" noProof="0" dirty="0" err="1">
                          <a:solidFill>
                            <a:srgbClr val="333333"/>
                          </a:solidFill>
                          <a:latin typeface="Calibri"/>
                        </a:rPr>
                        <a:t>CheckedChanged</a:t>
                      </a:r>
                      <a:r>
                        <a:rPr lang="es-AR" sz="2000" b="0" noProof="0" dirty="0">
                          <a:solidFill>
                            <a:srgbClr val="333333"/>
                          </a:solidFill>
                          <a:latin typeface="Calibri"/>
                        </a:rPr>
                        <a:t>, </a:t>
                      </a:r>
                      <a:r>
                        <a:rPr lang="es-AR" sz="2000" b="0" noProof="0" dirty="0" err="1">
                          <a:solidFill>
                            <a:srgbClr val="333333"/>
                          </a:solidFill>
                          <a:latin typeface="Calibri"/>
                        </a:rPr>
                        <a:t>CheckStateChanged</a:t>
                      </a:r>
                      <a:r>
                        <a:rPr lang="es-AR" sz="2000" b="0" noProof="0" dirty="0">
                          <a:solidFill>
                            <a:srgbClr val="333333"/>
                          </a:solidFill>
                          <a:latin typeface="Calibri"/>
                        </a:rPr>
                        <a:t>, Click, </a:t>
                      </a:r>
                      <a:r>
                        <a:rPr lang="es-AR" sz="2000" b="0" noProof="0" dirty="0" err="1">
                          <a:solidFill>
                            <a:srgbClr val="333333"/>
                          </a:solidFill>
                          <a:latin typeface="Calibri"/>
                        </a:rPr>
                        <a:t>MouseEnter</a:t>
                      </a:r>
                      <a:r>
                        <a:rPr lang="es-AR" sz="2000" b="0" noProof="0" dirty="0">
                          <a:solidFill>
                            <a:srgbClr val="333333"/>
                          </a:solidFill>
                          <a:latin typeface="Calibri"/>
                        </a:rPr>
                        <a:t>, </a:t>
                      </a:r>
                      <a:r>
                        <a:rPr lang="es-AR" sz="2000" b="0" noProof="0" dirty="0" err="1">
                          <a:solidFill>
                            <a:srgbClr val="333333"/>
                          </a:solidFill>
                          <a:latin typeface="Calibri"/>
                        </a:rPr>
                        <a:t>MouseLeave</a:t>
                      </a:r>
                      <a:r>
                        <a:rPr lang="es-AR" sz="2000" b="0" noProof="0" dirty="0">
                          <a:solidFill>
                            <a:srgbClr val="333333"/>
                          </a:solidFill>
                          <a:latin typeface="Calibri"/>
                        </a:rPr>
                        <a:t>, </a:t>
                      </a:r>
                      <a:r>
                        <a:rPr lang="es-AR" sz="2000" b="0" noProof="0" dirty="0" err="1">
                          <a:solidFill>
                            <a:srgbClr val="333333"/>
                          </a:solidFill>
                          <a:latin typeface="Calibri"/>
                        </a:rPr>
                        <a:t>KeyDown</a:t>
                      </a:r>
                      <a:r>
                        <a:rPr lang="es-AR" sz="2000" b="0" noProof="0" dirty="0">
                          <a:solidFill>
                            <a:srgbClr val="333333"/>
                          </a:solidFill>
                          <a:latin typeface="Calibri"/>
                        </a:rPr>
                        <a:t>, </a:t>
                      </a:r>
                      <a:r>
                        <a:rPr lang="es-AR" sz="2000" b="0" noProof="0" dirty="0" err="1">
                          <a:solidFill>
                            <a:srgbClr val="333333"/>
                          </a:solidFill>
                          <a:latin typeface="Calibri"/>
                        </a:rPr>
                        <a:t>GotFocus</a:t>
                      </a:r>
                      <a:r>
                        <a:rPr lang="es-AR" sz="2000" b="0" noProof="0" dirty="0">
                          <a:solidFill>
                            <a:srgbClr val="333333"/>
                          </a:solidFill>
                          <a:latin typeface="Calibri"/>
                        </a:rPr>
                        <a:t>, </a:t>
                      </a:r>
                      <a:r>
                        <a:rPr lang="es-AR" sz="2000" b="0" noProof="0" dirty="0" err="1">
                          <a:solidFill>
                            <a:srgbClr val="333333"/>
                          </a:solidFill>
                          <a:latin typeface="Calibri"/>
                        </a:rPr>
                        <a:t>LostFocus</a:t>
                      </a:r>
                      <a:r>
                        <a:rPr lang="es-AR" sz="2000" b="0" noProof="0" dirty="0">
                          <a:solidFill>
                            <a:srgbClr val="333333"/>
                          </a:solidFill>
                          <a:latin typeface="Calibri"/>
                        </a:rPr>
                        <a:t>, </a:t>
                      </a:r>
                      <a:r>
                        <a:rPr lang="es-AR" sz="2000" b="0" noProof="0" dirty="0" err="1">
                          <a:solidFill>
                            <a:srgbClr val="333333"/>
                          </a:solidFill>
                          <a:latin typeface="Calibri"/>
                        </a:rPr>
                        <a:t>EnabledChanged</a:t>
                      </a:r>
                      <a:r>
                        <a:rPr lang="es-AR" sz="2000" b="0" noProof="0" dirty="0">
                          <a:solidFill>
                            <a:srgbClr val="333333"/>
                          </a:solidFill>
                          <a:latin typeface="Calibri"/>
                        </a:rPr>
                        <a:t>, </a:t>
                      </a:r>
                      <a:r>
                        <a:rPr lang="es-AR" sz="2000" b="0" noProof="0" dirty="0" err="1">
                          <a:solidFill>
                            <a:srgbClr val="333333"/>
                          </a:solidFill>
                          <a:latin typeface="Calibri"/>
                        </a:rPr>
                        <a:t>VisibleChanged</a:t>
                      </a:r>
                      <a:endParaRPr lang="es-AR" sz="2000" b="0" noProof="0" dirty="0">
                        <a:solidFill>
                          <a:srgbClr val="333333"/>
                        </a:solidFill>
                        <a:latin typeface="Calibri"/>
                      </a:endParaRPr>
                    </a:p>
                  </a:txBody>
                  <a:tcPr marL="60000" marR="60000" marT="30000" marB="30000" anchor="ctr">
                    <a:solidFill>
                      <a:srgbClr val="FFFFFF"/>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440436" y="6658000"/>
            <a:ext cx="7599985" cy="200000"/>
          </a:xfrm>
          <a:prstGeom prst="rect">
            <a:avLst/>
          </a:prstGeom>
          <a:noFill/>
        </p:spPr>
        <p:txBody>
          <a:bodyPr wrap="square">
            <a:spAutoFit/>
          </a:bodyPr>
          <a:lstStyle/>
          <a:p>
            <a:pPr algn="l">
              <a:lnSpc>
                <a:spcPct val="105000"/>
              </a:lnSpc>
              <a:spcBef>
                <a:spcPts val="0"/>
              </a:spcBef>
            </a:pPr>
            <a:r>
              <a:rPr lang="es-AR" sz="1000" b="0" i="0" noProof="0" dirty="0">
                <a:solidFill>
                  <a:srgbClr val="6E747A"/>
                </a:solidFill>
                <a:latin typeface="Calibri"/>
              </a:rPr>
              <a:t>Si CheckBox esta marcado, </a:t>
            </a:r>
            <a:r>
              <a:rPr lang="es-AR" sz="1000" b="0" i="0" noProof="0" dirty="0" err="1">
                <a:solidFill>
                  <a:srgbClr val="6E747A"/>
                </a:solidFill>
                <a:latin typeface="Calibri"/>
              </a:rPr>
              <a:t>Checked</a:t>
            </a:r>
            <a:r>
              <a:rPr lang="es-AR" sz="1000" b="0" i="0" noProof="0" dirty="0">
                <a:solidFill>
                  <a:srgbClr val="6E747A"/>
                </a:solidFill>
                <a:latin typeface="Calibri"/>
              </a:rPr>
              <a:t> es true; si no esta marcado, </a:t>
            </a:r>
            <a:r>
              <a:rPr lang="es-AR" sz="1000" b="0" i="0" noProof="0" dirty="0" err="1">
                <a:solidFill>
                  <a:srgbClr val="6E747A"/>
                </a:solidFill>
                <a:latin typeface="Calibri"/>
              </a:rPr>
              <a:t>Checked</a:t>
            </a:r>
            <a:r>
              <a:rPr lang="es-AR" sz="1000" b="0" i="0" noProof="0" dirty="0">
                <a:solidFill>
                  <a:srgbClr val="6E747A"/>
                </a:solidFill>
                <a:latin typeface="Calibri"/>
              </a:rPr>
              <a:t> es false.</a:t>
            </a:r>
          </a:p>
        </p:txBody>
      </p:sp>
      <p:pic>
        <p:nvPicPr>
          <p:cNvPr id="7" name="Marcador de contenido 5">
            <a:extLst>
              <a:ext uri="{FF2B5EF4-FFF2-40B4-BE49-F238E27FC236}">
                <a16:creationId xmlns:a16="http://schemas.microsoft.com/office/drawing/2014/main" id="{8DE466D0-BB06-4E87-A4E6-8A55E607D0AF}"/>
              </a:ext>
            </a:extLst>
          </p:cNvPr>
          <p:cNvPicPr>
            <a:picLocks noChangeAspect="1"/>
          </p:cNvPicPr>
          <p:nvPr/>
        </p:nvPicPr>
        <p:blipFill>
          <a:blip r:embed="rId2"/>
          <a:stretch>
            <a:fillRect/>
          </a:stretch>
        </p:blipFill>
        <p:spPr>
          <a:xfrm>
            <a:off x="8132733" y="2514600"/>
            <a:ext cx="3617688" cy="24491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Control ComboBox - propiedades, métodos y eventos</a:t>
            </a:r>
          </a:p>
        </p:txBody>
      </p:sp>
      <p:sp>
        <p:nvSpPr>
          <p:cNvPr id="3" name="TextBox 2"/>
          <p:cNvSpPr txBox="1"/>
          <p:nvPr/>
        </p:nvSpPr>
        <p:spPr>
          <a:xfrm>
            <a:off x="440436" y="1240536"/>
            <a:ext cx="11309985" cy="301686"/>
          </a:xfrm>
          <a:prstGeom prst="rect">
            <a:avLst/>
          </a:prstGeom>
          <a:noFill/>
        </p:spPr>
        <p:txBody>
          <a:bodyPr wrap="square">
            <a:spAutoFit/>
          </a:bodyPr>
          <a:lstStyle/>
          <a:p>
            <a:pPr algn="l">
              <a:lnSpc>
                <a:spcPct val="105000"/>
              </a:lnSpc>
              <a:spcBef>
                <a:spcPts val="0"/>
              </a:spcBef>
            </a:pPr>
            <a:r>
              <a:rPr lang="es-AR" sz="1350" b="0" i="0" noProof="0" dirty="0">
                <a:solidFill>
                  <a:srgbClr val="333333"/>
                </a:solidFill>
                <a:latin typeface="Calibri"/>
              </a:rPr>
              <a:t>•  Permite al usuario elegir una de varias opciones que provee el desarrollador a través de la propiedad Items.</a:t>
            </a:r>
          </a:p>
        </p:txBody>
      </p:sp>
      <p:graphicFrame>
        <p:nvGraphicFramePr>
          <p:cNvPr id="5" name="Table 4"/>
          <p:cNvGraphicFramePr>
            <a:graphicFrameLocks noGrp="1"/>
          </p:cNvGraphicFramePr>
          <p:nvPr>
            <p:extLst>
              <p:ext uri="{D42A27DB-BD31-4B8C-83A1-F6EECF244321}">
                <p14:modId xmlns:p14="http://schemas.microsoft.com/office/powerpoint/2010/main" val="1939808487"/>
              </p:ext>
            </p:extLst>
          </p:nvPr>
        </p:nvGraphicFramePr>
        <p:xfrm>
          <a:off x="440436" y="1700536"/>
          <a:ext cx="7599983" cy="4947464"/>
        </p:xfrm>
        <a:graphic>
          <a:graphicData uri="http://schemas.openxmlformats.org/drawingml/2006/table">
            <a:tbl>
              <a:tblPr firstRow="1" bandRow="1">
                <a:tableStyleId>{5C22544A-7EE6-4342-B048-85BDC9FD1C3A}</a:tableStyleId>
              </a:tblPr>
              <a:tblGrid>
                <a:gridCol w="2583994">
                  <a:extLst>
                    <a:ext uri="{9D8B030D-6E8A-4147-A177-3AD203B41FA5}">
                      <a16:colId xmlns:a16="http://schemas.microsoft.com/office/drawing/2014/main" val="20000"/>
                    </a:ext>
                  </a:extLst>
                </a:gridCol>
                <a:gridCol w="2583994">
                  <a:extLst>
                    <a:ext uri="{9D8B030D-6E8A-4147-A177-3AD203B41FA5}">
                      <a16:colId xmlns:a16="http://schemas.microsoft.com/office/drawing/2014/main" val="20001"/>
                    </a:ext>
                  </a:extLst>
                </a:gridCol>
                <a:gridCol w="2431995">
                  <a:extLst>
                    <a:ext uri="{9D8B030D-6E8A-4147-A177-3AD203B41FA5}">
                      <a16:colId xmlns:a16="http://schemas.microsoft.com/office/drawing/2014/main" val="20002"/>
                    </a:ext>
                  </a:extLst>
                </a:gridCol>
              </a:tblGrid>
              <a:tr h="360000">
                <a:tc>
                  <a:txBody>
                    <a:bodyPr/>
                    <a:lstStyle/>
                    <a:p>
                      <a:pPr algn="ctr"/>
                      <a:r>
                        <a:rPr lang="es-AR" sz="1300" b="1" noProof="0" dirty="0">
                          <a:solidFill>
                            <a:srgbClr val="FFFFFF"/>
                          </a:solidFill>
                          <a:latin typeface="Calibri"/>
                        </a:rPr>
                        <a:t>Propiedades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Métodos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Eventos</a:t>
                      </a:r>
                    </a:p>
                  </a:txBody>
                  <a:tcPr marL="60000" marR="60000" marT="30000" marB="30000" anchor="ctr">
                    <a:solidFill>
                      <a:srgbClr val="4D1234"/>
                    </a:solidFill>
                  </a:tcPr>
                </a:tc>
                <a:extLst>
                  <a:ext uri="{0D108BD9-81ED-4DB2-BD59-A6C34878D82A}">
                    <a16:rowId xmlns:a16="http://schemas.microsoft.com/office/drawing/2014/main" val="10000"/>
                  </a:ext>
                </a:extLst>
              </a:tr>
              <a:tr h="4587464">
                <a:tc>
                  <a:txBody>
                    <a:bodyPr/>
                    <a:lstStyle/>
                    <a:p>
                      <a:pPr algn="l"/>
                      <a:r>
                        <a:rPr lang="es-AR" sz="2000" b="0" noProof="0" dirty="0">
                          <a:solidFill>
                            <a:srgbClr val="333333"/>
                          </a:solidFill>
                          <a:latin typeface="Calibri"/>
                        </a:rPr>
                        <a:t>Name, Items, Text, </a:t>
                      </a:r>
                      <a:r>
                        <a:rPr lang="es-AR" sz="2000" b="0" noProof="0" dirty="0" err="1">
                          <a:solidFill>
                            <a:srgbClr val="333333"/>
                          </a:solidFill>
                          <a:latin typeface="Calibri"/>
                        </a:rPr>
                        <a:t>SelectedItem</a:t>
                      </a:r>
                      <a:r>
                        <a:rPr lang="es-AR" sz="2000" b="0" noProof="0" dirty="0">
                          <a:solidFill>
                            <a:srgbClr val="333333"/>
                          </a:solidFill>
                          <a:latin typeface="Calibri"/>
                        </a:rPr>
                        <a:t>, </a:t>
                      </a:r>
                      <a:r>
                        <a:rPr lang="es-AR" sz="2000" b="0" noProof="0" dirty="0" err="1">
                          <a:solidFill>
                            <a:srgbClr val="333333"/>
                          </a:solidFill>
                          <a:latin typeface="Calibri"/>
                        </a:rPr>
                        <a:t>SelectedIndex</a:t>
                      </a:r>
                      <a:r>
                        <a:rPr lang="es-AR" sz="2000" b="0" noProof="0" dirty="0">
                          <a:solidFill>
                            <a:srgbClr val="333333"/>
                          </a:solidFill>
                          <a:latin typeface="Calibri"/>
                        </a:rPr>
                        <a:t>, </a:t>
                      </a:r>
                      <a:r>
                        <a:rPr lang="es-AR" sz="2000" b="0" noProof="0" dirty="0" err="1">
                          <a:solidFill>
                            <a:srgbClr val="333333"/>
                          </a:solidFill>
                          <a:latin typeface="Calibri"/>
                        </a:rPr>
                        <a:t>SelectedText</a:t>
                      </a:r>
                      <a:r>
                        <a:rPr lang="es-AR" sz="2000" b="0" noProof="0" dirty="0">
                          <a:solidFill>
                            <a:srgbClr val="333333"/>
                          </a:solidFill>
                          <a:latin typeface="Calibri"/>
                        </a:rPr>
                        <a:t>, </a:t>
                      </a:r>
                      <a:r>
                        <a:rPr lang="es-AR" sz="2000" b="0" noProof="0" dirty="0" err="1">
                          <a:solidFill>
                            <a:srgbClr val="333333"/>
                          </a:solidFill>
                          <a:latin typeface="Calibri"/>
                        </a:rPr>
                        <a:t>DropDownStyle</a:t>
                      </a:r>
                      <a:r>
                        <a:rPr lang="es-AR" sz="2000" b="0" noProof="0" dirty="0">
                          <a:solidFill>
                            <a:srgbClr val="333333"/>
                          </a:solidFill>
                          <a:latin typeface="Calibri"/>
                        </a:rPr>
                        <a:t>, </a:t>
                      </a:r>
                      <a:r>
                        <a:rPr lang="es-AR" sz="2000" b="0" noProof="0" dirty="0" err="1">
                          <a:solidFill>
                            <a:srgbClr val="333333"/>
                          </a:solidFill>
                          <a:latin typeface="Calibri"/>
                        </a:rPr>
                        <a:t>Sorted</a:t>
                      </a:r>
                      <a:r>
                        <a:rPr lang="es-AR" sz="2000" b="0" noProof="0" dirty="0">
                          <a:solidFill>
                            <a:srgbClr val="333333"/>
                          </a:solidFill>
                          <a:latin typeface="Calibri"/>
                        </a:rPr>
                        <a:t>, Enabled, </a:t>
                      </a:r>
                      <a:r>
                        <a:rPr lang="es-AR" sz="2000" b="0" noProof="0" dirty="0" err="1">
                          <a:solidFill>
                            <a:srgbClr val="333333"/>
                          </a:solidFill>
                          <a:latin typeface="Calibri"/>
                        </a:rPr>
                        <a:t>MaxDropDownItems</a:t>
                      </a:r>
                      <a:endParaRPr lang="es-AR" sz="2000" b="0" noProof="0" dirty="0">
                        <a:solidFill>
                          <a:srgbClr val="333333"/>
                        </a:solidFill>
                        <a:latin typeface="Calibri"/>
                      </a:endParaRPr>
                    </a:p>
                  </a:txBody>
                  <a:tcPr marL="60000" marR="60000" marT="30000" marB="30000" anchor="ctr">
                    <a:solidFill>
                      <a:srgbClr val="FFFFFF"/>
                    </a:solidFill>
                  </a:tcPr>
                </a:tc>
                <a:tc>
                  <a:txBody>
                    <a:bodyPr/>
                    <a:lstStyle/>
                    <a:p>
                      <a:pPr algn="l"/>
                      <a:r>
                        <a:rPr lang="es-AR" sz="2400" b="0" noProof="0" dirty="0" err="1">
                          <a:solidFill>
                            <a:srgbClr val="333333"/>
                          </a:solidFill>
                          <a:latin typeface="Calibri"/>
                        </a:rPr>
                        <a:t>I</a:t>
                      </a:r>
                      <a:r>
                        <a:rPr lang="es-AR" sz="2000" b="0" noProof="0" dirty="0" err="1">
                          <a:solidFill>
                            <a:srgbClr val="333333"/>
                          </a:solidFill>
                          <a:latin typeface="Calibri"/>
                        </a:rPr>
                        <a:t>tems.Add</a:t>
                      </a:r>
                      <a:r>
                        <a:rPr lang="es-AR" sz="2000" b="0" noProof="0" dirty="0">
                          <a:solidFill>
                            <a:srgbClr val="333333"/>
                          </a:solidFill>
                          <a:latin typeface="Calibri"/>
                        </a:rPr>
                        <a:t>(), </a:t>
                      </a:r>
                      <a:r>
                        <a:rPr lang="es-AR" sz="2000" b="0" noProof="0" dirty="0" err="1">
                          <a:solidFill>
                            <a:srgbClr val="333333"/>
                          </a:solidFill>
                          <a:latin typeface="Calibri"/>
                        </a:rPr>
                        <a:t>Items.Remove</a:t>
                      </a:r>
                      <a:r>
                        <a:rPr lang="es-AR" sz="2000" b="0" noProof="0" dirty="0">
                          <a:solidFill>
                            <a:srgbClr val="333333"/>
                          </a:solidFill>
                          <a:latin typeface="Calibri"/>
                        </a:rPr>
                        <a:t>(), </a:t>
                      </a:r>
                      <a:r>
                        <a:rPr lang="es-AR" sz="2000" b="0" noProof="0" dirty="0" err="1">
                          <a:solidFill>
                            <a:srgbClr val="333333"/>
                          </a:solidFill>
                          <a:latin typeface="Calibri"/>
                        </a:rPr>
                        <a:t>Items.Clear</a:t>
                      </a:r>
                      <a:r>
                        <a:rPr lang="es-AR" sz="2000" b="0" noProof="0" dirty="0">
                          <a:solidFill>
                            <a:srgbClr val="333333"/>
                          </a:solidFill>
                          <a:latin typeface="Calibri"/>
                        </a:rPr>
                        <a:t>(), Focus(), </a:t>
                      </a:r>
                      <a:r>
                        <a:rPr lang="es-AR" sz="2000" b="0" noProof="0" dirty="0" err="1">
                          <a:solidFill>
                            <a:srgbClr val="333333"/>
                          </a:solidFill>
                          <a:latin typeface="Calibri"/>
                        </a:rPr>
                        <a:t>Select</a:t>
                      </a:r>
                      <a:r>
                        <a:rPr lang="es-AR" sz="2000" b="0" noProof="0" dirty="0">
                          <a:solidFill>
                            <a:srgbClr val="333333"/>
                          </a:solidFill>
                          <a:latin typeface="Calibri"/>
                        </a:rPr>
                        <a:t>(), </a:t>
                      </a:r>
                      <a:r>
                        <a:rPr lang="es-AR" sz="2000" b="0" noProof="0" dirty="0" err="1">
                          <a:solidFill>
                            <a:srgbClr val="333333"/>
                          </a:solidFill>
                          <a:latin typeface="Calibri"/>
                        </a:rPr>
                        <a:t>FindString</a:t>
                      </a:r>
                      <a:r>
                        <a:rPr lang="es-AR" sz="2000" b="0" noProof="0" dirty="0">
                          <a:solidFill>
                            <a:srgbClr val="333333"/>
                          </a:solidFill>
                          <a:latin typeface="Calibri"/>
                        </a:rPr>
                        <a:t>(), </a:t>
                      </a:r>
                      <a:r>
                        <a:rPr lang="es-AR" sz="2000" b="0" noProof="0" dirty="0" err="1">
                          <a:solidFill>
                            <a:srgbClr val="333333"/>
                          </a:solidFill>
                          <a:latin typeface="Calibri"/>
                        </a:rPr>
                        <a:t>SelectAll</a:t>
                      </a:r>
                      <a:r>
                        <a:rPr lang="es-AR" sz="2000" b="0" noProof="0" dirty="0">
                          <a:solidFill>
                            <a:srgbClr val="333333"/>
                          </a:solidFill>
                          <a:latin typeface="Calibri"/>
                        </a:rPr>
                        <a:t>(), </a:t>
                      </a:r>
                      <a:r>
                        <a:rPr lang="es-AR" sz="2000" b="0" noProof="0" dirty="0" err="1">
                          <a:solidFill>
                            <a:srgbClr val="333333"/>
                          </a:solidFill>
                          <a:latin typeface="Calibri"/>
                        </a:rPr>
                        <a:t>BeginUpdate</a:t>
                      </a:r>
                      <a:r>
                        <a:rPr lang="es-AR" sz="2000" b="0" noProof="0" dirty="0">
                          <a:solidFill>
                            <a:srgbClr val="333333"/>
                          </a:solidFill>
                          <a:latin typeface="Calibri"/>
                        </a:rPr>
                        <a:t>(), </a:t>
                      </a:r>
                      <a:r>
                        <a:rPr lang="es-AR" sz="2000" b="0" noProof="0" dirty="0" err="1">
                          <a:solidFill>
                            <a:srgbClr val="333333"/>
                          </a:solidFill>
                          <a:latin typeface="Calibri"/>
                        </a:rPr>
                        <a:t>EndUpdate</a:t>
                      </a:r>
                      <a:r>
                        <a:rPr lang="es-AR" sz="2000" b="0" noProof="0" dirty="0">
                          <a:solidFill>
                            <a:srgbClr val="333333"/>
                          </a:solidFill>
                          <a:latin typeface="Calibri"/>
                        </a:rPr>
                        <a:t>(), </a:t>
                      </a:r>
                      <a:r>
                        <a:rPr lang="es-AR" sz="2000" b="0" noProof="0" dirty="0" err="1">
                          <a:solidFill>
                            <a:srgbClr val="333333"/>
                          </a:solidFill>
                          <a:latin typeface="Calibri"/>
                        </a:rPr>
                        <a:t>ResetText</a:t>
                      </a:r>
                      <a:r>
                        <a:rPr lang="es-AR" sz="2000" b="0" noProof="0" dirty="0">
                          <a:solidFill>
                            <a:srgbClr val="333333"/>
                          </a:solidFill>
                          <a:latin typeface="Calibri"/>
                        </a:rPr>
                        <a:t>()</a:t>
                      </a:r>
                      <a:endParaRPr lang="es-AR" sz="2400" b="0" noProof="0" dirty="0">
                        <a:solidFill>
                          <a:srgbClr val="333333"/>
                        </a:solidFill>
                        <a:latin typeface="Calibri"/>
                      </a:endParaRPr>
                    </a:p>
                  </a:txBody>
                  <a:tcPr marL="60000" marR="60000" marT="30000" marB="30000" anchor="ctr">
                    <a:solidFill>
                      <a:srgbClr val="FFFFFF"/>
                    </a:solidFill>
                  </a:tcPr>
                </a:tc>
                <a:tc>
                  <a:txBody>
                    <a:bodyPr/>
                    <a:lstStyle/>
                    <a:p>
                      <a:pPr algn="l"/>
                      <a:r>
                        <a:rPr lang="es-AR" sz="1800" b="0" noProof="0" dirty="0" err="1">
                          <a:solidFill>
                            <a:srgbClr val="333333"/>
                          </a:solidFill>
                          <a:latin typeface="Calibri"/>
                        </a:rPr>
                        <a:t>SelectedIndexChanged</a:t>
                      </a:r>
                      <a:r>
                        <a:rPr lang="es-AR" sz="1800" b="0" noProof="0" dirty="0">
                          <a:solidFill>
                            <a:srgbClr val="333333"/>
                          </a:solidFill>
                          <a:latin typeface="Calibri"/>
                        </a:rPr>
                        <a:t>, SelectedValueChanged, </a:t>
                      </a:r>
                      <a:r>
                        <a:rPr lang="es-AR" sz="1800" b="0" noProof="0" dirty="0" err="1">
                          <a:solidFill>
                            <a:srgbClr val="333333"/>
                          </a:solidFill>
                          <a:latin typeface="Calibri"/>
                        </a:rPr>
                        <a:t>TextChanged</a:t>
                      </a:r>
                      <a:r>
                        <a:rPr lang="es-AR" sz="1800" b="0" noProof="0" dirty="0">
                          <a:solidFill>
                            <a:srgbClr val="333333"/>
                          </a:solidFill>
                          <a:latin typeface="Calibri"/>
                        </a:rPr>
                        <a:t>, </a:t>
                      </a:r>
                      <a:r>
                        <a:rPr lang="es-AR" sz="1800" b="0" noProof="0" dirty="0" err="1">
                          <a:solidFill>
                            <a:srgbClr val="333333"/>
                          </a:solidFill>
                          <a:latin typeface="Calibri"/>
                        </a:rPr>
                        <a:t>DropDown</a:t>
                      </a:r>
                      <a:r>
                        <a:rPr lang="es-AR" sz="1800" b="0" noProof="0" dirty="0">
                          <a:solidFill>
                            <a:srgbClr val="333333"/>
                          </a:solidFill>
                          <a:latin typeface="Calibri"/>
                        </a:rPr>
                        <a:t>, </a:t>
                      </a:r>
                      <a:r>
                        <a:rPr lang="es-AR" sz="1800" b="0" noProof="0" dirty="0" err="1">
                          <a:solidFill>
                            <a:srgbClr val="333333"/>
                          </a:solidFill>
                          <a:latin typeface="Calibri"/>
                        </a:rPr>
                        <a:t>DropDownClosed</a:t>
                      </a:r>
                      <a:r>
                        <a:rPr lang="es-AR" sz="1800" b="0" noProof="0" dirty="0">
                          <a:solidFill>
                            <a:srgbClr val="333333"/>
                          </a:solidFill>
                          <a:latin typeface="Calibri"/>
                        </a:rPr>
                        <a:t>, Click, </a:t>
                      </a:r>
                      <a:r>
                        <a:rPr lang="es-AR" sz="1800" b="0" noProof="0" dirty="0" err="1">
                          <a:solidFill>
                            <a:srgbClr val="333333"/>
                          </a:solidFill>
                          <a:latin typeface="Calibri"/>
                        </a:rPr>
                        <a:t>KeyDown</a:t>
                      </a:r>
                      <a:r>
                        <a:rPr lang="es-AR" sz="1800" b="0" noProof="0" dirty="0">
                          <a:solidFill>
                            <a:srgbClr val="333333"/>
                          </a:solidFill>
                          <a:latin typeface="Calibri"/>
                        </a:rPr>
                        <a:t>, </a:t>
                      </a:r>
                      <a:r>
                        <a:rPr lang="es-AR" sz="1800" b="0" noProof="0" dirty="0" err="1">
                          <a:solidFill>
                            <a:srgbClr val="333333"/>
                          </a:solidFill>
                          <a:latin typeface="Calibri"/>
                        </a:rPr>
                        <a:t>GotFocus</a:t>
                      </a:r>
                      <a:r>
                        <a:rPr lang="es-AR" sz="1800" b="0" noProof="0" dirty="0">
                          <a:solidFill>
                            <a:srgbClr val="333333"/>
                          </a:solidFill>
                          <a:latin typeface="Calibri"/>
                        </a:rPr>
                        <a:t>, </a:t>
                      </a:r>
                      <a:r>
                        <a:rPr lang="es-AR" sz="1800" b="0" noProof="0" dirty="0" err="1">
                          <a:solidFill>
                            <a:srgbClr val="333333"/>
                          </a:solidFill>
                          <a:latin typeface="Calibri"/>
                        </a:rPr>
                        <a:t>LostFocus</a:t>
                      </a:r>
                      <a:r>
                        <a:rPr lang="es-AR" sz="1800" b="0" noProof="0" dirty="0">
                          <a:solidFill>
                            <a:srgbClr val="333333"/>
                          </a:solidFill>
                          <a:latin typeface="Calibri"/>
                        </a:rPr>
                        <a:t>, </a:t>
                      </a:r>
                      <a:r>
                        <a:rPr lang="es-AR" sz="1800" b="0" noProof="0" dirty="0" err="1">
                          <a:solidFill>
                            <a:srgbClr val="333333"/>
                          </a:solidFill>
                          <a:latin typeface="Calibri"/>
                        </a:rPr>
                        <a:t>Validating</a:t>
                      </a:r>
                      <a:endParaRPr lang="es-AR" sz="1800" b="0" noProof="0" dirty="0">
                        <a:solidFill>
                          <a:srgbClr val="333333"/>
                        </a:solidFill>
                        <a:latin typeface="Calibri"/>
                      </a:endParaRPr>
                    </a:p>
                  </a:txBody>
                  <a:tcPr marL="60000" marR="60000" marT="30000" marB="30000" anchor="ctr">
                    <a:solidFill>
                      <a:srgbClr val="FFFFFF"/>
                    </a:solidFill>
                  </a:tcPr>
                </a:tc>
                <a:extLst>
                  <a:ext uri="{0D108BD9-81ED-4DB2-BD59-A6C34878D82A}">
                    <a16:rowId xmlns:a16="http://schemas.microsoft.com/office/drawing/2014/main" val="10001"/>
                  </a:ext>
                </a:extLst>
              </a:tr>
            </a:tbl>
          </a:graphicData>
        </a:graphic>
      </p:graphicFrame>
      <p:pic>
        <p:nvPicPr>
          <p:cNvPr id="6" name="Imagen 5" descr="Cómo uso el control ComboBox? (C#) | Microsoft Learn">
            <a:extLst>
              <a:ext uri="{FF2B5EF4-FFF2-40B4-BE49-F238E27FC236}">
                <a16:creationId xmlns:a16="http://schemas.microsoft.com/office/drawing/2014/main" id="{76EF958A-91C1-D05D-7031-FDA3A495ED34}"/>
              </a:ext>
            </a:extLst>
          </p:cNvPr>
          <p:cNvPicPr>
            <a:picLocks noChangeAspect="1"/>
          </p:cNvPicPr>
          <p:nvPr/>
        </p:nvPicPr>
        <p:blipFill>
          <a:blip r:embed="rId2"/>
          <a:stretch>
            <a:fillRect/>
          </a:stretch>
        </p:blipFill>
        <p:spPr>
          <a:xfrm>
            <a:off x="8045335" y="2438400"/>
            <a:ext cx="3810000" cy="2743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Control DateTimePicker - propiedades, métodos y eventos</a:t>
            </a:r>
          </a:p>
        </p:txBody>
      </p:sp>
      <p:sp>
        <p:nvSpPr>
          <p:cNvPr id="3" name="TextBox 2"/>
          <p:cNvSpPr txBox="1"/>
          <p:nvPr/>
        </p:nvSpPr>
        <p:spPr>
          <a:xfrm>
            <a:off x="440436" y="1240536"/>
            <a:ext cx="11309985" cy="420000"/>
          </a:xfrm>
          <a:prstGeom prst="rect">
            <a:avLst/>
          </a:prstGeom>
          <a:noFill/>
        </p:spPr>
        <p:txBody>
          <a:bodyPr wrap="square">
            <a:spAutoFit/>
          </a:bodyPr>
          <a:lstStyle/>
          <a:p>
            <a:pPr algn="l">
              <a:lnSpc>
                <a:spcPct val="105000"/>
              </a:lnSpc>
              <a:spcBef>
                <a:spcPts val="0"/>
              </a:spcBef>
            </a:pPr>
            <a:r>
              <a:rPr lang="es-AR" sz="1350" b="0" i="0" noProof="0" dirty="0">
                <a:solidFill>
                  <a:srgbClr val="333333"/>
                </a:solidFill>
                <a:latin typeface="Calibri"/>
              </a:rPr>
              <a:t>•  Selector de fecha y/o de hora con formato configurable; la fecha elegida queda disponible en la propiedad </a:t>
            </a:r>
            <a:r>
              <a:rPr lang="es-AR" sz="1350" b="0" i="0" noProof="0" dirty="0" err="1">
                <a:solidFill>
                  <a:srgbClr val="333333"/>
                </a:solidFill>
                <a:latin typeface="Calibri"/>
              </a:rPr>
              <a:t>Value</a:t>
            </a:r>
            <a:r>
              <a:rPr lang="es-AR" sz="1350" b="0" i="0" noProof="0" dirty="0">
                <a:solidFill>
                  <a:srgbClr val="333333"/>
                </a:solidFill>
                <a:latin typeface="Calibri"/>
              </a:rPr>
              <a:t>.</a:t>
            </a:r>
          </a:p>
        </p:txBody>
      </p:sp>
      <p:graphicFrame>
        <p:nvGraphicFramePr>
          <p:cNvPr id="5" name="Table 4"/>
          <p:cNvGraphicFramePr>
            <a:graphicFrameLocks noGrp="1"/>
          </p:cNvGraphicFramePr>
          <p:nvPr>
            <p:extLst>
              <p:ext uri="{D42A27DB-BD31-4B8C-83A1-F6EECF244321}">
                <p14:modId xmlns:p14="http://schemas.microsoft.com/office/powerpoint/2010/main" val="3385261987"/>
              </p:ext>
            </p:extLst>
          </p:nvPr>
        </p:nvGraphicFramePr>
        <p:xfrm>
          <a:off x="440436" y="1700536"/>
          <a:ext cx="7599983" cy="4947464"/>
        </p:xfrm>
        <a:graphic>
          <a:graphicData uri="http://schemas.openxmlformats.org/drawingml/2006/table">
            <a:tbl>
              <a:tblPr firstRow="1" bandRow="1">
                <a:tableStyleId>{5C22544A-7EE6-4342-B048-85BDC9FD1C3A}</a:tableStyleId>
              </a:tblPr>
              <a:tblGrid>
                <a:gridCol w="2583994">
                  <a:extLst>
                    <a:ext uri="{9D8B030D-6E8A-4147-A177-3AD203B41FA5}">
                      <a16:colId xmlns:a16="http://schemas.microsoft.com/office/drawing/2014/main" val="20000"/>
                    </a:ext>
                  </a:extLst>
                </a:gridCol>
                <a:gridCol w="2583994">
                  <a:extLst>
                    <a:ext uri="{9D8B030D-6E8A-4147-A177-3AD203B41FA5}">
                      <a16:colId xmlns:a16="http://schemas.microsoft.com/office/drawing/2014/main" val="20001"/>
                    </a:ext>
                  </a:extLst>
                </a:gridCol>
                <a:gridCol w="2431995">
                  <a:extLst>
                    <a:ext uri="{9D8B030D-6E8A-4147-A177-3AD203B41FA5}">
                      <a16:colId xmlns:a16="http://schemas.microsoft.com/office/drawing/2014/main" val="20002"/>
                    </a:ext>
                  </a:extLst>
                </a:gridCol>
              </a:tblGrid>
              <a:tr h="360000">
                <a:tc>
                  <a:txBody>
                    <a:bodyPr/>
                    <a:lstStyle/>
                    <a:p>
                      <a:pPr algn="ctr"/>
                      <a:r>
                        <a:rPr lang="es-AR" sz="1300" b="1" noProof="0" dirty="0">
                          <a:solidFill>
                            <a:srgbClr val="FFFFFF"/>
                          </a:solidFill>
                          <a:latin typeface="Calibri"/>
                        </a:rPr>
                        <a:t>Propiedades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Métodos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Eventos</a:t>
                      </a:r>
                    </a:p>
                  </a:txBody>
                  <a:tcPr marL="60000" marR="60000" marT="30000" marB="30000" anchor="ctr">
                    <a:solidFill>
                      <a:srgbClr val="4D1234"/>
                    </a:solidFill>
                  </a:tcPr>
                </a:tc>
                <a:extLst>
                  <a:ext uri="{0D108BD9-81ED-4DB2-BD59-A6C34878D82A}">
                    <a16:rowId xmlns:a16="http://schemas.microsoft.com/office/drawing/2014/main" val="10000"/>
                  </a:ext>
                </a:extLst>
              </a:tr>
              <a:tr h="4587464">
                <a:tc>
                  <a:txBody>
                    <a:bodyPr/>
                    <a:lstStyle/>
                    <a:p>
                      <a:pPr algn="l"/>
                      <a:r>
                        <a:rPr lang="es-AR" sz="2000" b="0" noProof="0" dirty="0">
                          <a:solidFill>
                            <a:srgbClr val="333333"/>
                          </a:solidFill>
                          <a:latin typeface="Calibri"/>
                        </a:rPr>
                        <a:t>Name, </a:t>
                      </a:r>
                      <a:r>
                        <a:rPr lang="es-AR" sz="2000" b="0" noProof="0" dirty="0" err="1">
                          <a:solidFill>
                            <a:srgbClr val="333333"/>
                          </a:solidFill>
                          <a:latin typeface="Calibri"/>
                        </a:rPr>
                        <a:t>Value</a:t>
                      </a:r>
                      <a:r>
                        <a:rPr lang="es-AR" sz="2000" b="0" noProof="0" dirty="0">
                          <a:solidFill>
                            <a:srgbClr val="333333"/>
                          </a:solidFill>
                          <a:latin typeface="Calibri"/>
                        </a:rPr>
                        <a:t>, </a:t>
                      </a:r>
                      <a:r>
                        <a:rPr lang="es-AR" sz="2000" b="0" noProof="0" dirty="0" err="1">
                          <a:solidFill>
                            <a:srgbClr val="333333"/>
                          </a:solidFill>
                          <a:latin typeface="Calibri"/>
                        </a:rPr>
                        <a:t>Format</a:t>
                      </a:r>
                      <a:r>
                        <a:rPr lang="es-AR" sz="2000" b="0" noProof="0" dirty="0">
                          <a:solidFill>
                            <a:srgbClr val="333333"/>
                          </a:solidFill>
                          <a:latin typeface="Calibri"/>
                        </a:rPr>
                        <a:t>, </a:t>
                      </a:r>
                      <a:r>
                        <a:rPr lang="es-AR" sz="2000" b="0" noProof="0" dirty="0" err="1">
                          <a:solidFill>
                            <a:srgbClr val="333333"/>
                          </a:solidFill>
                          <a:latin typeface="Calibri"/>
                        </a:rPr>
                        <a:t>CustomFormat</a:t>
                      </a:r>
                      <a:r>
                        <a:rPr lang="es-AR" sz="2000" b="0" noProof="0" dirty="0">
                          <a:solidFill>
                            <a:srgbClr val="333333"/>
                          </a:solidFill>
                          <a:latin typeface="Calibri"/>
                        </a:rPr>
                        <a:t>, </a:t>
                      </a:r>
                      <a:r>
                        <a:rPr lang="es-AR" sz="2000" b="0" noProof="0" dirty="0" err="1">
                          <a:solidFill>
                            <a:srgbClr val="333333"/>
                          </a:solidFill>
                          <a:latin typeface="Calibri"/>
                        </a:rPr>
                        <a:t>MinDate</a:t>
                      </a:r>
                      <a:r>
                        <a:rPr lang="es-AR" sz="2000" b="0" noProof="0" dirty="0">
                          <a:solidFill>
                            <a:srgbClr val="333333"/>
                          </a:solidFill>
                          <a:latin typeface="Calibri"/>
                        </a:rPr>
                        <a:t>, </a:t>
                      </a:r>
                      <a:r>
                        <a:rPr lang="es-AR" sz="2000" b="0" noProof="0" dirty="0" err="1">
                          <a:solidFill>
                            <a:srgbClr val="333333"/>
                          </a:solidFill>
                          <a:latin typeface="Calibri"/>
                        </a:rPr>
                        <a:t>MaxDate</a:t>
                      </a:r>
                      <a:r>
                        <a:rPr lang="es-AR" sz="2000" b="0" noProof="0" dirty="0">
                          <a:solidFill>
                            <a:srgbClr val="333333"/>
                          </a:solidFill>
                          <a:latin typeface="Calibri"/>
                        </a:rPr>
                        <a:t>, </a:t>
                      </a:r>
                      <a:r>
                        <a:rPr lang="es-AR" sz="2000" b="0" noProof="0" dirty="0" err="1">
                          <a:solidFill>
                            <a:srgbClr val="333333"/>
                          </a:solidFill>
                          <a:latin typeface="Calibri"/>
                        </a:rPr>
                        <a:t>ShowCheckBox</a:t>
                      </a:r>
                      <a:r>
                        <a:rPr lang="es-AR" sz="2000" b="0" noProof="0" dirty="0">
                          <a:solidFill>
                            <a:srgbClr val="333333"/>
                          </a:solidFill>
                          <a:latin typeface="Calibri"/>
                        </a:rPr>
                        <a:t>, </a:t>
                      </a:r>
                      <a:r>
                        <a:rPr lang="es-AR" sz="2000" b="0" noProof="0" dirty="0" err="1">
                          <a:solidFill>
                            <a:srgbClr val="333333"/>
                          </a:solidFill>
                          <a:latin typeface="Calibri"/>
                        </a:rPr>
                        <a:t>Checked</a:t>
                      </a:r>
                      <a:r>
                        <a:rPr lang="es-AR" sz="2000" b="0" noProof="0" dirty="0">
                          <a:solidFill>
                            <a:srgbClr val="333333"/>
                          </a:solidFill>
                          <a:latin typeface="Calibri"/>
                        </a:rPr>
                        <a:t>, Enabled, Font</a:t>
                      </a:r>
                    </a:p>
                  </a:txBody>
                  <a:tcPr marL="60000" marR="60000" marT="30000" marB="30000" anchor="ctr">
                    <a:solidFill>
                      <a:srgbClr val="FFFFFF"/>
                    </a:solidFill>
                  </a:tcPr>
                </a:tc>
                <a:tc>
                  <a:txBody>
                    <a:bodyPr/>
                    <a:lstStyle/>
                    <a:p>
                      <a:pPr algn="l"/>
                      <a:r>
                        <a:rPr lang="es-AR" sz="2000" b="0" noProof="0" dirty="0">
                          <a:solidFill>
                            <a:srgbClr val="333333"/>
                          </a:solidFill>
                          <a:latin typeface="Calibri"/>
                        </a:rPr>
                        <a:t>Focus(), </a:t>
                      </a:r>
                      <a:r>
                        <a:rPr lang="es-AR" sz="2000" b="0" noProof="0" dirty="0" err="1">
                          <a:solidFill>
                            <a:srgbClr val="333333"/>
                          </a:solidFill>
                          <a:latin typeface="Calibri"/>
                        </a:rPr>
                        <a:t>Select</a:t>
                      </a:r>
                      <a:r>
                        <a:rPr lang="es-AR" sz="2000" b="0" noProof="0" dirty="0">
                          <a:solidFill>
                            <a:srgbClr val="333333"/>
                          </a:solidFill>
                          <a:latin typeface="Calibri"/>
                        </a:rPr>
                        <a:t>(), </a:t>
                      </a:r>
                      <a:r>
                        <a:rPr lang="es-AR" sz="2000" b="0" noProof="0" dirty="0" err="1">
                          <a:solidFill>
                            <a:srgbClr val="333333"/>
                          </a:solidFill>
                          <a:latin typeface="Calibri"/>
                        </a:rPr>
                        <a:t>ResetText</a:t>
                      </a:r>
                      <a:r>
                        <a:rPr lang="es-AR" sz="2000" b="0" noProof="0" dirty="0">
                          <a:solidFill>
                            <a:srgbClr val="333333"/>
                          </a:solidFill>
                          <a:latin typeface="Calibri"/>
                        </a:rPr>
                        <a:t>(), </a:t>
                      </a:r>
                      <a:r>
                        <a:rPr lang="es-AR" sz="2000" b="0" noProof="0" dirty="0" err="1">
                          <a:solidFill>
                            <a:srgbClr val="333333"/>
                          </a:solidFill>
                          <a:latin typeface="Calibri"/>
                        </a:rPr>
                        <a:t>Refresh</a:t>
                      </a:r>
                      <a:r>
                        <a:rPr lang="es-AR" sz="2000" b="0" noProof="0" dirty="0">
                          <a:solidFill>
                            <a:srgbClr val="333333"/>
                          </a:solidFill>
                          <a:latin typeface="Calibri"/>
                        </a:rPr>
                        <a:t>(), </a:t>
                      </a:r>
                      <a:r>
                        <a:rPr lang="es-AR" sz="2000" b="0" noProof="0" dirty="0" err="1">
                          <a:solidFill>
                            <a:srgbClr val="333333"/>
                          </a:solidFill>
                          <a:latin typeface="Calibri"/>
                        </a:rPr>
                        <a:t>BringToFront</a:t>
                      </a:r>
                      <a:r>
                        <a:rPr lang="es-AR" sz="2000" b="0" noProof="0" dirty="0">
                          <a:solidFill>
                            <a:srgbClr val="333333"/>
                          </a:solidFill>
                          <a:latin typeface="Calibri"/>
                        </a:rPr>
                        <a:t>(), </a:t>
                      </a:r>
                      <a:r>
                        <a:rPr lang="es-AR" sz="2000" b="0" noProof="0" dirty="0" err="1">
                          <a:solidFill>
                            <a:srgbClr val="333333"/>
                          </a:solidFill>
                          <a:latin typeface="Calibri"/>
                        </a:rPr>
                        <a:t>SendToBack</a:t>
                      </a:r>
                      <a:r>
                        <a:rPr lang="es-AR" sz="2000" b="0" noProof="0" dirty="0">
                          <a:solidFill>
                            <a:srgbClr val="333333"/>
                          </a:solidFill>
                          <a:latin typeface="Calibri"/>
                        </a:rPr>
                        <a:t>(), </a:t>
                      </a:r>
                      <a:r>
                        <a:rPr lang="es-AR" sz="2000" b="0" noProof="0" dirty="0" err="1">
                          <a:solidFill>
                            <a:srgbClr val="333333"/>
                          </a:solidFill>
                          <a:latin typeface="Calibri"/>
                        </a:rPr>
                        <a:t>Invalidate</a:t>
                      </a:r>
                      <a:r>
                        <a:rPr lang="es-AR" sz="2000" b="0" noProof="0" dirty="0">
                          <a:solidFill>
                            <a:srgbClr val="333333"/>
                          </a:solidFill>
                          <a:latin typeface="Calibri"/>
                        </a:rPr>
                        <a:t>(), </a:t>
                      </a:r>
                      <a:r>
                        <a:rPr lang="es-AR" sz="2000" b="0" noProof="0" dirty="0" err="1">
                          <a:solidFill>
                            <a:srgbClr val="333333"/>
                          </a:solidFill>
                          <a:latin typeface="Calibri"/>
                        </a:rPr>
                        <a:t>Dispose</a:t>
                      </a:r>
                      <a:r>
                        <a:rPr lang="es-AR" sz="2000" b="0" noProof="0" dirty="0">
                          <a:solidFill>
                            <a:srgbClr val="333333"/>
                          </a:solidFill>
                          <a:latin typeface="Calibri"/>
                        </a:rPr>
                        <a:t>(), Show(), Hide()</a:t>
                      </a:r>
                    </a:p>
                  </a:txBody>
                  <a:tcPr marL="60000" marR="60000" marT="30000" marB="30000" anchor="ctr">
                    <a:solidFill>
                      <a:srgbClr val="FFFFFF"/>
                    </a:solidFill>
                  </a:tcPr>
                </a:tc>
                <a:tc>
                  <a:txBody>
                    <a:bodyPr/>
                    <a:lstStyle/>
                    <a:p>
                      <a:pPr algn="l"/>
                      <a:r>
                        <a:rPr lang="es-AR" sz="2000" b="0" noProof="0" dirty="0" err="1">
                          <a:solidFill>
                            <a:srgbClr val="333333"/>
                          </a:solidFill>
                          <a:latin typeface="Calibri"/>
                        </a:rPr>
                        <a:t>ValueChanged</a:t>
                      </a:r>
                      <a:r>
                        <a:rPr lang="es-AR" sz="2000" b="0" noProof="0" dirty="0">
                          <a:solidFill>
                            <a:srgbClr val="333333"/>
                          </a:solidFill>
                          <a:latin typeface="Calibri"/>
                        </a:rPr>
                        <a:t>, </a:t>
                      </a:r>
                      <a:r>
                        <a:rPr lang="es-AR" sz="2000" b="0" noProof="0" dirty="0" err="1">
                          <a:solidFill>
                            <a:srgbClr val="333333"/>
                          </a:solidFill>
                          <a:latin typeface="Calibri"/>
                        </a:rPr>
                        <a:t>CloseUp</a:t>
                      </a:r>
                      <a:r>
                        <a:rPr lang="es-AR" sz="2000" b="0" noProof="0" dirty="0">
                          <a:solidFill>
                            <a:srgbClr val="333333"/>
                          </a:solidFill>
                          <a:latin typeface="Calibri"/>
                        </a:rPr>
                        <a:t>, </a:t>
                      </a:r>
                      <a:r>
                        <a:rPr lang="es-AR" sz="2000" b="0" noProof="0" dirty="0" err="1">
                          <a:solidFill>
                            <a:srgbClr val="333333"/>
                          </a:solidFill>
                          <a:latin typeface="Calibri"/>
                        </a:rPr>
                        <a:t>DropDown</a:t>
                      </a:r>
                      <a:r>
                        <a:rPr lang="es-AR" sz="2000" b="0" noProof="0" dirty="0">
                          <a:solidFill>
                            <a:srgbClr val="333333"/>
                          </a:solidFill>
                          <a:latin typeface="Calibri"/>
                        </a:rPr>
                        <a:t>, Click, </a:t>
                      </a:r>
                      <a:r>
                        <a:rPr lang="es-AR" sz="2000" b="0" noProof="0" dirty="0" err="1">
                          <a:solidFill>
                            <a:srgbClr val="333333"/>
                          </a:solidFill>
                          <a:latin typeface="Calibri"/>
                        </a:rPr>
                        <a:t>KeyDown</a:t>
                      </a:r>
                      <a:r>
                        <a:rPr lang="es-AR" sz="2000" b="0" noProof="0" dirty="0">
                          <a:solidFill>
                            <a:srgbClr val="333333"/>
                          </a:solidFill>
                          <a:latin typeface="Calibri"/>
                        </a:rPr>
                        <a:t>, </a:t>
                      </a:r>
                      <a:r>
                        <a:rPr lang="es-AR" sz="2000" b="0" noProof="0" dirty="0" err="1">
                          <a:solidFill>
                            <a:srgbClr val="333333"/>
                          </a:solidFill>
                          <a:latin typeface="Calibri"/>
                        </a:rPr>
                        <a:t>GotFocus</a:t>
                      </a:r>
                      <a:r>
                        <a:rPr lang="es-AR" sz="2000" b="0" noProof="0" dirty="0">
                          <a:solidFill>
                            <a:srgbClr val="333333"/>
                          </a:solidFill>
                          <a:latin typeface="Calibri"/>
                        </a:rPr>
                        <a:t>, </a:t>
                      </a:r>
                      <a:r>
                        <a:rPr lang="es-AR" sz="2000" b="0" noProof="0" dirty="0" err="1">
                          <a:solidFill>
                            <a:srgbClr val="333333"/>
                          </a:solidFill>
                          <a:latin typeface="Calibri"/>
                        </a:rPr>
                        <a:t>LostFocus</a:t>
                      </a:r>
                      <a:r>
                        <a:rPr lang="es-AR" sz="2000" b="0" noProof="0" dirty="0">
                          <a:solidFill>
                            <a:srgbClr val="333333"/>
                          </a:solidFill>
                          <a:latin typeface="Calibri"/>
                        </a:rPr>
                        <a:t>, </a:t>
                      </a:r>
                      <a:r>
                        <a:rPr lang="es-AR" sz="2000" b="0" noProof="0" dirty="0" err="1">
                          <a:solidFill>
                            <a:srgbClr val="333333"/>
                          </a:solidFill>
                          <a:latin typeface="Calibri"/>
                        </a:rPr>
                        <a:t>FormatChanged</a:t>
                      </a:r>
                      <a:r>
                        <a:rPr lang="es-AR" sz="2000" b="0" noProof="0" dirty="0">
                          <a:solidFill>
                            <a:srgbClr val="333333"/>
                          </a:solidFill>
                          <a:latin typeface="Calibri"/>
                        </a:rPr>
                        <a:t>, </a:t>
                      </a:r>
                      <a:r>
                        <a:rPr lang="es-AR" sz="2000" b="0" noProof="0" dirty="0" err="1">
                          <a:solidFill>
                            <a:srgbClr val="333333"/>
                          </a:solidFill>
                          <a:latin typeface="Calibri"/>
                        </a:rPr>
                        <a:t>EnabledChanged</a:t>
                      </a:r>
                      <a:r>
                        <a:rPr lang="es-AR" sz="2000" b="0" noProof="0" dirty="0">
                          <a:solidFill>
                            <a:srgbClr val="333333"/>
                          </a:solidFill>
                          <a:latin typeface="Calibri"/>
                        </a:rPr>
                        <a:t>, </a:t>
                      </a:r>
                      <a:r>
                        <a:rPr lang="es-AR" sz="2000" b="0" noProof="0" dirty="0" err="1">
                          <a:solidFill>
                            <a:srgbClr val="333333"/>
                          </a:solidFill>
                          <a:latin typeface="Calibri"/>
                        </a:rPr>
                        <a:t>VisibleChanged</a:t>
                      </a:r>
                      <a:endParaRPr lang="es-AR" sz="2000" b="0" noProof="0" dirty="0">
                        <a:solidFill>
                          <a:srgbClr val="333333"/>
                        </a:solidFill>
                        <a:latin typeface="Calibri"/>
                      </a:endParaRPr>
                    </a:p>
                  </a:txBody>
                  <a:tcPr marL="60000" marR="60000" marT="30000" marB="30000" anchor="ctr">
                    <a:solidFill>
                      <a:srgbClr val="FFFFFF"/>
                    </a:solidFill>
                  </a:tcPr>
                </a:tc>
                <a:extLst>
                  <a:ext uri="{0D108BD9-81ED-4DB2-BD59-A6C34878D82A}">
                    <a16:rowId xmlns:a16="http://schemas.microsoft.com/office/drawing/2014/main" val="10001"/>
                  </a:ext>
                </a:extLst>
              </a:tr>
            </a:tbl>
          </a:graphicData>
        </a:graphic>
      </p:graphicFrame>
      <p:pic>
        <p:nvPicPr>
          <p:cNvPr id="6" name="Imagen 5" descr="C# DateTimePicker Control">
            <a:extLst>
              <a:ext uri="{FF2B5EF4-FFF2-40B4-BE49-F238E27FC236}">
                <a16:creationId xmlns:a16="http://schemas.microsoft.com/office/drawing/2014/main" id="{2408E94D-ABC6-14B6-A8F4-8023FF3CFB55}"/>
              </a:ext>
            </a:extLst>
          </p:cNvPr>
          <p:cNvPicPr>
            <a:picLocks noChangeAspect="1"/>
          </p:cNvPicPr>
          <p:nvPr/>
        </p:nvPicPr>
        <p:blipFill>
          <a:blip r:embed="rId2"/>
          <a:stretch>
            <a:fillRect/>
          </a:stretch>
        </p:blipFill>
        <p:spPr>
          <a:xfrm>
            <a:off x="8021230" y="2514600"/>
            <a:ext cx="3724275" cy="2971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52974"/>
            <a:ext cx="11309985" cy="480891"/>
          </a:xfrm>
          <a:prstGeom prst="rect">
            <a:avLst/>
          </a:prstGeom>
          <a:solidFill>
            <a:srgbClr val="662937"/>
          </a:solidFill>
          <a:ln>
            <a:noFill/>
          </a:ln>
        </p:spPr>
        <p:txBody>
          <a:bodyPr wrap="square" lIns="140000" tIns="40000" rIns="140000" bIns="40000" anchor="ctr">
            <a:spAutoFit/>
          </a:bodyPr>
          <a:lstStyle/>
          <a:p>
            <a:pPr algn="ctr"/>
            <a:r>
              <a:rPr lang="es-AR" sz="2600" b="1" noProof="0" dirty="0">
                <a:solidFill>
                  <a:srgbClr val="FFFFFF"/>
                </a:solidFill>
                <a:latin typeface="Calibri"/>
              </a:rPr>
              <a:t>Control Timer - propiedades, métodos y eventos</a:t>
            </a:r>
          </a:p>
        </p:txBody>
      </p:sp>
      <p:sp>
        <p:nvSpPr>
          <p:cNvPr id="3" name="TextBox 2"/>
          <p:cNvSpPr txBox="1"/>
          <p:nvPr/>
        </p:nvSpPr>
        <p:spPr>
          <a:xfrm>
            <a:off x="440436" y="1240536"/>
            <a:ext cx="11309985" cy="420000"/>
          </a:xfrm>
          <a:prstGeom prst="rect">
            <a:avLst/>
          </a:prstGeom>
          <a:noFill/>
        </p:spPr>
        <p:txBody>
          <a:bodyPr wrap="square">
            <a:spAutoFit/>
          </a:bodyPr>
          <a:lstStyle/>
          <a:p>
            <a:pPr algn="l">
              <a:lnSpc>
                <a:spcPct val="105000"/>
              </a:lnSpc>
              <a:spcBef>
                <a:spcPts val="0"/>
              </a:spcBef>
            </a:pPr>
            <a:r>
              <a:rPr lang="es-AR" sz="1350" b="0" i="0" noProof="0" dirty="0">
                <a:solidFill>
                  <a:srgbClr val="333333"/>
                </a:solidFill>
                <a:latin typeface="Calibri"/>
              </a:rPr>
              <a:t>•  El Timer es un componente no visual: dispara el evento Tick cada Interval milisegundos mientras Enabled este en true.</a:t>
            </a:r>
          </a:p>
        </p:txBody>
      </p:sp>
      <p:graphicFrame>
        <p:nvGraphicFramePr>
          <p:cNvPr id="5" name="Table 4"/>
          <p:cNvGraphicFramePr>
            <a:graphicFrameLocks noGrp="1"/>
          </p:cNvGraphicFramePr>
          <p:nvPr>
            <p:extLst>
              <p:ext uri="{D42A27DB-BD31-4B8C-83A1-F6EECF244321}">
                <p14:modId xmlns:p14="http://schemas.microsoft.com/office/powerpoint/2010/main" val="597994236"/>
              </p:ext>
            </p:extLst>
          </p:nvPr>
        </p:nvGraphicFramePr>
        <p:xfrm>
          <a:off x="440436" y="1700536"/>
          <a:ext cx="7599983" cy="4947464"/>
        </p:xfrm>
        <a:graphic>
          <a:graphicData uri="http://schemas.openxmlformats.org/drawingml/2006/table">
            <a:tbl>
              <a:tblPr firstRow="1" bandRow="1">
                <a:tableStyleId>{5C22544A-7EE6-4342-B048-85BDC9FD1C3A}</a:tableStyleId>
              </a:tblPr>
              <a:tblGrid>
                <a:gridCol w="2583994">
                  <a:extLst>
                    <a:ext uri="{9D8B030D-6E8A-4147-A177-3AD203B41FA5}">
                      <a16:colId xmlns:a16="http://schemas.microsoft.com/office/drawing/2014/main" val="20000"/>
                    </a:ext>
                  </a:extLst>
                </a:gridCol>
                <a:gridCol w="2583994">
                  <a:extLst>
                    <a:ext uri="{9D8B030D-6E8A-4147-A177-3AD203B41FA5}">
                      <a16:colId xmlns:a16="http://schemas.microsoft.com/office/drawing/2014/main" val="20001"/>
                    </a:ext>
                  </a:extLst>
                </a:gridCol>
                <a:gridCol w="2431995">
                  <a:extLst>
                    <a:ext uri="{9D8B030D-6E8A-4147-A177-3AD203B41FA5}">
                      <a16:colId xmlns:a16="http://schemas.microsoft.com/office/drawing/2014/main" val="20002"/>
                    </a:ext>
                  </a:extLst>
                </a:gridCol>
              </a:tblGrid>
              <a:tr h="360000">
                <a:tc>
                  <a:txBody>
                    <a:bodyPr/>
                    <a:lstStyle/>
                    <a:p>
                      <a:pPr algn="ctr"/>
                      <a:r>
                        <a:rPr lang="es-AR" sz="1300" b="1" noProof="0" dirty="0">
                          <a:solidFill>
                            <a:srgbClr val="FFFFFF"/>
                          </a:solidFill>
                          <a:latin typeface="Calibri"/>
                        </a:rPr>
                        <a:t>Propiedades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Métodos</a:t>
                      </a:r>
                    </a:p>
                  </a:txBody>
                  <a:tcPr marL="60000" marR="60000" marT="30000" marB="30000" anchor="ctr">
                    <a:solidFill>
                      <a:srgbClr val="4D1234"/>
                    </a:solidFill>
                  </a:tcPr>
                </a:tc>
                <a:tc>
                  <a:txBody>
                    <a:bodyPr/>
                    <a:lstStyle/>
                    <a:p>
                      <a:pPr algn="ctr"/>
                      <a:r>
                        <a:rPr lang="es-AR" sz="1300" b="1" noProof="0" dirty="0">
                          <a:solidFill>
                            <a:srgbClr val="FFFFFF"/>
                          </a:solidFill>
                          <a:latin typeface="Calibri"/>
                        </a:rPr>
                        <a:t>Eventos</a:t>
                      </a:r>
                    </a:p>
                  </a:txBody>
                  <a:tcPr marL="60000" marR="60000" marT="30000" marB="30000" anchor="ctr">
                    <a:solidFill>
                      <a:srgbClr val="4D1234"/>
                    </a:solidFill>
                  </a:tcPr>
                </a:tc>
                <a:extLst>
                  <a:ext uri="{0D108BD9-81ED-4DB2-BD59-A6C34878D82A}">
                    <a16:rowId xmlns:a16="http://schemas.microsoft.com/office/drawing/2014/main" val="10000"/>
                  </a:ext>
                </a:extLst>
              </a:tr>
              <a:tr h="4587464">
                <a:tc>
                  <a:txBody>
                    <a:bodyPr/>
                    <a:lstStyle/>
                    <a:p>
                      <a:pPr algn="l"/>
                      <a:r>
                        <a:rPr lang="es-AR" sz="2000" b="0" noProof="0" dirty="0">
                          <a:solidFill>
                            <a:srgbClr val="333333"/>
                          </a:solidFill>
                          <a:latin typeface="Calibri"/>
                        </a:rPr>
                        <a:t>Name, Enabled, Interval, Site, Tag</a:t>
                      </a:r>
                    </a:p>
                  </a:txBody>
                  <a:tcPr marL="60000" marR="60000" marT="30000" marB="30000" anchor="ctr">
                    <a:solidFill>
                      <a:srgbClr val="FFFFFF"/>
                    </a:solidFill>
                  </a:tcPr>
                </a:tc>
                <a:tc>
                  <a:txBody>
                    <a:bodyPr/>
                    <a:lstStyle/>
                    <a:p>
                      <a:pPr algn="l"/>
                      <a:r>
                        <a:rPr lang="es-AR" sz="2000" b="0" noProof="0" dirty="0">
                          <a:solidFill>
                            <a:srgbClr val="333333"/>
                          </a:solidFill>
                          <a:latin typeface="Calibri"/>
                        </a:rPr>
                        <a:t>Start(), Stop(), </a:t>
                      </a:r>
                      <a:r>
                        <a:rPr lang="es-AR" sz="2000" b="0" noProof="0" dirty="0" err="1">
                          <a:solidFill>
                            <a:srgbClr val="333333"/>
                          </a:solidFill>
                          <a:latin typeface="Calibri"/>
                        </a:rPr>
                        <a:t>Dispose</a:t>
                      </a:r>
                      <a:r>
                        <a:rPr lang="es-AR" sz="2000" b="0" noProof="0" dirty="0">
                          <a:solidFill>
                            <a:srgbClr val="333333"/>
                          </a:solidFill>
                          <a:latin typeface="Calibri"/>
                        </a:rPr>
                        <a:t>(), </a:t>
                      </a:r>
                      <a:r>
                        <a:rPr lang="es-AR" sz="2000" b="0" noProof="0" dirty="0" err="1">
                          <a:solidFill>
                            <a:srgbClr val="333333"/>
                          </a:solidFill>
                          <a:latin typeface="Calibri"/>
                        </a:rPr>
                        <a:t>ToString</a:t>
                      </a:r>
                      <a:r>
                        <a:rPr lang="es-AR" sz="2000" b="0" noProof="0" dirty="0">
                          <a:solidFill>
                            <a:srgbClr val="333333"/>
                          </a:solidFill>
                          <a:latin typeface="Calibri"/>
                        </a:rPr>
                        <a:t>(), </a:t>
                      </a:r>
                      <a:r>
                        <a:rPr lang="es-AR" sz="2000" b="0" noProof="0" dirty="0" err="1">
                          <a:solidFill>
                            <a:srgbClr val="333333"/>
                          </a:solidFill>
                          <a:latin typeface="Calibri"/>
                        </a:rPr>
                        <a:t>Equals</a:t>
                      </a:r>
                      <a:r>
                        <a:rPr lang="es-AR" sz="2000" b="0" noProof="0" dirty="0">
                          <a:solidFill>
                            <a:srgbClr val="333333"/>
                          </a:solidFill>
                          <a:latin typeface="Calibri"/>
                        </a:rPr>
                        <a:t>()</a:t>
                      </a:r>
                    </a:p>
                  </a:txBody>
                  <a:tcPr marL="60000" marR="60000" marT="30000" marB="30000" anchor="ctr">
                    <a:solidFill>
                      <a:srgbClr val="FFFFFF"/>
                    </a:solidFill>
                  </a:tcPr>
                </a:tc>
                <a:tc>
                  <a:txBody>
                    <a:bodyPr/>
                    <a:lstStyle/>
                    <a:p>
                      <a:pPr algn="l"/>
                      <a:r>
                        <a:rPr lang="es-AR" sz="2000" b="0" noProof="0" dirty="0">
                          <a:solidFill>
                            <a:srgbClr val="333333"/>
                          </a:solidFill>
                          <a:latin typeface="Calibri"/>
                        </a:rPr>
                        <a:t>Tick, </a:t>
                      </a:r>
                      <a:r>
                        <a:rPr lang="es-AR" sz="2000" b="0" noProof="0" dirty="0" err="1">
                          <a:solidFill>
                            <a:srgbClr val="333333"/>
                          </a:solidFill>
                          <a:latin typeface="Calibri"/>
                        </a:rPr>
                        <a:t>Disposed</a:t>
                      </a:r>
                      <a:endParaRPr lang="es-AR" sz="2000" b="0" noProof="0" dirty="0">
                        <a:solidFill>
                          <a:srgbClr val="333333"/>
                        </a:solidFill>
                        <a:latin typeface="Calibri"/>
                      </a:endParaRPr>
                    </a:p>
                  </a:txBody>
                  <a:tcPr marL="60000" marR="60000" marT="30000" marB="30000" anchor="ctr">
                    <a:solidFill>
                      <a:srgbClr val="FFFFFF"/>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440436" y="6658000"/>
            <a:ext cx="7599985" cy="200000"/>
          </a:xfrm>
          <a:prstGeom prst="rect">
            <a:avLst/>
          </a:prstGeom>
          <a:noFill/>
        </p:spPr>
        <p:txBody>
          <a:bodyPr wrap="square">
            <a:spAutoFit/>
          </a:bodyPr>
          <a:lstStyle/>
          <a:p>
            <a:pPr algn="l">
              <a:lnSpc>
                <a:spcPct val="105000"/>
              </a:lnSpc>
              <a:spcBef>
                <a:spcPts val="0"/>
              </a:spcBef>
            </a:pPr>
            <a:r>
              <a:rPr lang="es-AR" sz="1000" b="0" i="0" noProof="0" dirty="0">
                <a:solidFill>
                  <a:srgbClr val="6E747A"/>
                </a:solidFill>
                <a:latin typeface="Calibri"/>
              </a:rPr>
              <a:t>Al ser un componente no visual, el Timer tiene una superficie de propiedades, </a:t>
            </a:r>
            <a:r>
              <a:rPr lang="es-AR" sz="1000" b="0" i="0" noProof="0" dirty="0" err="1">
                <a:solidFill>
                  <a:srgbClr val="6E747A"/>
                </a:solidFill>
                <a:latin typeface="Calibri"/>
              </a:rPr>
              <a:t>metodos</a:t>
            </a:r>
            <a:r>
              <a:rPr lang="es-AR" sz="1000" b="0" i="0" noProof="0" dirty="0">
                <a:solidFill>
                  <a:srgbClr val="6E747A"/>
                </a:solidFill>
                <a:latin typeface="Calibri"/>
              </a:rPr>
              <a:t> y eventos mas reducida que la de un control visual (por eso la tabla no llega a 10 </a:t>
            </a:r>
            <a:r>
              <a:rPr lang="es-AR" sz="1000" b="0" i="0" noProof="0" dirty="0" err="1">
                <a:solidFill>
                  <a:srgbClr val="6E747A"/>
                </a:solidFill>
                <a:latin typeface="Calibri"/>
              </a:rPr>
              <a:t>items</a:t>
            </a:r>
            <a:r>
              <a:rPr lang="es-AR" sz="1000" b="0" i="0" noProof="0" dirty="0">
                <a:solidFill>
                  <a:srgbClr val="6E747A"/>
                </a:solidFill>
                <a:latin typeface="Calibri"/>
              </a:rPr>
              <a:t> por columna).</a:t>
            </a:r>
          </a:p>
        </p:txBody>
      </p:sp>
      <p:pic>
        <p:nvPicPr>
          <p:cNvPr id="7" name="Imagen 6" descr="How to Use Timer in C# (Tutorial with Sample Code)">
            <a:extLst>
              <a:ext uri="{FF2B5EF4-FFF2-40B4-BE49-F238E27FC236}">
                <a16:creationId xmlns:a16="http://schemas.microsoft.com/office/drawing/2014/main" id="{7C1D765F-5EFB-FEF3-544B-D528CE59E1D7}"/>
              </a:ext>
            </a:extLst>
          </p:cNvPr>
          <p:cNvPicPr>
            <a:picLocks noChangeAspect="1"/>
          </p:cNvPicPr>
          <p:nvPr/>
        </p:nvPicPr>
        <p:blipFill>
          <a:blip r:embed="rId2"/>
          <a:stretch>
            <a:fillRect/>
          </a:stretch>
        </p:blipFill>
        <p:spPr>
          <a:xfrm>
            <a:off x="8119140" y="2897052"/>
            <a:ext cx="3631281" cy="2514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600" b="1" noProof="0" dirty="0">
                <a:solidFill>
                  <a:srgbClr val="FFFFFF"/>
                </a:solidFill>
                <a:latin typeface="Calibri"/>
              </a:rPr>
              <a:t>Otros controles de uso frecuente (I)</a:t>
            </a:r>
          </a:p>
        </p:txBody>
      </p:sp>
      <p:sp>
        <p:nvSpPr>
          <p:cNvPr id="3" name="TextBox 2"/>
          <p:cNvSpPr txBox="1"/>
          <p:nvPr/>
        </p:nvSpPr>
        <p:spPr>
          <a:xfrm>
            <a:off x="440436" y="1240536"/>
            <a:ext cx="11309985" cy="1045992"/>
          </a:xfrm>
          <a:prstGeom prst="rect">
            <a:avLst/>
          </a:prstGeom>
          <a:noFill/>
        </p:spPr>
        <p:txBody>
          <a:bodyPr wrap="square">
            <a:spAutoFit/>
          </a:bodyPr>
          <a:lstStyle/>
          <a:p>
            <a:pPr algn="l">
              <a:lnSpc>
                <a:spcPct val="105000"/>
              </a:lnSpc>
              <a:spcBef>
                <a:spcPts val="400"/>
              </a:spcBef>
            </a:pPr>
            <a:r>
              <a:rPr lang="es-AR" sz="1250" b="1" i="0" noProof="0" dirty="0">
                <a:solidFill>
                  <a:srgbClr val="333333"/>
                </a:solidFill>
                <a:latin typeface="Calibri"/>
              </a:rPr>
              <a:t>TextBox</a:t>
            </a:r>
            <a:r>
              <a:rPr lang="es-AR" sz="1250" b="0" i="0" noProof="0" dirty="0">
                <a:solidFill>
                  <a:srgbClr val="333333"/>
                </a:solidFill>
                <a:latin typeface="Calibri"/>
              </a:rPr>
              <a:t>: permite ingresar y editar texto o números.        			</a:t>
            </a:r>
            <a:r>
              <a:rPr lang="es-AR" sz="1250" b="1" i="0" noProof="0" dirty="0">
                <a:solidFill>
                  <a:srgbClr val="333333"/>
                </a:solidFill>
                <a:latin typeface="Calibri"/>
              </a:rPr>
              <a:t>Label</a:t>
            </a:r>
            <a:r>
              <a:rPr lang="es-AR" sz="1250" b="0" i="0" noProof="0" dirty="0">
                <a:solidFill>
                  <a:srgbClr val="333333"/>
                </a:solidFill>
                <a:latin typeface="Calibri"/>
              </a:rPr>
              <a:t>: muestra texto no editable (títulos, indicaciones, resultados).</a:t>
            </a:r>
          </a:p>
          <a:p>
            <a:pPr algn="l">
              <a:lnSpc>
                <a:spcPct val="105000"/>
              </a:lnSpc>
              <a:spcBef>
                <a:spcPts val="400"/>
              </a:spcBef>
            </a:pPr>
            <a:r>
              <a:rPr lang="es-AR" sz="1250" b="1" i="0" noProof="0" dirty="0">
                <a:solidFill>
                  <a:srgbClr val="333333"/>
                </a:solidFill>
                <a:latin typeface="Calibri"/>
              </a:rPr>
              <a:t>LinkLabel</a:t>
            </a:r>
            <a:r>
              <a:rPr lang="es-AR" sz="1250" b="0" i="0" noProof="0" dirty="0">
                <a:solidFill>
                  <a:srgbClr val="333333"/>
                </a:solidFill>
                <a:latin typeface="Calibri"/>
              </a:rPr>
              <a:t>: como un Label, pero con apariencia y comportamiento de hipervínculo.      </a:t>
            </a:r>
            <a:r>
              <a:rPr lang="es-AR" sz="1250" b="1" i="0" noProof="0" dirty="0">
                <a:solidFill>
                  <a:srgbClr val="333333"/>
                </a:solidFill>
                <a:latin typeface="Calibri"/>
              </a:rPr>
              <a:t>RadioButton</a:t>
            </a:r>
            <a:r>
              <a:rPr lang="es-AR" sz="1250" b="0" i="0" noProof="0" dirty="0">
                <a:solidFill>
                  <a:srgbClr val="333333"/>
                </a:solidFill>
                <a:latin typeface="Calibri"/>
              </a:rPr>
              <a:t>: opción excluyente dentro de un mismo grupo/GroupBox.</a:t>
            </a:r>
          </a:p>
          <a:p>
            <a:pPr algn="l">
              <a:lnSpc>
                <a:spcPct val="105000"/>
              </a:lnSpc>
              <a:spcBef>
                <a:spcPts val="400"/>
              </a:spcBef>
            </a:pPr>
            <a:r>
              <a:rPr lang="es-AR" sz="1250" b="1" i="0" noProof="0" dirty="0">
                <a:solidFill>
                  <a:srgbClr val="333333"/>
                </a:solidFill>
                <a:latin typeface="Calibri"/>
              </a:rPr>
              <a:t>ListBox</a:t>
            </a:r>
            <a:r>
              <a:rPr lang="es-AR" sz="1250" b="0" i="0" noProof="0" dirty="0">
                <a:solidFill>
                  <a:srgbClr val="333333"/>
                </a:solidFill>
                <a:latin typeface="Calibri"/>
              </a:rPr>
              <a:t>: lista de opciones visibles; puede permitir selección múltiple.        	</a:t>
            </a:r>
            <a:r>
              <a:rPr lang="es-AR" sz="1250" b="1" i="0" noProof="0" dirty="0">
                <a:solidFill>
                  <a:srgbClr val="333333"/>
                </a:solidFill>
                <a:latin typeface="Calibri"/>
              </a:rPr>
              <a:t>CheckedListBox</a:t>
            </a:r>
            <a:r>
              <a:rPr lang="es-AR" sz="1250" b="0" i="0" noProof="0" dirty="0">
                <a:solidFill>
                  <a:srgbClr val="333333"/>
                </a:solidFill>
                <a:latin typeface="Calibri"/>
              </a:rPr>
              <a:t>: como un ListBox, pero cada item tiene su propio CheckBox.        </a:t>
            </a:r>
          </a:p>
          <a:p>
            <a:pPr algn="l">
              <a:lnSpc>
                <a:spcPct val="105000"/>
              </a:lnSpc>
              <a:spcBef>
                <a:spcPts val="400"/>
              </a:spcBef>
            </a:pPr>
            <a:r>
              <a:rPr lang="es-AR" sz="1250" b="1" i="0" noProof="0" dirty="0">
                <a:solidFill>
                  <a:srgbClr val="333333"/>
                </a:solidFill>
                <a:latin typeface="Calibri"/>
              </a:rPr>
              <a:t>GroupBox</a:t>
            </a:r>
            <a:r>
              <a:rPr lang="es-AR" sz="1250" b="0" i="0" noProof="0" dirty="0">
                <a:solidFill>
                  <a:srgbClr val="333333"/>
                </a:solidFill>
                <a:latin typeface="Calibri"/>
              </a:rPr>
              <a:t>: agrupa visual y lógicamente otros controles bajo un titulo.</a:t>
            </a:r>
          </a:p>
        </p:txBody>
      </p:sp>
      <p:pic>
        <p:nvPicPr>
          <p:cNvPr id="4" name="Picture 3" descr="otros1.jpg"/>
          <p:cNvPicPr>
            <a:picLocks noChangeAspect="1"/>
          </p:cNvPicPr>
          <p:nvPr/>
        </p:nvPicPr>
        <p:blipFill>
          <a:blip r:embed="rId2"/>
          <a:stretch>
            <a:fillRect/>
          </a:stretch>
        </p:blipFill>
        <p:spPr>
          <a:xfrm>
            <a:off x="1592835" y="2370536"/>
            <a:ext cx="9005187" cy="4277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600" b="1" noProof="0" dirty="0">
                <a:solidFill>
                  <a:srgbClr val="FFFFFF"/>
                </a:solidFill>
                <a:latin typeface="Calibri"/>
              </a:rPr>
              <a:t>Otros controles de uso frecuente (II)</a:t>
            </a:r>
          </a:p>
        </p:txBody>
      </p:sp>
      <p:sp>
        <p:nvSpPr>
          <p:cNvPr id="3" name="TextBox 2"/>
          <p:cNvSpPr txBox="1"/>
          <p:nvPr/>
        </p:nvSpPr>
        <p:spPr>
          <a:xfrm>
            <a:off x="440436" y="1240536"/>
            <a:ext cx="11309985" cy="943400"/>
          </a:xfrm>
          <a:prstGeom prst="rect">
            <a:avLst/>
          </a:prstGeom>
          <a:noFill/>
        </p:spPr>
        <p:txBody>
          <a:bodyPr wrap="square">
            <a:spAutoFit/>
          </a:bodyPr>
          <a:lstStyle/>
          <a:p>
            <a:pPr algn="l">
              <a:lnSpc>
                <a:spcPct val="105000"/>
              </a:lnSpc>
              <a:spcBef>
                <a:spcPts val="400"/>
              </a:spcBef>
            </a:pPr>
            <a:r>
              <a:rPr lang="es-AR" sz="1250" b="1" i="0" noProof="0" dirty="0">
                <a:solidFill>
                  <a:srgbClr val="333333"/>
                </a:solidFill>
                <a:latin typeface="Calibri"/>
              </a:rPr>
              <a:t>NumericUpDown</a:t>
            </a:r>
            <a:r>
              <a:rPr lang="es-AR" sz="1250" b="0" i="0" noProof="0" dirty="0">
                <a:solidFill>
                  <a:srgbClr val="333333"/>
                </a:solidFill>
                <a:latin typeface="Calibri"/>
              </a:rPr>
              <a:t>: caja numérica con flechas para incrementar/decrementar el valor dentro de un rango.        </a:t>
            </a:r>
          </a:p>
          <a:p>
            <a:pPr algn="l">
              <a:lnSpc>
                <a:spcPct val="105000"/>
              </a:lnSpc>
              <a:spcBef>
                <a:spcPts val="400"/>
              </a:spcBef>
            </a:pPr>
            <a:r>
              <a:rPr lang="es-AR" sz="1250" b="1" i="0" noProof="0" dirty="0">
                <a:solidFill>
                  <a:srgbClr val="333333"/>
                </a:solidFill>
                <a:latin typeface="Calibri"/>
              </a:rPr>
              <a:t>PictureBox</a:t>
            </a:r>
            <a:r>
              <a:rPr lang="es-AR" sz="1250" b="0" i="0" noProof="0" dirty="0">
                <a:solidFill>
                  <a:srgbClr val="333333"/>
                </a:solidFill>
                <a:latin typeface="Calibri"/>
              </a:rPr>
              <a:t>: muestra una imagen cargada desde archivo o recurso. 			</a:t>
            </a:r>
            <a:r>
              <a:rPr lang="es-AR" sz="1250" b="1" i="0" noProof="0" dirty="0">
                <a:solidFill>
                  <a:srgbClr val="333333"/>
                </a:solidFill>
                <a:latin typeface="Calibri"/>
              </a:rPr>
              <a:t>ProgressBar</a:t>
            </a:r>
            <a:r>
              <a:rPr lang="es-AR" sz="1250" b="0" i="0" noProof="0" dirty="0">
                <a:solidFill>
                  <a:srgbClr val="333333"/>
                </a:solidFill>
                <a:latin typeface="Calibri"/>
              </a:rPr>
              <a:t>: indica visualmente el avance de una tarea o proceso.       	 </a:t>
            </a:r>
            <a:r>
              <a:rPr lang="es-AR" sz="1250" b="1" i="0" noProof="0" dirty="0">
                <a:solidFill>
                  <a:srgbClr val="333333"/>
                </a:solidFill>
                <a:latin typeface="Calibri"/>
              </a:rPr>
              <a:t>MenuStrip</a:t>
            </a:r>
            <a:r>
              <a:rPr lang="es-AR" sz="1250" b="0" i="0" noProof="0" dirty="0">
                <a:solidFill>
                  <a:srgbClr val="333333"/>
                </a:solidFill>
                <a:latin typeface="Calibri"/>
              </a:rPr>
              <a:t>: agrega una barra de menús con items y submenus al formulario. 		</a:t>
            </a:r>
            <a:r>
              <a:rPr lang="es-AR" sz="1250" b="1" i="0" noProof="0" dirty="0">
                <a:solidFill>
                  <a:srgbClr val="333333"/>
                </a:solidFill>
                <a:latin typeface="Calibri"/>
              </a:rPr>
              <a:t>DataGridView</a:t>
            </a:r>
            <a:r>
              <a:rPr lang="es-AR" sz="1250" b="0" i="0" noProof="0" dirty="0">
                <a:solidFill>
                  <a:srgbClr val="333333"/>
                </a:solidFill>
                <a:latin typeface="Calibri"/>
              </a:rPr>
              <a:t>: grilla para mostrar y editar datos tabulares.        </a:t>
            </a:r>
            <a:r>
              <a:rPr lang="es-AR" sz="1250" b="1" i="0" noProof="0" dirty="0">
                <a:solidFill>
                  <a:srgbClr val="333333"/>
                </a:solidFill>
                <a:latin typeface="Calibri"/>
              </a:rPr>
              <a:t>RichTextBox</a:t>
            </a:r>
            <a:r>
              <a:rPr lang="es-AR" sz="1250" b="0" i="0" noProof="0" dirty="0">
                <a:solidFill>
                  <a:srgbClr val="333333"/>
                </a:solidFill>
                <a:latin typeface="Calibri"/>
              </a:rPr>
              <a:t>: como un TextBox, pero admite texto con formato.        			</a:t>
            </a:r>
            <a:r>
              <a:rPr lang="es-AR" sz="1250" b="1" i="0" noProof="0" dirty="0">
                <a:solidFill>
                  <a:srgbClr val="333333"/>
                </a:solidFill>
                <a:latin typeface="Calibri"/>
              </a:rPr>
              <a:t>ToolTip</a:t>
            </a:r>
            <a:r>
              <a:rPr lang="es-AR" sz="1250" b="0" i="0" noProof="0" dirty="0">
                <a:solidFill>
                  <a:srgbClr val="333333"/>
                </a:solidFill>
                <a:latin typeface="Calibri"/>
              </a:rPr>
              <a:t>: muestra un texto de ayuda al pasar el mouse por un control.</a:t>
            </a:r>
          </a:p>
        </p:txBody>
      </p:sp>
      <p:pic>
        <p:nvPicPr>
          <p:cNvPr id="4" name="Picture 3" descr="otros2.jpg"/>
          <p:cNvPicPr>
            <a:picLocks noChangeAspect="1"/>
          </p:cNvPicPr>
          <p:nvPr/>
        </p:nvPicPr>
        <p:blipFill>
          <a:blip r:embed="rId2"/>
          <a:stretch>
            <a:fillRect/>
          </a:stretch>
        </p:blipFill>
        <p:spPr>
          <a:xfrm>
            <a:off x="1524000" y="2488506"/>
            <a:ext cx="8769222" cy="416538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600" b="1" noProof="0" dirty="0">
                <a:solidFill>
                  <a:srgbClr val="FFFFFF"/>
                </a:solidFill>
                <a:latin typeface="Calibri"/>
              </a:rPr>
              <a:t>Otros controles de uso frecuente (III)</a:t>
            </a:r>
          </a:p>
        </p:txBody>
      </p:sp>
      <p:sp>
        <p:nvSpPr>
          <p:cNvPr id="3" name="TextBox 2"/>
          <p:cNvSpPr txBox="1"/>
          <p:nvPr/>
        </p:nvSpPr>
        <p:spPr>
          <a:xfrm>
            <a:off x="440436" y="1240536"/>
            <a:ext cx="11309985" cy="741421"/>
          </a:xfrm>
          <a:prstGeom prst="rect">
            <a:avLst/>
          </a:prstGeom>
          <a:noFill/>
        </p:spPr>
        <p:txBody>
          <a:bodyPr wrap="square">
            <a:spAutoFit/>
          </a:bodyPr>
          <a:lstStyle/>
          <a:p>
            <a:pPr algn="l">
              <a:lnSpc>
                <a:spcPct val="105000"/>
              </a:lnSpc>
              <a:spcBef>
                <a:spcPts val="400"/>
              </a:spcBef>
            </a:pPr>
            <a:r>
              <a:rPr lang="es-AR" sz="1250" b="1" i="0" noProof="0" dirty="0">
                <a:solidFill>
                  <a:srgbClr val="333333"/>
                </a:solidFill>
                <a:latin typeface="Calibri"/>
              </a:rPr>
              <a:t>ListView</a:t>
            </a:r>
            <a:r>
              <a:rPr lang="es-AR" sz="1250" b="0" i="0" noProof="0" dirty="0">
                <a:solidFill>
                  <a:srgbClr val="333333"/>
                </a:solidFill>
                <a:latin typeface="Calibri"/>
              </a:rPr>
              <a:t>: muestra una colección de items con distintas vistas (iconos, lista, detalles).      </a:t>
            </a:r>
            <a:r>
              <a:rPr lang="es-AR" sz="1250" b="1" i="0" noProof="0" dirty="0">
                <a:solidFill>
                  <a:srgbClr val="333333"/>
                </a:solidFill>
                <a:latin typeface="Calibri"/>
              </a:rPr>
              <a:t>MonthCalendar</a:t>
            </a:r>
            <a:r>
              <a:rPr lang="es-AR" sz="1250" b="0" i="0" noProof="0" dirty="0">
                <a:solidFill>
                  <a:srgbClr val="333333"/>
                </a:solidFill>
                <a:latin typeface="Calibri"/>
              </a:rPr>
              <a:t>: calendario para seleccionar una fecha o un rango de fechas.</a:t>
            </a:r>
          </a:p>
          <a:p>
            <a:pPr algn="l">
              <a:lnSpc>
                <a:spcPct val="105000"/>
              </a:lnSpc>
              <a:spcBef>
                <a:spcPts val="400"/>
              </a:spcBef>
            </a:pPr>
            <a:r>
              <a:rPr lang="es-AR" sz="1250" b="1" i="0" noProof="0" dirty="0">
                <a:solidFill>
                  <a:srgbClr val="333333"/>
                </a:solidFill>
                <a:latin typeface="Calibri"/>
              </a:rPr>
              <a:t>NotifyIcon</a:t>
            </a:r>
            <a:r>
              <a:rPr lang="es-AR" sz="1250" b="0" i="0" noProof="0" dirty="0">
                <a:solidFill>
                  <a:srgbClr val="333333"/>
                </a:solidFill>
                <a:latin typeface="Calibri"/>
              </a:rPr>
              <a:t>: icono que se muestra en el área de notificación (bandeja) de Windows.        </a:t>
            </a:r>
            <a:r>
              <a:rPr lang="es-AR" sz="1250" b="1" i="0" noProof="0" dirty="0">
                <a:solidFill>
                  <a:srgbClr val="333333"/>
                </a:solidFill>
                <a:latin typeface="Calibri"/>
              </a:rPr>
              <a:t>TreeView</a:t>
            </a:r>
            <a:r>
              <a:rPr lang="es-AR" sz="1250" b="0" i="0" noProof="0" dirty="0">
                <a:solidFill>
                  <a:srgbClr val="333333"/>
                </a:solidFill>
                <a:latin typeface="Calibri"/>
              </a:rPr>
              <a:t>: presenta información jerárquica en forma de árbol expandible.        </a:t>
            </a:r>
            <a:r>
              <a:rPr lang="es-AR" sz="1250" b="1" i="0" noProof="0" dirty="0">
                <a:solidFill>
                  <a:srgbClr val="333333"/>
                </a:solidFill>
                <a:latin typeface="Calibri"/>
              </a:rPr>
              <a:t>WebBrowser</a:t>
            </a:r>
            <a:r>
              <a:rPr lang="es-AR" sz="1250" b="0" i="0" noProof="0" dirty="0">
                <a:solidFill>
                  <a:srgbClr val="333333"/>
                </a:solidFill>
                <a:latin typeface="Calibri"/>
              </a:rPr>
              <a:t>: incrusta un navegador web dentro del formulario.</a:t>
            </a:r>
          </a:p>
        </p:txBody>
      </p:sp>
      <p:pic>
        <p:nvPicPr>
          <p:cNvPr id="4" name="Picture 3" descr="otros3.jpg"/>
          <p:cNvPicPr>
            <a:picLocks noChangeAspect="1"/>
          </p:cNvPicPr>
          <p:nvPr/>
        </p:nvPicPr>
        <p:blipFill>
          <a:blip r:embed="rId2"/>
          <a:stretch>
            <a:fillRect/>
          </a:stretch>
        </p:blipFill>
        <p:spPr>
          <a:xfrm>
            <a:off x="440436" y="2530021"/>
            <a:ext cx="11309985" cy="395849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Otros controles: propiedades, métodos y eventos (resumen)</a:t>
            </a:r>
          </a:p>
        </p:txBody>
      </p:sp>
      <p:sp>
        <p:nvSpPr>
          <p:cNvPr id="3" name="TextBox 2"/>
          <p:cNvSpPr txBox="1"/>
          <p:nvPr/>
        </p:nvSpPr>
        <p:spPr>
          <a:xfrm>
            <a:off x="440436" y="1240536"/>
            <a:ext cx="11309985" cy="286169"/>
          </a:xfrm>
          <a:prstGeom prst="rect">
            <a:avLst/>
          </a:prstGeom>
          <a:noFill/>
        </p:spPr>
        <p:txBody>
          <a:bodyPr wrap="square">
            <a:spAutoFit/>
          </a:bodyPr>
          <a:lstStyle/>
          <a:p>
            <a:pPr algn="l">
              <a:lnSpc>
                <a:spcPct val="105000"/>
              </a:lnSpc>
              <a:spcBef>
                <a:spcPts val="0"/>
              </a:spcBef>
            </a:pPr>
            <a:r>
              <a:rPr lang="es-AR" sz="1250" b="0" i="0" noProof="0" dirty="0">
                <a:solidFill>
                  <a:srgbClr val="333333"/>
                </a:solidFill>
                <a:latin typeface="Calibri"/>
              </a:rPr>
              <a:t> Resumen de 5 propiedades, 5 métodos y 5 eventos de cada uno</a:t>
            </a:r>
          </a:p>
        </p:txBody>
      </p:sp>
      <p:graphicFrame>
        <p:nvGraphicFramePr>
          <p:cNvPr id="4" name="Table 3"/>
          <p:cNvGraphicFramePr>
            <a:graphicFrameLocks noGrp="1"/>
          </p:cNvGraphicFramePr>
          <p:nvPr>
            <p:extLst>
              <p:ext uri="{D42A27DB-BD31-4B8C-83A1-F6EECF244321}">
                <p14:modId xmlns:p14="http://schemas.microsoft.com/office/powerpoint/2010/main" val="504880394"/>
              </p:ext>
            </p:extLst>
          </p:nvPr>
        </p:nvGraphicFramePr>
        <p:xfrm>
          <a:off x="440436" y="1600536"/>
          <a:ext cx="11309983" cy="5047460"/>
        </p:xfrm>
        <a:graphic>
          <a:graphicData uri="http://schemas.openxmlformats.org/drawingml/2006/table">
            <a:tbl>
              <a:tblPr firstRow="1" bandRow="1">
                <a:tableStyleId>{5C22544A-7EE6-4342-B048-85BDC9FD1C3A}</a:tableStyleId>
              </a:tblPr>
              <a:tblGrid>
                <a:gridCol w="1357198">
                  <a:extLst>
                    <a:ext uri="{9D8B030D-6E8A-4147-A177-3AD203B41FA5}">
                      <a16:colId xmlns:a16="http://schemas.microsoft.com/office/drawing/2014/main" val="20000"/>
                    </a:ext>
                  </a:extLst>
                </a:gridCol>
                <a:gridCol w="3392995">
                  <a:extLst>
                    <a:ext uri="{9D8B030D-6E8A-4147-A177-3AD203B41FA5}">
                      <a16:colId xmlns:a16="http://schemas.microsoft.com/office/drawing/2014/main" val="20001"/>
                    </a:ext>
                  </a:extLst>
                </a:gridCol>
                <a:gridCol w="3392995">
                  <a:extLst>
                    <a:ext uri="{9D8B030D-6E8A-4147-A177-3AD203B41FA5}">
                      <a16:colId xmlns:a16="http://schemas.microsoft.com/office/drawing/2014/main" val="20002"/>
                    </a:ext>
                  </a:extLst>
                </a:gridCol>
                <a:gridCol w="3166795">
                  <a:extLst>
                    <a:ext uri="{9D8B030D-6E8A-4147-A177-3AD203B41FA5}">
                      <a16:colId xmlns:a16="http://schemas.microsoft.com/office/drawing/2014/main" val="20003"/>
                    </a:ext>
                  </a:extLst>
                </a:gridCol>
              </a:tblGrid>
              <a:tr h="300000">
                <a:tc>
                  <a:txBody>
                    <a:bodyPr/>
                    <a:lstStyle/>
                    <a:p>
                      <a:pPr algn="ctr"/>
                      <a:r>
                        <a:rPr lang="es-AR" sz="1100" b="1" noProof="0" dirty="0">
                          <a:solidFill>
                            <a:srgbClr val="FFFFFF"/>
                          </a:solidFill>
                          <a:latin typeface="Calibri"/>
                        </a:rPr>
                        <a:t>Control</a:t>
                      </a:r>
                    </a:p>
                  </a:txBody>
                  <a:tcPr marL="60000" marR="60000" marT="30000" marB="30000" anchor="ctr">
                    <a:solidFill>
                      <a:srgbClr val="4D1234"/>
                    </a:solidFill>
                  </a:tcPr>
                </a:tc>
                <a:tc>
                  <a:txBody>
                    <a:bodyPr/>
                    <a:lstStyle/>
                    <a:p>
                      <a:pPr algn="ctr"/>
                      <a:r>
                        <a:rPr lang="es-AR" sz="1100" b="1" noProof="0" dirty="0">
                          <a:solidFill>
                            <a:srgbClr val="FFFFFF"/>
                          </a:solidFill>
                          <a:latin typeface="Calibri"/>
                        </a:rPr>
                        <a:t>Propiedades</a:t>
                      </a:r>
                    </a:p>
                  </a:txBody>
                  <a:tcPr marL="60000" marR="60000" marT="30000" marB="30000" anchor="ctr">
                    <a:solidFill>
                      <a:srgbClr val="4D1234"/>
                    </a:solidFill>
                  </a:tcPr>
                </a:tc>
                <a:tc>
                  <a:txBody>
                    <a:bodyPr/>
                    <a:lstStyle/>
                    <a:p>
                      <a:pPr algn="ctr"/>
                      <a:r>
                        <a:rPr lang="es-AR" sz="1100" b="1" noProof="0" dirty="0">
                          <a:solidFill>
                            <a:srgbClr val="FFFFFF"/>
                          </a:solidFill>
                          <a:latin typeface="Calibri"/>
                        </a:rPr>
                        <a:t>Métodos</a:t>
                      </a:r>
                    </a:p>
                  </a:txBody>
                  <a:tcPr marL="60000" marR="60000" marT="30000" marB="30000" anchor="ctr">
                    <a:solidFill>
                      <a:srgbClr val="4D1234"/>
                    </a:solidFill>
                  </a:tcPr>
                </a:tc>
                <a:tc>
                  <a:txBody>
                    <a:bodyPr/>
                    <a:lstStyle/>
                    <a:p>
                      <a:pPr algn="ctr"/>
                      <a:r>
                        <a:rPr lang="es-AR" sz="1100" b="1" noProof="0" dirty="0">
                          <a:solidFill>
                            <a:srgbClr val="FFFFFF"/>
                          </a:solidFill>
                          <a:latin typeface="Calibri"/>
                        </a:rPr>
                        <a:t>Eventos</a:t>
                      </a:r>
                    </a:p>
                  </a:txBody>
                  <a:tcPr marL="60000" marR="60000" marT="30000" marB="30000" anchor="ctr">
                    <a:solidFill>
                      <a:srgbClr val="4D1234"/>
                    </a:solidFill>
                  </a:tcPr>
                </a:tc>
                <a:extLst>
                  <a:ext uri="{0D108BD9-81ED-4DB2-BD59-A6C34878D82A}">
                    <a16:rowId xmlns:a16="http://schemas.microsoft.com/office/drawing/2014/main" val="10000"/>
                  </a:ext>
                </a:extLst>
              </a:tr>
              <a:tr h="474746">
                <a:tc>
                  <a:txBody>
                    <a:bodyPr/>
                    <a:lstStyle/>
                    <a:p>
                      <a:pPr algn="l"/>
                      <a:r>
                        <a:rPr lang="es-AR" sz="869" b="1" noProof="0" dirty="0">
                          <a:solidFill>
                            <a:srgbClr val="333333"/>
                          </a:solidFill>
                          <a:latin typeface="Calibri"/>
                        </a:rPr>
                        <a:t>TextBox</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Text, MaxLength, PasswordChar, Multiline, ReadOnly</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Focus(), Clear(), SelectAll(), Copy(), Paste()</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TextChanged, KeyPress, KeyDown, GotFocus, LostFocus</a:t>
                      </a:r>
                    </a:p>
                  </a:txBody>
                  <a:tcPr marL="60000" marR="60000" marT="30000" marB="30000" anchor="ctr">
                    <a:solidFill>
                      <a:srgbClr val="FFFFFF"/>
                    </a:solidFill>
                  </a:tcPr>
                </a:tc>
                <a:extLst>
                  <a:ext uri="{0D108BD9-81ED-4DB2-BD59-A6C34878D82A}">
                    <a16:rowId xmlns:a16="http://schemas.microsoft.com/office/drawing/2014/main" val="10001"/>
                  </a:ext>
                </a:extLst>
              </a:tr>
              <a:tr h="474746">
                <a:tc>
                  <a:txBody>
                    <a:bodyPr/>
                    <a:lstStyle/>
                    <a:p>
                      <a:pPr algn="l"/>
                      <a:r>
                        <a:rPr lang="es-AR" sz="869" b="1" noProof="0" dirty="0">
                          <a:solidFill>
                            <a:srgbClr val="333333"/>
                          </a:solidFill>
                          <a:latin typeface="Calibri"/>
                        </a:rPr>
                        <a:t>Label</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Text, AutoSize, TextAlign, BorderStyle, Font</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Focus(), Refresh(), Show(), Hide(), BringToFront()</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Click, TextChanged, FontChanged, Resize, Paint</a:t>
                      </a:r>
                    </a:p>
                  </a:txBody>
                  <a:tcPr marL="60000" marR="60000" marT="30000" marB="30000" anchor="ctr">
                    <a:solidFill>
                      <a:srgbClr val="F5F0F2"/>
                    </a:solidFill>
                  </a:tcPr>
                </a:tc>
                <a:extLst>
                  <a:ext uri="{0D108BD9-81ED-4DB2-BD59-A6C34878D82A}">
                    <a16:rowId xmlns:a16="http://schemas.microsoft.com/office/drawing/2014/main" val="10002"/>
                  </a:ext>
                </a:extLst>
              </a:tr>
              <a:tr h="474746">
                <a:tc>
                  <a:txBody>
                    <a:bodyPr/>
                    <a:lstStyle/>
                    <a:p>
                      <a:pPr algn="l"/>
                      <a:r>
                        <a:rPr lang="es-AR" sz="869" b="1" noProof="0" dirty="0">
                          <a:solidFill>
                            <a:srgbClr val="333333"/>
                          </a:solidFill>
                          <a:latin typeface="Calibri"/>
                        </a:rPr>
                        <a:t>RadioButton</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Checked, Text, Appearance, AutoCheck, TabIndex</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Focus(), PerformClick(), Select(), Show(), Hide()</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CheckedChanged, Click, GotFocus, LostFocus, EnabledChanged</a:t>
                      </a:r>
                    </a:p>
                  </a:txBody>
                  <a:tcPr marL="60000" marR="60000" marT="30000" marB="30000" anchor="ctr">
                    <a:solidFill>
                      <a:srgbClr val="FFFFFF"/>
                    </a:solidFill>
                  </a:tcPr>
                </a:tc>
                <a:extLst>
                  <a:ext uri="{0D108BD9-81ED-4DB2-BD59-A6C34878D82A}">
                    <a16:rowId xmlns:a16="http://schemas.microsoft.com/office/drawing/2014/main" val="10003"/>
                  </a:ext>
                </a:extLst>
              </a:tr>
              <a:tr h="474746">
                <a:tc>
                  <a:txBody>
                    <a:bodyPr/>
                    <a:lstStyle/>
                    <a:p>
                      <a:pPr algn="l"/>
                      <a:r>
                        <a:rPr lang="es-AR" sz="869" b="1" noProof="0" dirty="0">
                          <a:solidFill>
                            <a:srgbClr val="333333"/>
                          </a:solidFill>
                          <a:latin typeface="Calibri"/>
                        </a:rPr>
                        <a:t>ListBox</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Items, SelectedItem, SelectedIndex, MultiColumn, Sorted</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Items.Add(), Items.Remove(), ClearSelected(), FindString(), Sort()</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SelectedIndexChanged, Click, DoubleClick, KeyDown, GotFocus</a:t>
                      </a:r>
                    </a:p>
                  </a:txBody>
                  <a:tcPr marL="60000" marR="60000" marT="30000" marB="30000" anchor="ctr">
                    <a:solidFill>
                      <a:srgbClr val="F5F0F2"/>
                    </a:solidFill>
                  </a:tcPr>
                </a:tc>
                <a:extLst>
                  <a:ext uri="{0D108BD9-81ED-4DB2-BD59-A6C34878D82A}">
                    <a16:rowId xmlns:a16="http://schemas.microsoft.com/office/drawing/2014/main" val="10004"/>
                  </a:ext>
                </a:extLst>
              </a:tr>
              <a:tr h="474746">
                <a:tc>
                  <a:txBody>
                    <a:bodyPr/>
                    <a:lstStyle/>
                    <a:p>
                      <a:pPr algn="l"/>
                      <a:r>
                        <a:rPr lang="es-AR" sz="869" b="1" noProof="0" dirty="0">
                          <a:solidFill>
                            <a:srgbClr val="333333"/>
                          </a:solidFill>
                          <a:latin typeface="Calibri"/>
                        </a:rPr>
                        <a:t>NumericUpDown</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Value, Minimum, Maximum, Increment, DecimalPlaces</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Focus(), Select(), ResetText(), Refresh(), Show()</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ValueChanged, Click, KeyDown, GotFocus, LostFocus</a:t>
                      </a:r>
                    </a:p>
                  </a:txBody>
                  <a:tcPr marL="60000" marR="60000" marT="30000" marB="30000" anchor="ctr">
                    <a:solidFill>
                      <a:srgbClr val="FFFFFF"/>
                    </a:solidFill>
                  </a:tcPr>
                </a:tc>
                <a:extLst>
                  <a:ext uri="{0D108BD9-81ED-4DB2-BD59-A6C34878D82A}">
                    <a16:rowId xmlns:a16="http://schemas.microsoft.com/office/drawing/2014/main" val="10005"/>
                  </a:ext>
                </a:extLst>
              </a:tr>
              <a:tr h="474746">
                <a:tc>
                  <a:txBody>
                    <a:bodyPr/>
                    <a:lstStyle/>
                    <a:p>
                      <a:pPr algn="l"/>
                      <a:r>
                        <a:rPr lang="es-AR" sz="869" b="1" noProof="0" dirty="0">
                          <a:solidFill>
                            <a:srgbClr val="333333"/>
                          </a:solidFill>
                          <a:latin typeface="Calibri"/>
                        </a:rPr>
                        <a:t>PictureBox</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Image, SizeMode, BackColor, BorderStyle, Visible</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Load(), LoadAsync(), Refresh(), Show(), Hide()</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Click, LoadCompleted, SizeModeChanged, Resize, Paint</a:t>
                      </a:r>
                    </a:p>
                  </a:txBody>
                  <a:tcPr marL="60000" marR="60000" marT="30000" marB="30000" anchor="ctr">
                    <a:solidFill>
                      <a:srgbClr val="F5F0F2"/>
                    </a:solidFill>
                  </a:tcPr>
                </a:tc>
                <a:extLst>
                  <a:ext uri="{0D108BD9-81ED-4DB2-BD59-A6C34878D82A}">
                    <a16:rowId xmlns:a16="http://schemas.microsoft.com/office/drawing/2014/main" val="10006"/>
                  </a:ext>
                </a:extLst>
              </a:tr>
              <a:tr h="474746">
                <a:tc>
                  <a:txBody>
                    <a:bodyPr/>
                    <a:lstStyle/>
                    <a:p>
                      <a:pPr algn="l"/>
                      <a:r>
                        <a:rPr lang="es-AR" sz="869" b="1" noProof="0" dirty="0">
                          <a:solidFill>
                            <a:srgbClr val="333333"/>
                          </a:solidFill>
                          <a:latin typeface="Calibri"/>
                        </a:rPr>
                        <a:t>ProgressBar</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Value, Minimum, Maximum, Step, Style</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Increment(), PerformStep(), Refresh(), Show(), Hide()</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ValueChanged, Click, EnabledChanged, VisibleChanged, Resize</a:t>
                      </a:r>
                    </a:p>
                  </a:txBody>
                  <a:tcPr marL="60000" marR="60000" marT="30000" marB="30000" anchor="ctr">
                    <a:solidFill>
                      <a:srgbClr val="FFFFFF"/>
                    </a:solidFill>
                  </a:tcPr>
                </a:tc>
                <a:extLst>
                  <a:ext uri="{0D108BD9-81ED-4DB2-BD59-A6C34878D82A}">
                    <a16:rowId xmlns:a16="http://schemas.microsoft.com/office/drawing/2014/main" val="10007"/>
                  </a:ext>
                </a:extLst>
              </a:tr>
              <a:tr h="474746">
                <a:tc>
                  <a:txBody>
                    <a:bodyPr/>
                    <a:lstStyle/>
                    <a:p>
                      <a:pPr algn="l"/>
                      <a:r>
                        <a:rPr lang="es-AR" sz="869" b="1" noProof="0" dirty="0">
                          <a:solidFill>
                            <a:srgbClr val="333333"/>
                          </a:solidFill>
                          <a:latin typeface="Calibri"/>
                        </a:rPr>
                        <a:t>DataGridView</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Columns, Rows, DataSource, ReadOnly, SelectionMode</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Refresh(), ClearSelection(), Sort(), AutoResizeColumns(), Rows.Add()</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CellClick, CellValueChanged, SelectionChanged, RowsAdded, CellFormatting</a:t>
                      </a:r>
                    </a:p>
                  </a:txBody>
                  <a:tcPr marL="60000" marR="60000" marT="30000" marB="30000" anchor="ctr">
                    <a:solidFill>
                      <a:srgbClr val="F5F0F2"/>
                    </a:solidFill>
                  </a:tcPr>
                </a:tc>
                <a:extLst>
                  <a:ext uri="{0D108BD9-81ED-4DB2-BD59-A6C34878D82A}">
                    <a16:rowId xmlns:a16="http://schemas.microsoft.com/office/drawing/2014/main" val="10008"/>
                  </a:ext>
                </a:extLst>
              </a:tr>
              <a:tr h="474746">
                <a:tc>
                  <a:txBody>
                    <a:bodyPr/>
                    <a:lstStyle/>
                    <a:p>
                      <a:pPr algn="l"/>
                      <a:r>
                        <a:rPr lang="es-AR" sz="869" b="1" noProof="0" dirty="0">
                          <a:solidFill>
                            <a:srgbClr val="333333"/>
                          </a:solidFill>
                          <a:latin typeface="Calibri"/>
                        </a:rPr>
                        <a:t>MenuStrip</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Items, BackColor, Font, Visible, Dock</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Items.Add(), Focus(), Show(), Hide(), Refresh()</a:t>
                      </a:r>
                    </a:p>
                  </a:txBody>
                  <a:tcPr marL="60000" marR="60000" marT="30000" marB="30000" anchor="ctr">
                    <a:solidFill>
                      <a:srgbClr val="FFFFFF"/>
                    </a:solidFill>
                  </a:tcPr>
                </a:tc>
                <a:tc>
                  <a:txBody>
                    <a:bodyPr/>
                    <a:lstStyle/>
                    <a:p>
                      <a:pPr algn="l"/>
                      <a:r>
                        <a:rPr lang="es-AR" sz="869" b="0" noProof="0" dirty="0">
                          <a:solidFill>
                            <a:srgbClr val="333333"/>
                          </a:solidFill>
                          <a:latin typeface="Calibri"/>
                        </a:rPr>
                        <a:t>ItemClicked, Click, MenuActivate, MenuDeactivate, VisibleChanged</a:t>
                      </a:r>
                    </a:p>
                  </a:txBody>
                  <a:tcPr marL="60000" marR="60000" marT="30000" marB="30000" anchor="ctr">
                    <a:solidFill>
                      <a:srgbClr val="FFFFFF"/>
                    </a:solidFill>
                  </a:tcPr>
                </a:tc>
                <a:extLst>
                  <a:ext uri="{0D108BD9-81ED-4DB2-BD59-A6C34878D82A}">
                    <a16:rowId xmlns:a16="http://schemas.microsoft.com/office/drawing/2014/main" val="10009"/>
                  </a:ext>
                </a:extLst>
              </a:tr>
              <a:tr h="474746">
                <a:tc>
                  <a:txBody>
                    <a:bodyPr/>
                    <a:lstStyle/>
                    <a:p>
                      <a:pPr algn="l"/>
                      <a:r>
                        <a:rPr lang="es-AR" sz="869" b="1" noProof="0" dirty="0">
                          <a:solidFill>
                            <a:srgbClr val="333333"/>
                          </a:solidFill>
                          <a:latin typeface="Calibri"/>
                        </a:rPr>
                        <a:t>ListView</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Items, View, Columns, MultiSelect, CheckBoxes</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Items.Add(), Items.Clear(), Sort(), Refresh(), EnsureVisible()</a:t>
                      </a:r>
                    </a:p>
                  </a:txBody>
                  <a:tcPr marL="60000" marR="60000" marT="30000" marB="30000" anchor="ctr">
                    <a:solidFill>
                      <a:srgbClr val="F5F0F2"/>
                    </a:solidFill>
                  </a:tcPr>
                </a:tc>
                <a:tc>
                  <a:txBody>
                    <a:bodyPr/>
                    <a:lstStyle/>
                    <a:p>
                      <a:pPr algn="l"/>
                      <a:r>
                        <a:rPr lang="es-AR" sz="869" b="0" noProof="0" dirty="0">
                          <a:solidFill>
                            <a:srgbClr val="333333"/>
                          </a:solidFill>
                          <a:latin typeface="Calibri"/>
                        </a:rPr>
                        <a:t>SelectedIndexChanged, ItemActivate, ItemCheck, Click, ColumnClick</a:t>
                      </a:r>
                    </a:p>
                  </a:txBody>
                  <a:tcPr marL="60000" marR="60000" marT="30000" marB="30000" anchor="ctr">
                    <a:solidFill>
                      <a:srgbClr val="F5F0F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600" b="1" noProof="0" dirty="0">
                <a:solidFill>
                  <a:srgbClr val="FFFFFF"/>
                </a:solidFill>
                <a:latin typeface="Calibri"/>
              </a:rPr>
              <a:t>Cuadros de dialogo (I)</a:t>
            </a:r>
          </a:p>
        </p:txBody>
      </p:sp>
      <p:sp>
        <p:nvSpPr>
          <p:cNvPr id="3" name="TextBox 2"/>
          <p:cNvSpPr txBox="1"/>
          <p:nvPr/>
        </p:nvSpPr>
        <p:spPr>
          <a:xfrm>
            <a:off x="440436" y="1240536"/>
            <a:ext cx="11309985" cy="792718"/>
          </a:xfrm>
          <a:prstGeom prst="rect">
            <a:avLst/>
          </a:prstGeom>
          <a:noFill/>
        </p:spPr>
        <p:txBody>
          <a:bodyPr wrap="square">
            <a:spAutoFit/>
          </a:bodyPr>
          <a:lstStyle/>
          <a:p>
            <a:pPr algn="l">
              <a:lnSpc>
                <a:spcPct val="105000"/>
              </a:lnSpc>
              <a:spcBef>
                <a:spcPts val="400"/>
              </a:spcBef>
            </a:pPr>
            <a:r>
              <a:rPr lang="es-AR" sz="1250" b="1" i="0" noProof="0" dirty="0">
                <a:solidFill>
                  <a:srgbClr val="333333"/>
                </a:solidFill>
                <a:latin typeface="Calibri"/>
              </a:rPr>
              <a:t>ColorDialog</a:t>
            </a:r>
            <a:r>
              <a:rPr lang="es-AR" sz="1250" b="0" i="0" noProof="0" dirty="0">
                <a:solidFill>
                  <a:srgbClr val="333333"/>
                </a:solidFill>
                <a:latin typeface="Calibri"/>
              </a:rPr>
              <a:t>: permite elegir un color; se usa con .ShowDialog() y se lee el resultado en la propiedad .Color.</a:t>
            </a:r>
          </a:p>
          <a:p>
            <a:pPr algn="l">
              <a:lnSpc>
                <a:spcPct val="105000"/>
              </a:lnSpc>
              <a:spcBef>
                <a:spcPts val="400"/>
              </a:spcBef>
            </a:pPr>
            <a:r>
              <a:rPr lang="es-AR" sz="1250" b="1" i="0" noProof="0" dirty="0">
                <a:solidFill>
                  <a:srgbClr val="333333"/>
                </a:solidFill>
                <a:latin typeface="Calibri"/>
              </a:rPr>
              <a:t>FontDialog</a:t>
            </a:r>
            <a:r>
              <a:rPr lang="es-AR" sz="1250" b="0" i="0" noProof="0" dirty="0">
                <a:solidFill>
                  <a:srgbClr val="333333"/>
                </a:solidFill>
                <a:latin typeface="Calibri"/>
              </a:rPr>
              <a:t>: permite elegir una tipografía, tamaño y estilo; el resultado queda en la propiedad .Font.</a:t>
            </a:r>
          </a:p>
          <a:p>
            <a:pPr algn="l">
              <a:lnSpc>
                <a:spcPct val="105000"/>
              </a:lnSpc>
              <a:spcBef>
                <a:spcPts val="400"/>
              </a:spcBef>
            </a:pPr>
            <a:r>
              <a:rPr lang="es-AR" sz="1250" b="1" i="0" noProof="0" dirty="0">
                <a:solidFill>
                  <a:srgbClr val="333333"/>
                </a:solidFill>
                <a:latin typeface="Calibri"/>
              </a:rPr>
              <a:t>FolderBrowserDialog</a:t>
            </a:r>
            <a:r>
              <a:rPr lang="es-AR" sz="1250" b="0" i="0" noProof="0" dirty="0">
                <a:solidFill>
                  <a:srgbClr val="333333"/>
                </a:solidFill>
                <a:latin typeface="Calibri"/>
              </a:rPr>
              <a:t>: permite seleccionar una carpeta del sistema de archivos; la ruta elegida queda en .SelectedPath.</a:t>
            </a:r>
          </a:p>
        </p:txBody>
      </p:sp>
      <p:pic>
        <p:nvPicPr>
          <p:cNvPr id="4" name="Picture 3" descr="dialogs1.jpg"/>
          <p:cNvPicPr>
            <a:picLocks noChangeAspect="1"/>
          </p:cNvPicPr>
          <p:nvPr/>
        </p:nvPicPr>
        <p:blipFill>
          <a:blip r:embed="rId2"/>
          <a:stretch>
            <a:fillRect/>
          </a:stretch>
        </p:blipFill>
        <p:spPr>
          <a:xfrm>
            <a:off x="440436" y="2420021"/>
            <a:ext cx="11309985" cy="3958494"/>
          </a:xfrm>
          <a:prstGeom prst="rect">
            <a:avLst/>
          </a:prstGeom>
        </p:spPr>
      </p:pic>
      <p:sp>
        <p:nvSpPr>
          <p:cNvPr id="5" name="TextBox 4"/>
          <p:cNvSpPr txBox="1"/>
          <p:nvPr/>
        </p:nvSpPr>
        <p:spPr>
          <a:xfrm>
            <a:off x="440436" y="6448000"/>
            <a:ext cx="11309985" cy="262892"/>
          </a:xfrm>
          <a:prstGeom prst="rect">
            <a:avLst/>
          </a:prstGeom>
          <a:noFill/>
        </p:spPr>
        <p:txBody>
          <a:bodyPr wrap="square">
            <a:spAutoFit/>
          </a:bodyPr>
          <a:lstStyle/>
          <a:p>
            <a:pPr algn="ctr">
              <a:lnSpc>
                <a:spcPct val="105000"/>
              </a:lnSpc>
              <a:spcBef>
                <a:spcPts val="0"/>
              </a:spcBef>
            </a:pPr>
            <a:r>
              <a:rPr lang="es-AR" sz="1100" b="0" i="0" noProof="0" dirty="0">
                <a:solidFill>
                  <a:srgbClr val="4D1234"/>
                </a:solidFill>
                <a:latin typeface="Calibri"/>
              </a:rPr>
              <a:t>colorDialog1.ShowDialog();  this.BackColor = colorDialog1.Color;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600" b="1" noProof="0" dirty="0">
                <a:solidFill>
                  <a:srgbClr val="FFFFFF"/>
                </a:solidFill>
                <a:latin typeface="Calibri"/>
              </a:rPr>
              <a:t>Cuadros de dialogo (II) e impresion</a:t>
            </a:r>
          </a:p>
        </p:txBody>
      </p:sp>
      <p:sp>
        <p:nvSpPr>
          <p:cNvPr id="3" name="TextBox 2"/>
          <p:cNvSpPr txBox="1"/>
          <p:nvPr/>
        </p:nvSpPr>
        <p:spPr>
          <a:xfrm>
            <a:off x="440436" y="1240536"/>
            <a:ext cx="11309985" cy="994696"/>
          </a:xfrm>
          <a:prstGeom prst="rect">
            <a:avLst/>
          </a:prstGeom>
          <a:noFill/>
        </p:spPr>
        <p:txBody>
          <a:bodyPr wrap="square">
            <a:spAutoFit/>
          </a:bodyPr>
          <a:lstStyle/>
          <a:p>
            <a:pPr algn="l">
              <a:lnSpc>
                <a:spcPct val="105000"/>
              </a:lnSpc>
              <a:spcBef>
                <a:spcPts val="400"/>
              </a:spcBef>
            </a:pPr>
            <a:r>
              <a:rPr lang="es-AR" sz="1250" b="1" i="0" noProof="0" dirty="0">
                <a:solidFill>
                  <a:srgbClr val="333333"/>
                </a:solidFill>
                <a:latin typeface="Calibri"/>
              </a:rPr>
              <a:t>OpenFileDialog</a:t>
            </a:r>
            <a:r>
              <a:rPr lang="es-AR" sz="1250" b="0" i="0" noProof="0" dirty="0">
                <a:solidFill>
                  <a:srgbClr val="333333"/>
                </a:solidFill>
                <a:latin typeface="Calibri"/>
              </a:rPr>
              <a:t>: permite elegir un archivo existente para abrirlo; la ruta queda en .FileName.</a:t>
            </a:r>
          </a:p>
          <a:p>
            <a:pPr algn="l">
              <a:lnSpc>
                <a:spcPct val="105000"/>
              </a:lnSpc>
              <a:spcBef>
                <a:spcPts val="400"/>
              </a:spcBef>
            </a:pPr>
            <a:r>
              <a:rPr lang="es-AR" sz="1250" b="1" i="0" noProof="0" dirty="0">
                <a:solidFill>
                  <a:srgbClr val="333333"/>
                </a:solidFill>
                <a:latin typeface="Calibri"/>
              </a:rPr>
              <a:t>SaveFileDialog</a:t>
            </a:r>
            <a:r>
              <a:rPr lang="es-AR" sz="1250" b="0" i="0" noProof="0" dirty="0">
                <a:solidFill>
                  <a:srgbClr val="333333"/>
                </a:solidFill>
                <a:latin typeface="Calibri"/>
              </a:rPr>
              <a:t>: permite elegir donde y con que nombre guardar un archivo.</a:t>
            </a:r>
          </a:p>
          <a:p>
            <a:pPr algn="l">
              <a:lnSpc>
                <a:spcPct val="105000"/>
              </a:lnSpc>
              <a:spcBef>
                <a:spcPts val="400"/>
              </a:spcBef>
            </a:pPr>
            <a:r>
              <a:rPr lang="es-AR" sz="1250" b="1" i="0" noProof="0" dirty="0">
                <a:solidFill>
                  <a:srgbClr val="333333"/>
                </a:solidFill>
                <a:latin typeface="Calibri"/>
              </a:rPr>
              <a:t>PrintDialog</a:t>
            </a:r>
            <a:r>
              <a:rPr lang="es-AR" sz="1250" b="0" i="0" noProof="0" dirty="0">
                <a:solidFill>
                  <a:srgbClr val="333333"/>
                </a:solidFill>
                <a:latin typeface="Calibri"/>
              </a:rPr>
              <a:t>: permite configurar y enviar un trabajo a la impresora, junto con un objeto PrintDocument. La impresion se implementa manejando el evento PrintPage de PrintDocument.</a:t>
            </a:r>
          </a:p>
        </p:txBody>
      </p:sp>
      <p:pic>
        <p:nvPicPr>
          <p:cNvPr id="4" name="Picture 3" descr="dialogs2.jpg"/>
          <p:cNvPicPr>
            <a:picLocks noChangeAspect="1"/>
          </p:cNvPicPr>
          <p:nvPr/>
        </p:nvPicPr>
        <p:blipFill>
          <a:blip r:embed="rId2"/>
          <a:stretch>
            <a:fillRect/>
          </a:stretch>
        </p:blipFill>
        <p:spPr>
          <a:xfrm>
            <a:off x="440436" y="2530021"/>
            <a:ext cx="11309985" cy="395849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Ejercicio 2 (C#)</a:t>
            </a:r>
          </a:p>
        </p:txBody>
      </p:sp>
      <p:sp>
        <p:nvSpPr>
          <p:cNvPr id="3" name="TextBox 2"/>
          <p:cNvSpPr txBox="1"/>
          <p:nvPr/>
        </p:nvSpPr>
        <p:spPr>
          <a:xfrm>
            <a:off x="440436" y="1240536"/>
            <a:ext cx="5654992" cy="2730171"/>
          </a:xfrm>
          <a:prstGeom prst="rect">
            <a:avLst/>
          </a:prstGeom>
          <a:noFill/>
        </p:spPr>
        <p:txBody>
          <a:bodyPr wrap="square">
            <a:spAutoFit/>
          </a:bodyPr>
          <a:lstStyle/>
          <a:p>
            <a:pPr algn="l">
              <a:lnSpc>
                <a:spcPct val="105000"/>
              </a:lnSpc>
              <a:spcBef>
                <a:spcPts val="700"/>
              </a:spcBef>
            </a:pPr>
            <a:r>
              <a:rPr lang="es-AR" sz="1450" b="0" i="0" noProof="0" dirty="0">
                <a:solidFill>
                  <a:srgbClr val="333333"/>
                </a:solidFill>
                <a:latin typeface="Calibri"/>
              </a:rPr>
              <a:t>•  Desarrollar un formulario frmInscripcion que permita:</a:t>
            </a:r>
          </a:p>
          <a:p>
            <a:pPr algn="l">
              <a:lnSpc>
                <a:spcPct val="105000"/>
              </a:lnSpc>
              <a:spcBef>
                <a:spcPts val="700"/>
              </a:spcBef>
            </a:pPr>
            <a:r>
              <a:rPr lang="es-AR" sz="1450" b="0" i="0" noProof="0" dirty="0">
                <a:solidFill>
                  <a:srgbClr val="333333"/>
                </a:solidFill>
                <a:latin typeface="Calibri"/>
              </a:rPr>
              <a:t>•  Elegir un curso de un ComboBox con al menos 5 items.</a:t>
            </a:r>
          </a:p>
          <a:p>
            <a:pPr algn="l">
              <a:lnSpc>
                <a:spcPct val="105000"/>
              </a:lnSpc>
              <a:spcBef>
                <a:spcPts val="700"/>
              </a:spcBef>
            </a:pPr>
            <a:r>
              <a:rPr lang="es-AR" sz="1450" b="0" i="0" noProof="0" dirty="0">
                <a:solidFill>
                  <a:srgbClr val="333333"/>
                </a:solidFill>
                <a:latin typeface="Calibri"/>
              </a:rPr>
              <a:t>•  Seleccionar la fecha de inicio con un DateTimePicker.</a:t>
            </a:r>
          </a:p>
          <a:p>
            <a:pPr algn="l">
              <a:lnSpc>
                <a:spcPct val="105000"/>
              </a:lnSpc>
              <a:spcBef>
                <a:spcPts val="700"/>
              </a:spcBef>
            </a:pPr>
            <a:r>
              <a:rPr lang="es-AR" sz="1450" b="0" i="0" noProof="0" dirty="0">
                <a:solidFill>
                  <a:srgbClr val="333333"/>
                </a:solidFill>
                <a:latin typeface="Calibri"/>
              </a:rPr>
              <a:t>•  Indicar la cantidad de cuotas con un NumericUpDown (rango 1-12) que actualice en tiempo real un ProgressBar (0 a 12).</a:t>
            </a:r>
          </a:p>
          <a:p>
            <a:pPr algn="l">
              <a:lnSpc>
                <a:spcPct val="105000"/>
              </a:lnSpc>
              <a:spcBef>
                <a:spcPts val="700"/>
              </a:spcBef>
            </a:pPr>
            <a:r>
              <a:rPr lang="es-AR" sz="1450" b="0" i="0" noProof="0" dirty="0">
                <a:solidFill>
                  <a:srgbClr val="333333"/>
                </a:solidFill>
                <a:latin typeface="Calibri"/>
              </a:rPr>
              <a:t>•  Mediante un botón, abrir un ColorDialog para cambiar el color de fondo del formulario.</a:t>
            </a:r>
          </a:p>
          <a:p>
            <a:pPr algn="l">
              <a:lnSpc>
                <a:spcPct val="105000"/>
              </a:lnSpc>
              <a:spcBef>
                <a:spcPts val="1400"/>
              </a:spcBef>
            </a:pPr>
            <a:r>
              <a:rPr lang="es-AR" sz="1450" b="0" i="0" noProof="0" dirty="0">
                <a:solidFill>
                  <a:srgbClr val="333333"/>
                </a:solidFill>
                <a:latin typeface="Calibri"/>
              </a:rPr>
              <a:t>•  Mostrar un resumen de lo seleccionado en un Label al presionar “Confirmar”.</a:t>
            </a:r>
          </a:p>
        </p:txBody>
      </p:sp>
      <p:pic>
        <p:nvPicPr>
          <p:cNvPr id="4" name="Picture 3" descr="ejercicio2_mockup.jpg"/>
          <p:cNvPicPr>
            <a:picLocks noChangeAspect="1"/>
          </p:cNvPicPr>
          <p:nvPr/>
        </p:nvPicPr>
        <p:blipFill>
          <a:blip r:embed="rId2"/>
          <a:stretch>
            <a:fillRect/>
          </a:stretch>
        </p:blipFill>
        <p:spPr>
          <a:xfrm>
            <a:off x="6255428" y="2178020"/>
            <a:ext cx="5494993" cy="35324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37586"/>
            <a:ext cx="11309985" cy="511668"/>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Solución ejercicio 2</a:t>
            </a:r>
          </a:p>
        </p:txBody>
      </p:sp>
      <p:sp>
        <p:nvSpPr>
          <p:cNvPr id="3" name="TextBox 2"/>
          <p:cNvSpPr txBox="1"/>
          <p:nvPr/>
        </p:nvSpPr>
        <p:spPr>
          <a:xfrm>
            <a:off x="440436" y="1240536"/>
            <a:ext cx="11309985" cy="340350"/>
          </a:xfrm>
          <a:prstGeom prst="rect">
            <a:avLst/>
          </a:prstGeom>
          <a:noFill/>
        </p:spPr>
        <p:txBody>
          <a:bodyPr wrap="square">
            <a:spAutoFit/>
          </a:bodyPr>
          <a:lstStyle/>
          <a:p>
            <a:pPr algn="l">
              <a:lnSpc>
                <a:spcPct val="105000"/>
              </a:lnSpc>
              <a:spcBef>
                <a:spcPts val="0"/>
              </a:spcBef>
            </a:pPr>
            <a:r>
              <a:rPr lang="es-AR" sz="1600" b="0" i="0" noProof="0" dirty="0">
                <a:solidFill>
                  <a:srgbClr val="333333"/>
                </a:solidFill>
                <a:latin typeface="Calibri"/>
              </a:rPr>
              <a:t>El código completo, comentado, con la resolución paso a paso y una captura del formulario en ejecución, esta en el archivo adjunto:</a:t>
            </a:r>
          </a:p>
        </p:txBody>
      </p:sp>
      <p:sp>
        <p:nvSpPr>
          <p:cNvPr id="4" name="TextBox 3"/>
          <p:cNvSpPr txBox="1"/>
          <p:nvPr/>
        </p:nvSpPr>
        <p:spPr>
          <a:xfrm>
            <a:off x="440436" y="1800536"/>
            <a:ext cx="11309985" cy="420000"/>
          </a:xfrm>
          <a:prstGeom prst="rect">
            <a:avLst/>
          </a:prstGeom>
          <a:solidFill>
            <a:srgbClr val="F5F0F2"/>
          </a:solidFill>
          <a:ln>
            <a:noFill/>
          </a:ln>
        </p:spPr>
        <p:txBody>
          <a:bodyPr wrap="square" anchor="ctr">
            <a:spAutoFit/>
          </a:bodyPr>
          <a:lstStyle/>
          <a:p>
            <a:pPr algn="ctr"/>
            <a:r>
              <a:rPr lang="es-AR" sz="1800" b="1" noProof="0" dirty="0">
                <a:solidFill>
                  <a:srgbClr val="4D1234"/>
                </a:solidFill>
                <a:latin typeface="Courier New"/>
              </a:rPr>
              <a:t>Ejercicio2_FormularioInscripcion.docx</a:t>
            </a:r>
          </a:p>
        </p:txBody>
      </p:sp>
      <p:sp>
        <p:nvSpPr>
          <p:cNvPr id="5" name="TextBox 4"/>
          <p:cNvSpPr txBox="1"/>
          <p:nvPr/>
        </p:nvSpPr>
        <p:spPr>
          <a:xfrm>
            <a:off x="440436" y="2360536"/>
            <a:ext cx="11309985" cy="519822"/>
          </a:xfrm>
          <a:prstGeom prst="rect">
            <a:avLst/>
          </a:prstGeom>
          <a:noFill/>
        </p:spPr>
        <p:txBody>
          <a:bodyPr wrap="square">
            <a:spAutoFit/>
          </a:bodyPr>
          <a:lstStyle/>
          <a:p>
            <a:pPr algn="l">
              <a:lnSpc>
                <a:spcPct val="105000"/>
              </a:lnSpc>
              <a:spcBef>
                <a:spcPts val="600"/>
              </a:spcBef>
            </a:pPr>
            <a:r>
              <a:rPr lang="es-AR" sz="1350" b="0" i="0" noProof="0" dirty="0">
                <a:solidFill>
                  <a:srgbClr val="333333"/>
                </a:solidFill>
                <a:latin typeface="Calibri"/>
              </a:rPr>
              <a:t>•  Incluye: el código comentado del ComboBox, DateTimePicker, NumericUpDown enlazado al ProgressBar (evento ValueChanged), el ColorDialog aplicado al formulario y el armado del resumen en el Label.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Procedimientos y funciones</a:t>
            </a:r>
          </a:p>
        </p:txBody>
      </p:sp>
      <p:sp>
        <p:nvSpPr>
          <p:cNvPr id="3" name="TextBox 2"/>
          <p:cNvSpPr txBox="1"/>
          <p:nvPr/>
        </p:nvSpPr>
        <p:spPr>
          <a:xfrm>
            <a:off x="440436" y="1240536"/>
            <a:ext cx="11309985" cy="1953163"/>
          </a:xfrm>
          <a:prstGeom prst="rect">
            <a:avLst/>
          </a:prstGeom>
          <a:noFill/>
        </p:spPr>
        <p:txBody>
          <a:bodyPr wrap="square">
            <a:spAutoFit/>
          </a:bodyPr>
          <a:lstStyle/>
          <a:p>
            <a:pPr algn="l">
              <a:lnSpc>
                <a:spcPct val="105000"/>
              </a:lnSpc>
              <a:spcBef>
                <a:spcPts val="800"/>
              </a:spcBef>
            </a:pPr>
            <a:r>
              <a:rPr lang="es-AR" sz="1450" b="1" i="0" noProof="0" dirty="0">
                <a:solidFill>
                  <a:srgbClr val="333333"/>
                </a:solidFill>
                <a:latin typeface="Calibri"/>
              </a:rPr>
              <a:t>•  Procedimiento: se declara con void (no devuelve valor).</a:t>
            </a:r>
          </a:p>
          <a:p>
            <a:pPr algn="l">
              <a:lnSpc>
                <a:spcPct val="105000"/>
              </a:lnSpc>
              <a:spcBef>
                <a:spcPts val="400"/>
              </a:spcBef>
            </a:pPr>
            <a:r>
              <a:rPr lang="es-AR" sz="1300" b="0" i="0" noProof="0" dirty="0">
                <a:solidFill>
                  <a:srgbClr val="4D1234"/>
                </a:solidFill>
                <a:latin typeface="Courier New"/>
              </a:rPr>
              <a:t>void Procesar(int x) { ... }</a:t>
            </a:r>
          </a:p>
          <a:p>
            <a:pPr algn="l">
              <a:lnSpc>
                <a:spcPct val="105000"/>
              </a:lnSpc>
              <a:spcBef>
                <a:spcPts val="1600"/>
              </a:spcBef>
            </a:pPr>
            <a:r>
              <a:rPr lang="es-AR" sz="1450" b="1" i="0" noProof="0" dirty="0">
                <a:solidFill>
                  <a:srgbClr val="333333"/>
                </a:solidFill>
                <a:latin typeface="Calibri"/>
              </a:rPr>
              <a:t>•  Funcion: se declara indicando el tipo de dato que devuelve, y usa return.</a:t>
            </a:r>
          </a:p>
          <a:p>
            <a:pPr algn="l">
              <a:lnSpc>
                <a:spcPct val="105000"/>
              </a:lnSpc>
              <a:spcBef>
                <a:spcPts val="400"/>
              </a:spcBef>
            </a:pPr>
            <a:r>
              <a:rPr lang="es-AR" sz="1300" b="0" i="0" noProof="0" dirty="0">
                <a:solidFill>
                  <a:srgbClr val="4D1234"/>
                </a:solidFill>
                <a:latin typeface="Courier New"/>
              </a:rPr>
              <a:t>int Sumar(int a, int b) { return a + b; }</a:t>
            </a:r>
          </a:p>
          <a:p>
            <a:pPr algn="l">
              <a:lnSpc>
                <a:spcPct val="105000"/>
              </a:lnSpc>
              <a:spcBef>
                <a:spcPts val="1600"/>
              </a:spcBef>
            </a:pPr>
            <a:r>
              <a:rPr lang="es-AR" sz="1450" b="0" i="0" noProof="0" dirty="0">
                <a:solidFill>
                  <a:srgbClr val="333333"/>
                </a:solidFill>
                <a:latin typeface="Calibri"/>
              </a:rPr>
              <a:t>Diferencia principal: la función devuelve un valor que puede usarse en una expresión (por ejemplo, resultado = Sumar(2, 3)); el procedimiento solo ejecuta acciones.</a:t>
            </a:r>
          </a:p>
        </p:txBody>
      </p:sp>
      <p:pic>
        <p:nvPicPr>
          <p:cNvPr id="8" name="Imagen 7">
            <a:extLst>
              <a:ext uri="{FF2B5EF4-FFF2-40B4-BE49-F238E27FC236}">
                <a16:creationId xmlns:a16="http://schemas.microsoft.com/office/drawing/2014/main" id="{339B27E0-608E-AB62-E395-3815374EDF23}"/>
              </a:ext>
            </a:extLst>
          </p:cNvPr>
          <p:cNvPicPr>
            <a:picLocks noChangeAspect="1"/>
          </p:cNvPicPr>
          <p:nvPr/>
        </p:nvPicPr>
        <p:blipFill>
          <a:blip r:embed="rId2"/>
          <a:stretch>
            <a:fillRect/>
          </a:stretch>
        </p:blipFill>
        <p:spPr>
          <a:xfrm>
            <a:off x="2013965" y="4191000"/>
            <a:ext cx="8162925" cy="19621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37586"/>
            <a:ext cx="11309985" cy="511668"/>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Paso de parámetros: por valor y por referencia</a:t>
            </a:r>
          </a:p>
        </p:txBody>
      </p:sp>
      <p:sp>
        <p:nvSpPr>
          <p:cNvPr id="3" name="TextBox 2"/>
          <p:cNvSpPr txBox="1"/>
          <p:nvPr/>
        </p:nvSpPr>
        <p:spPr>
          <a:xfrm>
            <a:off x="533400" y="2272625"/>
            <a:ext cx="6107391" cy="2312749"/>
          </a:xfrm>
          <a:prstGeom prst="rect">
            <a:avLst/>
          </a:prstGeom>
          <a:noFill/>
        </p:spPr>
        <p:txBody>
          <a:bodyPr wrap="square">
            <a:spAutoFit/>
          </a:bodyPr>
          <a:lstStyle/>
          <a:p>
            <a:pPr algn="l">
              <a:lnSpc>
                <a:spcPct val="105000"/>
              </a:lnSpc>
              <a:spcBef>
                <a:spcPts val="800"/>
              </a:spcBef>
            </a:pPr>
            <a:r>
              <a:rPr lang="es-AR" sz="1400" b="0" i="0" noProof="0" dirty="0">
                <a:solidFill>
                  <a:srgbClr val="333333"/>
                </a:solidFill>
                <a:latin typeface="Calibri"/>
              </a:rPr>
              <a:t>•  Por valor (parámetro común, por ejemplo int x): el método recibe una COPIA del dato; los cambios dentro del método no afectan a la variable original de quien lo llamo.</a:t>
            </a:r>
          </a:p>
          <a:p>
            <a:pPr algn="l">
              <a:lnSpc>
                <a:spcPct val="105000"/>
              </a:lnSpc>
              <a:spcBef>
                <a:spcPts val="1600"/>
              </a:spcBef>
            </a:pPr>
            <a:r>
              <a:rPr lang="es-AR" sz="1400" b="0" i="0" noProof="0" dirty="0">
                <a:solidFill>
                  <a:srgbClr val="333333"/>
                </a:solidFill>
                <a:latin typeface="Calibri"/>
              </a:rPr>
              <a:t>•  Por referencia (parámetro con ref/out, o tipos por referencia como class): el método recibe una referencia al mismo dato en memoria; los cambios SI se reflejan en la variable original.</a:t>
            </a:r>
          </a:p>
          <a:p>
            <a:pPr algn="l">
              <a:lnSpc>
                <a:spcPct val="105000"/>
              </a:lnSpc>
              <a:spcBef>
                <a:spcPts val="1000"/>
              </a:spcBef>
            </a:pPr>
            <a:r>
              <a:rPr lang="es-AR" sz="1300" b="0" i="0" noProof="0" dirty="0">
                <a:solidFill>
                  <a:srgbClr val="4D1234"/>
                </a:solidFill>
                <a:latin typeface="Courier New"/>
              </a:rPr>
              <a:t>void Duplicar(ref int n) { n = n * 2; }</a:t>
            </a:r>
          </a:p>
          <a:p>
            <a:pPr algn="l">
              <a:lnSpc>
                <a:spcPct val="105000"/>
              </a:lnSpc>
              <a:spcBef>
                <a:spcPts val="800"/>
              </a:spcBef>
            </a:pPr>
            <a:r>
              <a:rPr lang="es-AR" sz="1400" b="0" i="1" noProof="0" dirty="0">
                <a:solidFill>
                  <a:srgbClr val="333333"/>
                </a:solidFill>
                <a:latin typeface="Calibri"/>
              </a:rPr>
              <a:t>•  Al invocarlo con Duplicar(ref x), el valor de x cambia tambien fuera del metodo.</a:t>
            </a:r>
          </a:p>
        </p:txBody>
      </p:sp>
      <p:pic>
        <p:nvPicPr>
          <p:cNvPr id="4" name="Picture 3" descr="boxing_unboxing.jpg"/>
          <p:cNvPicPr>
            <a:picLocks noChangeAspect="1"/>
          </p:cNvPicPr>
          <p:nvPr/>
        </p:nvPicPr>
        <p:blipFill>
          <a:blip r:embed="rId2"/>
          <a:stretch>
            <a:fillRect/>
          </a:stretch>
        </p:blipFill>
        <p:spPr>
          <a:xfrm>
            <a:off x="6715201" y="2272625"/>
            <a:ext cx="5042594" cy="288148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37586"/>
            <a:ext cx="11309985" cy="511668"/>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Estructuras de decisión y de repetición</a:t>
            </a:r>
          </a:p>
        </p:txBody>
      </p:sp>
      <p:sp>
        <p:nvSpPr>
          <p:cNvPr id="3" name="TextBox 2"/>
          <p:cNvSpPr txBox="1"/>
          <p:nvPr/>
        </p:nvSpPr>
        <p:spPr>
          <a:xfrm>
            <a:off x="440436" y="2057400"/>
            <a:ext cx="6107391" cy="2405851"/>
          </a:xfrm>
          <a:prstGeom prst="rect">
            <a:avLst/>
          </a:prstGeom>
          <a:noFill/>
        </p:spPr>
        <p:txBody>
          <a:bodyPr wrap="square">
            <a:spAutoFit/>
          </a:bodyPr>
          <a:lstStyle/>
          <a:p>
            <a:pPr algn="l">
              <a:lnSpc>
                <a:spcPct val="105000"/>
              </a:lnSpc>
              <a:spcBef>
                <a:spcPts val="800"/>
              </a:spcBef>
            </a:pPr>
            <a:r>
              <a:rPr lang="es-AR" sz="1400" b="1" i="0" noProof="0" dirty="0">
                <a:solidFill>
                  <a:srgbClr val="333333"/>
                </a:solidFill>
                <a:latin typeface="Calibri"/>
              </a:rPr>
              <a:t>•  Estructuras de decisión:</a:t>
            </a:r>
          </a:p>
          <a:p>
            <a:pPr algn="l">
              <a:lnSpc>
                <a:spcPct val="105000"/>
              </a:lnSpc>
              <a:spcBef>
                <a:spcPts val="800"/>
              </a:spcBef>
            </a:pPr>
            <a:r>
              <a:rPr lang="es-AR" sz="1400" b="0" i="0" noProof="0" dirty="0">
                <a:solidFill>
                  <a:srgbClr val="333333"/>
                </a:solidFill>
                <a:latin typeface="Calibri"/>
              </a:rPr>
              <a:t>•  if / else if / else: evalúan una condición booleana y ejecutan un bloque u otro.</a:t>
            </a:r>
          </a:p>
          <a:p>
            <a:pPr algn="l">
              <a:lnSpc>
                <a:spcPct val="105000"/>
              </a:lnSpc>
              <a:spcBef>
                <a:spcPts val="800"/>
              </a:spcBef>
            </a:pPr>
            <a:r>
              <a:rPr lang="es-AR" sz="1400" b="0" i="0" noProof="0" dirty="0">
                <a:solidFill>
                  <a:srgbClr val="333333"/>
                </a:solidFill>
                <a:latin typeface="Calibri"/>
              </a:rPr>
              <a:t>•  switch: compara un mismo valor contra varios casos posibles; es mas claro que if cuando se comparan muchos valores discretos de una misma variable.</a:t>
            </a:r>
          </a:p>
          <a:p>
            <a:pPr algn="l">
              <a:lnSpc>
                <a:spcPct val="105000"/>
              </a:lnSpc>
              <a:spcBef>
                <a:spcPts val="1600"/>
              </a:spcBef>
            </a:pPr>
            <a:r>
              <a:rPr lang="es-AR" sz="1400" b="1" i="0" noProof="0" dirty="0">
                <a:solidFill>
                  <a:srgbClr val="333333"/>
                </a:solidFill>
                <a:latin typeface="Calibri"/>
              </a:rPr>
              <a:t>•  Estructuras de repetición:</a:t>
            </a:r>
          </a:p>
          <a:p>
            <a:pPr algn="l">
              <a:lnSpc>
                <a:spcPct val="105000"/>
              </a:lnSpc>
              <a:spcBef>
                <a:spcPts val="800"/>
              </a:spcBef>
            </a:pPr>
            <a:r>
              <a:rPr lang="es-AR" sz="1400" b="0" i="0" noProof="0" dirty="0">
                <a:solidFill>
                  <a:srgbClr val="333333"/>
                </a:solidFill>
                <a:latin typeface="Calibri"/>
              </a:rPr>
              <a:t>•  for (cantidad de iteraciones conocida), </a:t>
            </a:r>
            <a:r>
              <a:rPr lang="es-AR" sz="1400" b="0" i="0" noProof="0" dirty="0" err="1">
                <a:solidFill>
                  <a:srgbClr val="333333"/>
                </a:solidFill>
                <a:latin typeface="Calibri"/>
              </a:rPr>
              <a:t>while</a:t>
            </a:r>
            <a:r>
              <a:rPr lang="es-AR" sz="1400" b="0" i="0" noProof="0" dirty="0">
                <a:solidFill>
                  <a:srgbClr val="333333"/>
                </a:solidFill>
                <a:latin typeface="Calibri"/>
              </a:rPr>
              <a:t> (evalúa la condición antes de cada iteración), do-</a:t>
            </a:r>
            <a:r>
              <a:rPr lang="es-AR" sz="1400" b="0" i="0" noProof="0" dirty="0" err="1">
                <a:solidFill>
                  <a:srgbClr val="333333"/>
                </a:solidFill>
                <a:latin typeface="Calibri"/>
              </a:rPr>
              <a:t>while</a:t>
            </a:r>
            <a:r>
              <a:rPr lang="es-AR" sz="1400" b="0" i="0" noProof="0" dirty="0">
                <a:solidFill>
                  <a:srgbClr val="333333"/>
                </a:solidFill>
                <a:latin typeface="Calibri"/>
              </a:rPr>
              <a:t> (evalúa después: el bloque se ejecuta al menos una vez) y foreach (recorre cada elemento de una colección o array).</a:t>
            </a:r>
          </a:p>
        </p:txBody>
      </p:sp>
      <p:pic>
        <p:nvPicPr>
          <p:cNvPr id="4" name="Picture 3" descr="flow_decision_repeat.jpg"/>
          <p:cNvPicPr>
            <a:picLocks noChangeAspect="1"/>
          </p:cNvPicPr>
          <p:nvPr/>
        </p:nvPicPr>
        <p:blipFill>
          <a:blip r:embed="rId2"/>
          <a:stretch>
            <a:fillRect/>
          </a:stretch>
        </p:blipFill>
        <p:spPr>
          <a:xfrm>
            <a:off x="6574866" y="2067232"/>
            <a:ext cx="5042594" cy="288148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Estructuras (struct), propiedad, método y evento</a:t>
            </a:r>
          </a:p>
        </p:txBody>
      </p:sp>
      <p:sp>
        <p:nvSpPr>
          <p:cNvPr id="3" name="TextBox 2"/>
          <p:cNvSpPr txBox="1"/>
          <p:nvPr/>
        </p:nvSpPr>
        <p:spPr>
          <a:xfrm>
            <a:off x="440436" y="1240536"/>
            <a:ext cx="11309985" cy="2126672"/>
          </a:xfrm>
          <a:prstGeom prst="rect">
            <a:avLst/>
          </a:prstGeom>
          <a:noFill/>
        </p:spPr>
        <p:txBody>
          <a:bodyPr wrap="square">
            <a:spAutoFit/>
          </a:bodyPr>
          <a:lstStyle/>
          <a:p>
            <a:pPr algn="l">
              <a:lnSpc>
                <a:spcPct val="105000"/>
              </a:lnSpc>
              <a:spcBef>
                <a:spcPts val="800"/>
              </a:spcBef>
            </a:pPr>
            <a:r>
              <a:rPr lang="es-AR" sz="1450" b="0" i="0" noProof="0" dirty="0">
                <a:solidFill>
                  <a:srgbClr val="333333"/>
                </a:solidFill>
                <a:latin typeface="Calibri"/>
              </a:rPr>
              <a:t>•  ¿Como se crea una estructura en el entorno visto en clase? Se declara con la palabra clave struct, agrupando varios campos relacionados en un mismo tipo por valor:</a:t>
            </a:r>
          </a:p>
          <a:p>
            <a:pPr algn="l">
              <a:lnSpc>
                <a:spcPct val="105000"/>
              </a:lnSpc>
              <a:spcBef>
                <a:spcPts val="400"/>
              </a:spcBef>
            </a:pPr>
            <a:r>
              <a:rPr lang="es-AR" sz="1250" b="0" i="0" noProof="0" dirty="0">
                <a:solidFill>
                  <a:srgbClr val="4D1234"/>
                </a:solidFill>
                <a:latin typeface="Courier New"/>
              </a:rPr>
              <a:t>struct Punto { public int X; public int Y; }</a:t>
            </a:r>
          </a:p>
          <a:p>
            <a:pPr algn="l">
              <a:lnSpc>
                <a:spcPct val="105000"/>
              </a:lnSpc>
              <a:spcBef>
                <a:spcPts val="1400"/>
              </a:spcBef>
            </a:pPr>
            <a:r>
              <a:rPr lang="es-AR" sz="1450" b="0" i="0" noProof="0" dirty="0">
                <a:solidFill>
                  <a:srgbClr val="333333"/>
                </a:solidFill>
                <a:latin typeface="Calibri"/>
              </a:rPr>
              <a:t>•  Propiedad: variable que expone el estado de un objeto o control (color, tamano, texto, etc.); puede tener logica de lectura/escritura (get/set).</a:t>
            </a:r>
          </a:p>
          <a:p>
            <a:pPr algn="l">
              <a:lnSpc>
                <a:spcPct val="105000"/>
              </a:lnSpc>
              <a:spcBef>
                <a:spcPts val="800"/>
              </a:spcBef>
            </a:pPr>
            <a:r>
              <a:rPr lang="es-AR" sz="1450" b="0" i="0" noProof="0" dirty="0">
                <a:solidFill>
                  <a:srgbClr val="333333"/>
                </a:solidFill>
                <a:latin typeface="Calibri"/>
              </a:rPr>
              <a:t>•  Método: función o procedimiento que define un comportamiento del objeto o control (por ejemplo, Focus(), Clear()).</a:t>
            </a:r>
          </a:p>
          <a:p>
            <a:pPr algn="l">
              <a:lnSpc>
                <a:spcPct val="105000"/>
              </a:lnSpc>
              <a:spcBef>
                <a:spcPts val="800"/>
              </a:spcBef>
            </a:pPr>
            <a:r>
              <a:rPr lang="es-AR" sz="1450" b="0" i="0" noProof="0" dirty="0">
                <a:solidFill>
                  <a:srgbClr val="333333"/>
                </a:solidFill>
                <a:latin typeface="Calibri"/>
              </a:rPr>
              <a:t>•  Evento: notificación que el objeto dispara ante un cambio o una interacción (por ejemplo, Click, TextChanged), a la que el programador se “suscribe” con un método manejador.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Boolean, Parse, vectores y boxing/unboxing (repaso)</a:t>
            </a:r>
          </a:p>
        </p:txBody>
      </p:sp>
      <p:sp>
        <p:nvSpPr>
          <p:cNvPr id="3" name="TextBox 2"/>
          <p:cNvSpPr txBox="1"/>
          <p:nvPr/>
        </p:nvSpPr>
        <p:spPr>
          <a:xfrm>
            <a:off x="440436" y="1240536"/>
            <a:ext cx="11309985" cy="2115387"/>
          </a:xfrm>
          <a:prstGeom prst="rect">
            <a:avLst/>
          </a:prstGeom>
          <a:noFill/>
        </p:spPr>
        <p:txBody>
          <a:bodyPr wrap="square">
            <a:spAutoFit/>
          </a:bodyPr>
          <a:lstStyle/>
          <a:p>
            <a:pPr algn="l">
              <a:lnSpc>
                <a:spcPct val="105000"/>
              </a:lnSpc>
              <a:spcBef>
                <a:spcPts val="800"/>
              </a:spcBef>
            </a:pPr>
            <a:r>
              <a:rPr lang="es-AR" sz="1350" b="0" i="0" noProof="0" dirty="0">
                <a:solidFill>
                  <a:srgbClr val="333333"/>
                </a:solidFill>
                <a:latin typeface="Calibri"/>
              </a:rPr>
              <a:t>•  El uso ideal de una variable Boolean es representar estados de dos valores (verdadero/falso): una condición cumplida o no, un check activado o no, un proceso finalizado o no.</a:t>
            </a:r>
          </a:p>
          <a:p>
            <a:pPr algn="l">
              <a:lnSpc>
                <a:spcPct val="105000"/>
              </a:lnSpc>
              <a:spcBef>
                <a:spcPts val="800"/>
              </a:spcBef>
            </a:pPr>
            <a:r>
              <a:rPr lang="es-AR" sz="1350" b="0" i="0" noProof="0" dirty="0">
                <a:solidFill>
                  <a:srgbClr val="333333"/>
                </a:solidFill>
                <a:latin typeface="Calibri"/>
              </a:rPr>
              <a:t>•  El método Parse (por ejemplo, Decimal.Parse) convierte una cadena de texto al tipo de dato correspondiente; si la cadena no tiene el formato esperado, lanza una excepción FormatException.</a:t>
            </a:r>
          </a:p>
          <a:p>
            <a:pPr algn="l">
              <a:lnSpc>
                <a:spcPct val="105000"/>
              </a:lnSpc>
              <a:spcBef>
                <a:spcPts val="1400"/>
              </a:spcBef>
            </a:pPr>
            <a:r>
              <a:rPr lang="es-AR" sz="1350" b="0" i="0" noProof="0" dirty="0">
                <a:solidFill>
                  <a:srgbClr val="333333"/>
                </a:solidFill>
                <a:latin typeface="Calibri"/>
              </a:rPr>
              <a:t>•  Un vector de 10 posiciones de tipo Decimal se declara asi:</a:t>
            </a:r>
          </a:p>
          <a:p>
            <a:pPr algn="l">
              <a:lnSpc>
                <a:spcPct val="105000"/>
              </a:lnSpc>
              <a:spcBef>
                <a:spcPts val="400"/>
              </a:spcBef>
            </a:pPr>
            <a:r>
              <a:rPr lang="es-AR" sz="1300" b="0" i="0" noProof="0" dirty="0">
                <a:solidFill>
                  <a:srgbClr val="4D1234"/>
                </a:solidFill>
                <a:latin typeface="Courier New"/>
              </a:rPr>
              <a:t>Decimal[] valores = new Decimal[10];</a:t>
            </a:r>
          </a:p>
          <a:p>
            <a:pPr algn="l">
              <a:lnSpc>
                <a:spcPct val="105000"/>
              </a:lnSpc>
              <a:spcBef>
                <a:spcPts val="1400"/>
              </a:spcBef>
            </a:pPr>
            <a:r>
              <a:rPr lang="es-AR" sz="1350" b="0" i="0" noProof="0" dirty="0">
                <a:solidFill>
                  <a:srgbClr val="333333"/>
                </a:solidFill>
                <a:latin typeface="Calibri"/>
              </a:rPr>
              <a:t>•  Boxing es convertir un tipo por valor (int, decimal, etc.) a un tipo por referencia (object); Unboxing es la conversión explicita inversa.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3000" b="1" noProof="0" dirty="0">
                <a:solidFill>
                  <a:srgbClr val="FFFFFF"/>
                </a:solidFill>
                <a:latin typeface="Calibri"/>
              </a:rPr>
              <a:t>Ejercicio integrador</a:t>
            </a:r>
          </a:p>
        </p:txBody>
      </p:sp>
      <p:sp>
        <p:nvSpPr>
          <p:cNvPr id="3" name="TextBox 2"/>
          <p:cNvSpPr txBox="1"/>
          <p:nvPr/>
        </p:nvSpPr>
        <p:spPr>
          <a:xfrm>
            <a:off x="440436" y="1240536"/>
            <a:ext cx="11309985" cy="317203"/>
          </a:xfrm>
          <a:prstGeom prst="rect">
            <a:avLst/>
          </a:prstGeom>
          <a:noFill/>
        </p:spPr>
        <p:txBody>
          <a:bodyPr wrap="square">
            <a:spAutoFit/>
          </a:bodyPr>
          <a:lstStyle/>
          <a:p>
            <a:pPr algn="l">
              <a:lnSpc>
                <a:spcPct val="105000"/>
              </a:lnSpc>
              <a:spcBef>
                <a:spcPts val="0"/>
              </a:spcBef>
            </a:pPr>
            <a:r>
              <a:rPr lang="es-AR" sz="1450" b="0" i="0" noProof="0" dirty="0">
                <a:solidFill>
                  <a:srgbClr val="333333"/>
                </a:solidFill>
                <a:latin typeface="Calibri"/>
              </a:rPr>
              <a:t>Desarrollar una aplicación frmInscripciones para gestionar inscripciones a cursos, integrando los controles vistos en la clase:</a:t>
            </a:r>
          </a:p>
        </p:txBody>
      </p:sp>
      <p:sp>
        <p:nvSpPr>
          <p:cNvPr id="4" name="TextBox 3"/>
          <p:cNvSpPr txBox="1"/>
          <p:nvPr/>
        </p:nvSpPr>
        <p:spPr>
          <a:xfrm>
            <a:off x="440436" y="2267212"/>
            <a:ext cx="6968184" cy="3257045"/>
          </a:xfrm>
          <a:prstGeom prst="rect">
            <a:avLst/>
          </a:prstGeom>
          <a:noFill/>
        </p:spPr>
        <p:txBody>
          <a:bodyPr wrap="square">
            <a:spAutoFit/>
          </a:bodyPr>
          <a:lstStyle/>
          <a:p>
            <a:pPr algn="l">
              <a:lnSpc>
                <a:spcPct val="105000"/>
              </a:lnSpc>
              <a:spcBef>
                <a:spcPts val="600"/>
              </a:spcBef>
            </a:pPr>
            <a:r>
              <a:rPr lang="es-AR" sz="1600" b="0" i="0" noProof="0" dirty="0">
                <a:solidFill>
                  <a:srgbClr val="333333"/>
                </a:solidFill>
                <a:latin typeface="Calibri"/>
              </a:rPr>
              <a:t>•  TextBox y Label para el nombre del alumno.</a:t>
            </a:r>
          </a:p>
          <a:p>
            <a:pPr algn="l">
              <a:lnSpc>
                <a:spcPct val="105000"/>
              </a:lnSpc>
              <a:spcBef>
                <a:spcPts val="600"/>
              </a:spcBef>
            </a:pPr>
            <a:r>
              <a:rPr lang="es-AR" sz="1600" b="0" i="0" noProof="0" dirty="0">
                <a:solidFill>
                  <a:srgbClr val="333333"/>
                </a:solidFill>
                <a:latin typeface="Calibri"/>
              </a:rPr>
              <a:t>•  RadioButton para elegir turno (mañana/tarde) y CheckBox para “recibe novedades”.</a:t>
            </a:r>
          </a:p>
          <a:p>
            <a:pPr algn="l">
              <a:lnSpc>
                <a:spcPct val="105000"/>
              </a:lnSpc>
              <a:spcBef>
                <a:spcPts val="600"/>
              </a:spcBef>
            </a:pPr>
            <a:r>
              <a:rPr lang="es-AR" sz="1600" b="0" i="0" noProof="0" dirty="0">
                <a:solidFill>
                  <a:srgbClr val="333333"/>
                </a:solidFill>
                <a:latin typeface="Calibri"/>
              </a:rPr>
              <a:t>•  ComboBox para elegir el curso y DateTimePicker para la fecha de inicio.</a:t>
            </a:r>
          </a:p>
          <a:p>
            <a:pPr algn="l">
              <a:lnSpc>
                <a:spcPct val="105000"/>
              </a:lnSpc>
              <a:spcBef>
                <a:spcPts val="600"/>
              </a:spcBef>
            </a:pPr>
            <a:r>
              <a:rPr lang="es-AR" sz="1600" b="0" i="0" noProof="0" dirty="0">
                <a:solidFill>
                  <a:srgbClr val="333333"/>
                </a:solidFill>
                <a:latin typeface="Calibri"/>
              </a:rPr>
              <a:t>•  NumericUpDown para la cantidad de cuotas.</a:t>
            </a:r>
          </a:p>
          <a:p>
            <a:pPr algn="l">
              <a:lnSpc>
                <a:spcPct val="105000"/>
              </a:lnSpc>
              <a:spcBef>
                <a:spcPts val="600"/>
              </a:spcBef>
            </a:pPr>
            <a:r>
              <a:rPr lang="es-AR" sz="1600" b="0" i="0" noProof="0" dirty="0">
                <a:solidFill>
                  <a:srgbClr val="333333"/>
                </a:solidFill>
                <a:latin typeface="Calibri"/>
              </a:rPr>
              <a:t>•  Button “Agregar” que cargue los datos como una nueva fila en un DataGridView.</a:t>
            </a:r>
          </a:p>
          <a:p>
            <a:pPr algn="l">
              <a:lnSpc>
                <a:spcPct val="105000"/>
              </a:lnSpc>
              <a:spcBef>
                <a:spcPts val="600"/>
              </a:spcBef>
            </a:pPr>
            <a:r>
              <a:rPr lang="es-AR" sz="1600" b="0" i="0" noProof="0" dirty="0">
                <a:solidFill>
                  <a:srgbClr val="333333"/>
                </a:solidFill>
                <a:latin typeface="Calibri"/>
              </a:rPr>
              <a:t>•  MenuStrip con un item “Archivo &gt; Salir”.</a:t>
            </a:r>
          </a:p>
          <a:p>
            <a:pPr algn="l">
              <a:lnSpc>
                <a:spcPct val="105000"/>
              </a:lnSpc>
              <a:spcBef>
                <a:spcPts val="600"/>
              </a:spcBef>
            </a:pPr>
            <a:r>
              <a:rPr lang="es-AR" sz="1600" b="0" i="0" noProof="0" dirty="0">
                <a:solidFill>
                  <a:srgbClr val="333333"/>
                </a:solidFill>
                <a:latin typeface="Calibri"/>
              </a:rPr>
              <a:t>•  PictureBox junto con un OpenFileDialog para asociar una foto (opcional).</a:t>
            </a:r>
          </a:p>
          <a:p>
            <a:pPr algn="l">
              <a:lnSpc>
                <a:spcPct val="105000"/>
              </a:lnSpc>
              <a:spcBef>
                <a:spcPts val="1000"/>
              </a:spcBef>
            </a:pPr>
            <a:r>
              <a:rPr lang="es-AR" sz="1600" b="1" i="0" noProof="0" dirty="0">
                <a:solidFill>
                  <a:srgbClr val="333333"/>
                </a:solidFill>
                <a:latin typeface="Calibri"/>
              </a:rPr>
              <a:t>•  Validar que el nombre no este vacío antes de agregar el registro.</a:t>
            </a:r>
          </a:p>
        </p:txBody>
      </p:sp>
      <p:pic>
        <p:nvPicPr>
          <p:cNvPr id="5" name="Picture 4" descr="ejercicio_integrador_mockup.jpg"/>
          <p:cNvPicPr>
            <a:picLocks noChangeAspect="1"/>
          </p:cNvPicPr>
          <p:nvPr/>
        </p:nvPicPr>
        <p:blipFill>
          <a:blip r:embed="rId2"/>
          <a:stretch>
            <a:fillRect/>
          </a:stretch>
        </p:blipFill>
        <p:spPr>
          <a:xfrm>
            <a:off x="6934200" y="2438400"/>
            <a:ext cx="5019575" cy="31790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37586"/>
            <a:ext cx="11309985" cy="511668"/>
          </a:xfrm>
          <a:prstGeom prst="rect">
            <a:avLst/>
          </a:prstGeom>
          <a:solidFill>
            <a:srgbClr val="662937"/>
          </a:solidFill>
          <a:ln>
            <a:noFill/>
          </a:ln>
        </p:spPr>
        <p:txBody>
          <a:bodyPr wrap="square" lIns="140000" tIns="40000" rIns="140000" bIns="40000" anchor="ctr">
            <a:spAutoFit/>
          </a:bodyPr>
          <a:lstStyle/>
          <a:p>
            <a:pPr algn="ctr"/>
            <a:r>
              <a:rPr lang="es-AR" sz="2800" b="1" noProof="0" dirty="0">
                <a:solidFill>
                  <a:srgbClr val="FFFFFF"/>
                </a:solidFill>
                <a:latin typeface="Calibri"/>
              </a:rPr>
              <a:t>Solución ejercicio integrador</a:t>
            </a:r>
          </a:p>
        </p:txBody>
      </p:sp>
      <p:sp>
        <p:nvSpPr>
          <p:cNvPr id="3" name="TextBox 2"/>
          <p:cNvSpPr txBox="1"/>
          <p:nvPr/>
        </p:nvSpPr>
        <p:spPr>
          <a:xfrm>
            <a:off x="440436" y="1240536"/>
            <a:ext cx="11309985" cy="340350"/>
          </a:xfrm>
          <a:prstGeom prst="rect">
            <a:avLst/>
          </a:prstGeom>
          <a:noFill/>
        </p:spPr>
        <p:txBody>
          <a:bodyPr wrap="square">
            <a:spAutoFit/>
          </a:bodyPr>
          <a:lstStyle/>
          <a:p>
            <a:pPr algn="l">
              <a:lnSpc>
                <a:spcPct val="105000"/>
              </a:lnSpc>
              <a:spcBef>
                <a:spcPts val="0"/>
              </a:spcBef>
            </a:pPr>
            <a:r>
              <a:rPr lang="es-AR" sz="1600" b="0" i="0" noProof="0" dirty="0">
                <a:solidFill>
                  <a:srgbClr val="333333"/>
                </a:solidFill>
                <a:latin typeface="Calibri"/>
              </a:rPr>
              <a:t>El código completo, comentado, con la resolución paso a paso y una captura del formulario en ejecución, esta en el archivo adjunto:</a:t>
            </a:r>
          </a:p>
        </p:txBody>
      </p:sp>
      <p:sp>
        <p:nvSpPr>
          <p:cNvPr id="4" name="TextBox 3"/>
          <p:cNvSpPr txBox="1"/>
          <p:nvPr/>
        </p:nvSpPr>
        <p:spPr>
          <a:xfrm>
            <a:off x="440436" y="1800536"/>
            <a:ext cx="11309985" cy="420000"/>
          </a:xfrm>
          <a:prstGeom prst="rect">
            <a:avLst/>
          </a:prstGeom>
          <a:solidFill>
            <a:srgbClr val="F5F0F2"/>
          </a:solidFill>
          <a:ln>
            <a:noFill/>
          </a:ln>
        </p:spPr>
        <p:txBody>
          <a:bodyPr wrap="square" anchor="ctr">
            <a:spAutoFit/>
          </a:bodyPr>
          <a:lstStyle/>
          <a:p>
            <a:pPr algn="ctr"/>
            <a:r>
              <a:rPr lang="es-AR" sz="1800" b="1" noProof="0" dirty="0">
                <a:solidFill>
                  <a:srgbClr val="4D1234"/>
                </a:solidFill>
                <a:latin typeface="Courier New"/>
              </a:rPr>
              <a:t>EjercicioIntegrador_GestionInscripciones.docx</a:t>
            </a:r>
          </a:p>
        </p:txBody>
      </p:sp>
      <p:sp>
        <p:nvSpPr>
          <p:cNvPr id="5" name="TextBox 4"/>
          <p:cNvSpPr txBox="1"/>
          <p:nvPr/>
        </p:nvSpPr>
        <p:spPr>
          <a:xfrm>
            <a:off x="440436" y="2360536"/>
            <a:ext cx="11309985" cy="519822"/>
          </a:xfrm>
          <a:prstGeom prst="rect">
            <a:avLst/>
          </a:prstGeom>
          <a:noFill/>
        </p:spPr>
        <p:txBody>
          <a:bodyPr wrap="square">
            <a:spAutoFit/>
          </a:bodyPr>
          <a:lstStyle/>
          <a:p>
            <a:pPr algn="l">
              <a:lnSpc>
                <a:spcPct val="105000"/>
              </a:lnSpc>
              <a:spcBef>
                <a:spcPts val="600"/>
              </a:spcBef>
            </a:pPr>
            <a:r>
              <a:rPr lang="es-AR" sz="1350" b="0" i="0" noProof="0" dirty="0">
                <a:solidFill>
                  <a:srgbClr val="333333"/>
                </a:solidFill>
                <a:latin typeface="Calibri"/>
              </a:rPr>
              <a:t>•  Incluye: el formulario completo con los 8 controles integrados, el código comentado del evento Click de “Agregar” (validación, carga en el DataGridView), el MenuStrip y el uso de OpenFileDialog + PictureBox, con la explicación de una ejecución de ejemplo.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460669"/>
            <a:ext cx="11309985" cy="465502"/>
          </a:xfrm>
          <a:prstGeom prst="rect">
            <a:avLst/>
          </a:prstGeom>
          <a:solidFill>
            <a:srgbClr val="662937"/>
          </a:solidFill>
          <a:ln>
            <a:noFill/>
          </a:ln>
        </p:spPr>
        <p:txBody>
          <a:bodyPr wrap="square" lIns="140000" tIns="40000" rIns="140000" bIns="40000" anchor="ctr">
            <a:spAutoFit/>
          </a:bodyPr>
          <a:lstStyle/>
          <a:p>
            <a:pPr algn="ctr"/>
            <a:r>
              <a:rPr lang="es-AR" sz="2500" b="1" noProof="0" dirty="0">
                <a:solidFill>
                  <a:srgbClr val="FFFFFF"/>
                </a:solidFill>
                <a:latin typeface="Calibri"/>
              </a:rPr>
              <a:t>Trabajos prácticos y actividad evaluativa de cierre</a:t>
            </a:r>
          </a:p>
        </p:txBody>
      </p:sp>
      <p:sp>
        <p:nvSpPr>
          <p:cNvPr id="3" name="TextBox 2"/>
          <p:cNvSpPr txBox="1"/>
          <p:nvPr/>
        </p:nvSpPr>
        <p:spPr>
          <a:xfrm>
            <a:off x="440436" y="1240536"/>
            <a:ext cx="11309985" cy="2802498"/>
          </a:xfrm>
          <a:prstGeom prst="rect">
            <a:avLst/>
          </a:prstGeom>
          <a:noFill/>
        </p:spPr>
        <p:txBody>
          <a:bodyPr wrap="square">
            <a:spAutoFit/>
          </a:bodyPr>
          <a:lstStyle/>
          <a:p>
            <a:pPr algn="l">
              <a:lnSpc>
                <a:spcPct val="105000"/>
              </a:lnSpc>
              <a:spcBef>
                <a:spcPts val="1000"/>
              </a:spcBef>
            </a:pPr>
            <a:r>
              <a:rPr lang="es-AR" sz="1500" b="1" i="0" noProof="0" dirty="0">
                <a:solidFill>
                  <a:srgbClr val="4D1234"/>
                </a:solidFill>
                <a:latin typeface="Calibri"/>
              </a:rPr>
              <a:t>•  TP2 - Guia de abordaje conceptual:</a:t>
            </a:r>
          </a:p>
          <a:p>
            <a:pPr algn="l">
              <a:lnSpc>
                <a:spcPct val="105000"/>
              </a:lnSpc>
              <a:spcBef>
                <a:spcPts val="200"/>
              </a:spcBef>
            </a:pPr>
            <a:r>
              <a:rPr lang="es-AR" sz="1500" b="0" i="0" noProof="0" dirty="0">
                <a:solidFill>
                  <a:srgbClr val="333333"/>
                </a:solidFill>
                <a:latin typeface="Calibri"/>
              </a:rPr>
              <a:t>cuestionario de 30 preguntas que recorre la programación visual, el entorno de Visual Studio (Solution Explorer, Properties, Toolbox), Solución y Proyecto, el formulario, propiedades/métodos/eventos de los controles trabajados en esta clase, y un repaso de procedimientos, funciones, estructuras de control y boxing/unboxing.</a:t>
            </a:r>
          </a:p>
          <a:p>
            <a:pPr algn="l">
              <a:lnSpc>
                <a:spcPct val="105000"/>
              </a:lnSpc>
              <a:spcBef>
                <a:spcPts val="1800"/>
              </a:spcBef>
            </a:pPr>
            <a:r>
              <a:rPr lang="es-AR" sz="1500" b="1" i="0" noProof="0" dirty="0">
                <a:solidFill>
                  <a:srgbClr val="4D1234"/>
                </a:solidFill>
                <a:latin typeface="Calibri"/>
              </a:rPr>
              <a:t>•  TP3 - Guia de trabajos prácticos:</a:t>
            </a:r>
          </a:p>
          <a:p>
            <a:pPr algn="l">
              <a:lnSpc>
                <a:spcPct val="105000"/>
              </a:lnSpc>
              <a:spcBef>
                <a:spcPts val="200"/>
              </a:spcBef>
            </a:pPr>
            <a:r>
              <a:rPr lang="es-AR" sz="1500" b="0" i="0" noProof="0" dirty="0">
                <a:solidFill>
                  <a:srgbClr val="333333"/>
                </a:solidFill>
                <a:latin typeface="Calibri"/>
              </a:rPr>
              <a:t>ejercicios de aplicación para resolver con los contenidos de toda la Unidad 1.</a:t>
            </a:r>
          </a:p>
          <a:p>
            <a:pPr algn="l">
              <a:lnSpc>
                <a:spcPct val="105000"/>
              </a:lnSpc>
              <a:spcBef>
                <a:spcPts val="1800"/>
              </a:spcBef>
            </a:pPr>
            <a:r>
              <a:rPr lang="es-AR" sz="1500" b="1" i="0" noProof="0" dirty="0">
                <a:solidFill>
                  <a:srgbClr val="4D1234"/>
                </a:solidFill>
                <a:latin typeface="Calibri"/>
              </a:rPr>
              <a:t>•  Actividad evaluativa de cierre:</a:t>
            </a:r>
          </a:p>
          <a:p>
            <a:pPr algn="l">
              <a:lnSpc>
                <a:spcPct val="105000"/>
              </a:lnSpc>
              <a:spcBef>
                <a:spcPts val="200"/>
              </a:spcBef>
            </a:pPr>
            <a:r>
              <a:rPr lang="es-AR" sz="1500" b="0" i="0" noProof="0" dirty="0">
                <a:solidFill>
                  <a:srgbClr val="333333"/>
                </a:solidFill>
                <a:latin typeface="Calibri"/>
              </a:rPr>
              <a:t>a través de un cuestionario tipo (el TP2), se abordan los temas conceptuales de formularios de WinForms, controles de usuario, propiedades/métodos/eventos y variables y tipos de datos.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0436" y="274320"/>
            <a:ext cx="11309985" cy="838200"/>
          </a:xfrm>
          <a:prstGeom prst="rect">
            <a:avLst/>
          </a:prstGeom>
          <a:solidFill>
            <a:srgbClr val="662937"/>
          </a:solidFill>
          <a:ln>
            <a:noFill/>
          </a:ln>
        </p:spPr>
        <p:txBody>
          <a:bodyPr wrap="square" lIns="140000" tIns="40000" rIns="140000" bIns="40000" anchor="ctr">
            <a:spAutoFit/>
          </a:bodyPr>
          <a:lstStyle/>
          <a:p>
            <a:pPr algn="ctr"/>
            <a:r>
              <a:rPr lang="es-AR" sz="2600" b="1" noProof="0" dirty="0">
                <a:solidFill>
                  <a:srgbClr val="FFFFFF"/>
                </a:solidFill>
                <a:latin typeface="Calibri"/>
              </a:rPr>
              <a:t>Debate de cierre de la clase 3</a:t>
            </a:r>
          </a:p>
        </p:txBody>
      </p:sp>
      <p:sp>
        <p:nvSpPr>
          <p:cNvPr id="3" name="TextBox 2"/>
          <p:cNvSpPr txBox="1"/>
          <p:nvPr/>
        </p:nvSpPr>
        <p:spPr>
          <a:xfrm>
            <a:off x="440436" y="3505200"/>
            <a:ext cx="11309985" cy="324897"/>
          </a:xfrm>
          <a:prstGeom prst="rect">
            <a:avLst/>
          </a:prstGeom>
          <a:noFill/>
        </p:spPr>
        <p:txBody>
          <a:bodyPr wrap="square">
            <a:spAutoFit/>
          </a:bodyPr>
          <a:lstStyle/>
          <a:p>
            <a:pPr algn="l">
              <a:lnSpc>
                <a:spcPct val="105000"/>
              </a:lnSpc>
              <a:spcBef>
                <a:spcPts val="1000"/>
              </a:spcBef>
            </a:pPr>
            <a:r>
              <a:rPr lang="es-AR" sz="1500" b="0" i="0" noProof="0" dirty="0">
                <a:solidFill>
                  <a:srgbClr val="333333"/>
                </a:solidFill>
                <a:latin typeface="Calibri"/>
              </a:rPr>
              <a:t>•  A través del foro de debate reflexionaremos entre todos acerca de las ideas trabajadas en esta clase.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8"/>
          </a:xfrm>
          <a:prstGeom prst="rect">
            <a:avLst/>
          </a:prstGeom>
        </p:spPr>
      </p:pic>
      <p:sp>
        <p:nvSpPr>
          <p:cNvPr id="3" name="object 3"/>
          <p:cNvSpPr txBox="1">
            <a:spLocks noGrp="1"/>
          </p:cNvSpPr>
          <p:nvPr>
            <p:ph type="title"/>
          </p:nvPr>
        </p:nvSpPr>
        <p:spPr>
          <a:xfrm>
            <a:off x="5193919" y="3269107"/>
            <a:ext cx="1645920" cy="406400"/>
          </a:xfrm>
          <a:prstGeom prst="rect">
            <a:avLst/>
          </a:prstGeom>
        </p:spPr>
        <p:txBody>
          <a:bodyPr vert="horz" wrap="square" lIns="0" tIns="12065" rIns="0" bIns="0" rtlCol="0">
            <a:spAutoFit/>
          </a:bodyPr>
          <a:lstStyle/>
          <a:p>
            <a:pPr marL="12700">
              <a:lnSpc>
                <a:spcPct val="100000"/>
              </a:lnSpc>
              <a:spcBef>
                <a:spcPts val="95"/>
              </a:spcBef>
            </a:pPr>
            <a:r>
              <a:rPr lang="es-AR" spc="-5" noProof="0" dirty="0"/>
              <a:t>Pre</a:t>
            </a:r>
            <a:r>
              <a:rPr lang="es-AR" noProof="0" dirty="0"/>
              <a:t>g</a:t>
            </a:r>
            <a:r>
              <a:rPr lang="es-AR" spc="-5" noProof="0" dirty="0"/>
              <a:t>unt</a:t>
            </a:r>
            <a:r>
              <a:rPr lang="es-AR" spc="-15" noProof="0" dirty="0"/>
              <a:t>a</a:t>
            </a:r>
            <a:r>
              <a:rPr lang="es-AR" spc="-5" noProof="0" dirty="0"/>
              <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11981</TotalTime>
  <Words>3695</Words>
  <Application>Microsoft Office PowerPoint</Application>
  <PresentationFormat>Panorámica</PresentationFormat>
  <Paragraphs>238</Paragraphs>
  <Slides>35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35</vt:i4>
      </vt:variant>
    </vt:vector>
  </HeadingPairs>
  <TitlesOfParts>
    <vt:vector size="41" baseType="lpstr">
      <vt:lpstr>Aptos</vt:lpstr>
      <vt:lpstr>Arial</vt:lpstr>
      <vt:lpstr>Arial MT</vt:lpstr>
      <vt:lpstr>Calibri</vt:lpstr>
      <vt:lpstr>Courier New</vt:lpstr>
      <vt:lpstr>Office Theme</vt:lpstr>
      <vt:lpstr>Clase 3: Introducción a la programación visual - Parte 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Milio, Claudio</dc:creator>
  <cp:lastModifiedBy>maximiliano coedo</cp:lastModifiedBy>
  <cp:revision>50</cp:revision>
  <dcterms:created xsi:type="dcterms:W3CDTF">2023-03-27T21:08:01Z</dcterms:created>
  <dcterms:modified xsi:type="dcterms:W3CDTF">2026-08-27T20:45:53Z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2021-02-04T00:00:00Z</vt:filetime>
  </property>
  <property fmtid="{D5CDD505-2E9C-101B-9397-08002B2CF9AE}" pid="3" name="Creator">
    <vt:lpwstr>Microsoft® PowerPoint® 2016</vt:lpwstr>
  </property>
  <property fmtid="{D5CDD505-2E9C-101B-9397-08002B2CF9AE}" pid="4" name="LastSaved">
    <vt:filetime>2023-03-27T00:00:00Z</vt:filetime>
  </property>
</Properties>
</file>